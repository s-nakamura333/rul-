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7" r:id="rId3"/>
    <p:sldId id="276" r:id="rId4"/>
    <p:sldId id="271" r:id="rId5"/>
    <p:sldId id="272" r:id="rId6"/>
    <p:sldId id="273" r:id="rId7"/>
    <p:sldId id="274" r:id="rId8"/>
    <p:sldId id="278" r:id="rId9"/>
    <p:sldId id="277" r:id="rId10"/>
    <p:sldId id="280" r:id="rId11"/>
    <p:sldId id="281" r:id="rId12"/>
    <p:sldId id="282" r:id="rId13"/>
    <p:sldId id="275" r:id="rId14"/>
    <p:sldId id="279" r:id="rId15"/>
    <p:sldId id="270" r:id="rId16"/>
    <p:sldId id="259" r:id="rId17"/>
    <p:sldId id="260" r:id="rId18"/>
    <p:sldId id="261" r:id="rId19"/>
    <p:sldId id="262" r:id="rId20"/>
    <p:sldId id="263" r:id="rId21"/>
    <p:sldId id="264" r:id="rId22"/>
    <p:sldId id="265" r:id="rId23"/>
    <p:sldId id="266" r:id="rId24"/>
    <p:sldId id="267" r:id="rId25"/>
    <p:sldId id="269" r:id="rId26"/>
    <p:sldId id="26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48904" autoAdjust="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DE5406-BAC8-4BD2-B260-BE718E23A911}" type="doc">
      <dgm:prSet loTypeId="urn:microsoft.com/office/officeart/2005/8/layout/process1" loCatId="process" qsTypeId="urn:microsoft.com/office/officeart/2005/8/quickstyle/simple3" qsCatId="simple" csTypeId="urn:microsoft.com/office/officeart/2005/8/colors/accent2_2" csCatId="accent2" phldr="1"/>
      <dgm:spPr/>
      <dgm:t>
        <a:bodyPr/>
        <a:lstStyle/>
        <a:p>
          <a:endParaRPr kumimoji="1" lang="ja-JP" altLang="en-US"/>
        </a:p>
      </dgm:t>
    </dgm:pt>
    <dgm:pt modelId="{C6B5C385-041B-43D7-A6AA-F7E80BBA1AFB}">
      <dgm:prSet phldrT="[テキスト]" custT="1"/>
      <dgm:spPr/>
      <dgm:t>
        <a:bodyPr/>
        <a:lstStyle/>
        <a:p>
          <a:r>
            <a:rPr lang="ja-JP" altLang="en-US" sz="2400" b="1" dirty="0"/>
            <a:t>前処理</a:t>
          </a:r>
          <a:endParaRPr lang="en-US" altLang="ja-JP" sz="2400" b="1" dirty="0"/>
        </a:p>
        <a:p>
          <a:r>
            <a:rPr lang="ja-JP" altLang="en-US" sz="1800" dirty="0"/>
            <a:t>・重複削除</a:t>
          </a:r>
        </a:p>
      </dgm:t>
    </dgm:pt>
    <dgm:pt modelId="{7C803F42-8507-4EB5-AA0F-6121BEA1553D}" type="parTrans" cxnId="{0A24E22B-7FE3-4118-814C-C38576725D6F}">
      <dgm:prSet/>
      <dgm:spPr/>
      <dgm:t>
        <a:bodyPr/>
        <a:lstStyle/>
        <a:p>
          <a:endParaRPr lang="ja-JP" altLang="en-US"/>
        </a:p>
      </dgm:t>
    </dgm:pt>
    <dgm:pt modelId="{A4E3A181-4E8A-4DB0-B6D0-6B05FD67B8DA}" type="sibTrans" cxnId="{0A24E22B-7FE3-4118-814C-C38576725D6F}">
      <dgm:prSet/>
      <dgm:spPr/>
      <dgm:t>
        <a:bodyPr/>
        <a:lstStyle/>
        <a:p>
          <a:endParaRPr lang="ja-JP" altLang="en-US"/>
        </a:p>
      </dgm:t>
    </dgm:pt>
    <dgm:pt modelId="{B4E18075-71EC-46B9-9942-44F7EE316F9A}">
      <dgm:prSet phldrT="[テキスト]" custT="1"/>
      <dgm:spPr/>
      <dgm:t>
        <a:bodyPr/>
        <a:lstStyle/>
        <a:p>
          <a:r>
            <a:rPr lang="ja-JP" altLang="en-US" sz="2400" b="1" dirty="0"/>
            <a:t>範囲統一</a:t>
          </a:r>
          <a:endParaRPr lang="en-US" altLang="ja-JP" sz="2400" b="1" dirty="0"/>
        </a:p>
        <a:p>
          <a:r>
            <a:rPr lang="ja-JP" altLang="en-US" sz="1800" dirty="0"/>
            <a:t>・データ範囲統一</a:t>
          </a:r>
        </a:p>
      </dgm:t>
    </dgm:pt>
    <dgm:pt modelId="{E9AADAE6-9395-4F7E-A26B-D264BF829745}" type="parTrans" cxnId="{AF14FD94-4836-455B-9875-AC292752D4F9}">
      <dgm:prSet/>
      <dgm:spPr/>
      <dgm:t>
        <a:bodyPr/>
        <a:lstStyle/>
        <a:p>
          <a:endParaRPr lang="ja-JP" altLang="en-US"/>
        </a:p>
      </dgm:t>
    </dgm:pt>
    <dgm:pt modelId="{15D4CE98-05D6-4909-9767-30D682C12915}" type="sibTrans" cxnId="{AF14FD94-4836-455B-9875-AC292752D4F9}">
      <dgm:prSet/>
      <dgm:spPr/>
      <dgm:t>
        <a:bodyPr/>
        <a:lstStyle/>
        <a:p>
          <a:endParaRPr lang="ja-JP" altLang="en-US"/>
        </a:p>
      </dgm:t>
    </dgm:pt>
    <dgm:pt modelId="{748F5758-BDA0-4413-8626-84012C67ADA4}">
      <dgm:prSet phldrT="[テキスト]" custT="1"/>
      <dgm:spPr/>
      <dgm:t>
        <a:bodyPr/>
        <a:lstStyle/>
        <a:p>
          <a:r>
            <a:rPr lang="ja-JP" altLang="en-US" sz="2400" b="1" dirty="0"/>
            <a:t>特徴量</a:t>
          </a:r>
          <a:endParaRPr lang="en-US" altLang="ja-JP" sz="2400" b="1" dirty="0"/>
        </a:p>
        <a:p>
          <a:r>
            <a:rPr lang="ja-JP" altLang="en-US" sz="2400" b="1" dirty="0"/>
            <a:t>選定</a:t>
          </a:r>
          <a:endParaRPr lang="en-US" altLang="ja-JP" sz="2400" b="1" dirty="0"/>
        </a:p>
        <a:p>
          <a:r>
            <a:rPr lang="ja-JP" altLang="en-US" sz="1800" dirty="0"/>
            <a:t>・重要度で調整・削除</a:t>
          </a:r>
        </a:p>
      </dgm:t>
    </dgm:pt>
    <dgm:pt modelId="{5FE347B4-0D50-4E99-BA11-3A9BD77ACE5D}" type="parTrans" cxnId="{DD8548C9-D338-4B66-B2C8-5638B8368ECE}">
      <dgm:prSet/>
      <dgm:spPr/>
      <dgm:t>
        <a:bodyPr/>
        <a:lstStyle/>
        <a:p>
          <a:endParaRPr lang="ja-JP" altLang="en-US"/>
        </a:p>
      </dgm:t>
    </dgm:pt>
    <dgm:pt modelId="{7A8B28C8-D02A-4829-832F-27CEB44DA18F}" type="sibTrans" cxnId="{DD8548C9-D338-4B66-B2C8-5638B8368ECE}">
      <dgm:prSet/>
      <dgm:spPr/>
      <dgm:t>
        <a:bodyPr/>
        <a:lstStyle/>
        <a:p>
          <a:endParaRPr lang="ja-JP" altLang="en-US"/>
        </a:p>
      </dgm:t>
    </dgm:pt>
    <dgm:pt modelId="{10CA8394-DD38-46B2-B8DB-FDF5AE6C4F0E}">
      <dgm:prSet custT="1"/>
      <dgm:spPr/>
      <dgm:t>
        <a:bodyPr/>
        <a:lstStyle/>
        <a:p>
          <a:r>
            <a:rPr lang="ja-JP" altLang="en-US" sz="2400" b="1" dirty="0"/>
            <a:t>モデル</a:t>
          </a:r>
          <a:endParaRPr lang="en-US" altLang="ja-JP" sz="2400" b="1" dirty="0"/>
        </a:p>
        <a:p>
          <a:r>
            <a:rPr lang="ja-JP" altLang="en-US" sz="2400" b="1" dirty="0"/>
            <a:t>学習</a:t>
          </a:r>
          <a:endParaRPr lang="en-US" altLang="ja-JP" sz="2400" b="1" dirty="0"/>
        </a:p>
        <a:p>
          <a:r>
            <a:rPr lang="ja-JP" altLang="en-US" sz="1800" dirty="0"/>
            <a:t>・</a:t>
          </a:r>
          <a:r>
            <a:rPr lang="en-US" altLang="ja-JP" sz="1800" dirty="0"/>
            <a:t>LGB/RF/</a:t>
          </a:r>
        </a:p>
        <a:p>
          <a:r>
            <a:rPr lang="en-US" altLang="ja-JP" sz="1800" dirty="0"/>
            <a:t>Cat/XGB</a:t>
          </a:r>
          <a:endParaRPr lang="ja-JP" altLang="en-US" sz="1800" dirty="0"/>
        </a:p>
      </dgm:t>
    </dgm:pt>
    <dgm:pt modelId="{454FCC80-F032-4B22-B0A9-6CAC8DC9A161}" type="parTrans" cxnId="{73E2C6F4-5C15-48A6-8D72-6A5700DFF591}">
      <dgm:prSet/>
      <dgm:spPr/>
      <dgm:t>
        <a:bodyPr/>
        <a:lstStyle/>
        <a:p>
          <a:endParaRPr lang="ja-JP" altLang="en-US"/>
        </a:p>
      </dgm:t>
    </dgm:pt>
    <dgm:pt modelId="{557926F8-3FC1-4A95-AD68-064DEBA00141}" type="sibTrans" cxnId="{73E2C6F4-5C15-48A6-8D72-6A5700DFF591}">
      <dgm:prSet/>
      <dgm:spPr/>
      <dgm:t>
        <a:bodyPr/>
        <a:lstStyle/>
        <a:p>
          <a:endParaRPr lang="ja-JP" altLang="en-US"/>
        </a:p>
      </dgm:t>
    </dgm:pt>
    <dgm:pt modelId="{5F846A7E-DA0C-4496-ACC9-D553EE87D090}">
      <dgm:prSet custT="1"/>
      <dgm:spPr/>
      <dgm:t>
        <a:bodyPr/>
        <a:lstStyle/>
        <a:p>
          <a:r>
            <a:rPr lang="ja-JP" altLang="en-US" sz="2400" b="1" dirty="0"/>
            <a:t>提出用</a:t>
          </a:r>
          <a:endParaRPr lang="en-US" altLang="ja-JP" sz="2400" b="1" dirty="0"/>
        </a:p>
        <a:p>
          <a:r>
            <a:rPr lang="ja-JP" altLang="en-US" sz="2400" b="1" dirty="0"/>
            <a:t>整形</a:t>
          </a:r>
          <a:endParaRPr lang="en-US" altLang="ja-JP" sz="2400" b="1" dirty="0"/>
        </a:p>
        <a:p>
          <a:r>
            <a:rPr lang="ja-JP" altLang="en-US" sz="1800" dirty="0"/>
            <a:t>・テンプレに整形</a:t>
          </a:r>
          <a:endParaRPr lang="en-US" altLang="ja-JP" sz="1800" dirty="0"/>
        </a:p>
        <a:p>
          <a:r>
            <a:rPr lang="ja-JP" altLang="en-US" sz="1800" dirty="0"/>
            <a:t>・中央値で補完</a:t>
          </a:r>
          <a:endParaRPr lang="en-US" altLang="ja-JP" sz="1800" dirty="0"/>
        </a:p>
      </dgm:t>
    </dgm:pt>
    <dgm:pt modelId="{3DDCEC57-A9B1-4E6A-B442-BA601A158B28}" type="parTrans" cxnId="{E4FD733B-ACFE-4D70-8329-6C036E21E94E}">
      <dgm:prSet/>
      <dgm:spPr/>
      <dgm:t>
        <a:bodyPr/>
        <a:lstStyle/>
        <a:p>
          <a:endParaRPr lang="ja-JP" altLang="en-US"/>
        </a:p>
      </dgm:t>
    </dgm:pt>
    <dgm:pt modelId="{B6F9082E-F491-43A6-95E4-F7DEA8493A98}" type="sibTrans" cxnId="{E4FD733B-ACFE-4D70-8329-6C036E21E94E}">
      <dgm:prSet/>
      <dgm:spPr/>
      <dgm:t>
        <a:bodyPr/>
        <a:lstStyle/>
        <a:p>
          <a:endParaRPr lang="ja-JP" altLang="en-US"/>
        </a:p>
      </dgm:t>
    </dgm:pt>
    <dgm:pt modelId="{33C17100-4591-4D09-A32C-5339B471AFDE}" type="pres">
      <dgm:prSet presAssocID="{F3DE5406-BAC8-4BD2-B260-BE718E23A911}" presName="Name0" presStyleCnt="0">
        <dgm:presLayoutVars>
          <dgm:dir/>
          <dgm:resizeHandles val="exact"/>
        </dgm:presLayoutVars>
      </dgm:prSet>
      <dgm:spPr/>
    </dgm:pt>
    <dgm:pt modelId="{FBB84348-1EC3-448B-AE05-D3D6D97B17F9}" type="pres">
      <dgm:prSet presAssocID="{C6B5C385-041B-43D7-A6AA-F7E80BBA1AFB}" presName="node" presStyleLbl="node1" presStyleIdx="0" presStyleCnt="5" custScaleY="110333" custLinFactNeighborY="603">
        <dgm:presLayoutVars>
          <dgm:bulletEnabled val="1"/>
        </dgm:presLayoutVars>
      </dgm:prSet>
      <dgm:spPr/>
    </dgm:pt>
    <dgm:pt modelId="{1296172A-0ACA-44F8-94AE-C21DBD2778FC}" type="pres">
      <dgm:prSet presAssocID="{A4E3A181-4E8A-4DB0-B6D0-6B05FD67B8DA}" presName="sibTrans" presStyleLbl="sibTrans2D1" presStyleIdx="0" presStyleCnt="4"/>
      <dgm:spPr/>
    </dgm:pt>
    <dgm:pt modelId="{84D94633-E039-4A2A-B04F-9346C2F9F916}" type="pres">
      <dgm:prSet presAssocID="{A4E3A181-4E8A-4DB0-B6D0-6B05FD67B8DA}" presName="connectorText" presStyleLbl="sibTrans2D1" presStyleIdx="0" presStyleCnt="4"/>
      <dgm:spPr/>
    </dgm:pt>
    <dgm:pt modelId="{C60558D5-F277-4906-88E9-DD78A7DC32EA}" type="pres">
      <dgm:prSet presAssocID="{B4E18075-71EC-46B9-9942-44F7EE316F9A}" presName="node" presStyleLbl="node1" presStyleIdx="1" presStyleCnt="5" custScaleY="110333">
        <dgm:presLayoutVars>
          <dgm:bulletEnabled val="1"/>
        </dgm:presLayoutVars>
      </dgm:prSet>
      <dgm:spPr/>
    </dgm:pt>
    <dgm:pt modelId="{E39F2308-0AEF-49AC-8B93-73F6EE5F82B7}" type="pres">
      <dgm:prSet presAssocID="{15D4CE98-05D6-4909-9767-30D682C12915}" presName="sibTrans" presStyleLbl="sibTrans2D1" presStyleIdx="1" presStyleCnt="4"/>
      <dgm:spPr/>
    </dgm:pt>
    <dgm:pt modelId="{73587272-C102-4F88-BBC5-DE2940C499CD}" type="pres">
      <dgm:prSet presAssocID="{15D4CE98-05D6-4909-9767-30D682C12915}" presName="connectorText" presStyleLbl="sibTrans2D1" presStyleIdx="1" presStyleCnt="4"/>
      <dgm:spPr/>
    </dgm:pt>
    <dgm:pt modelId="{178D88E8-0C00-4D6F-8F87-2CA748B9E442}" type="pres">
      <dgm:prSet presAssocID="{748F5758-BDA0-4413-8626-84012C67ADA4}" presName="node" presStyleLbl="node1" presStyleIdx="2" presStyleCnt="5" custScaleY="110333" custLinFactNeighborX="0" custLinFactNeighborY="0">
        <dgm:presLayoutVars>
          <dgm:bulletEnabled val="1"/>
        </dgm:presLayoutVars>
      </dgm:prSet>
      <dgm:spPr/>
    </dgm:pt>
    <dgm:pt modelId="{1A0FE08F-F1AF-4B2A-97E1-6D8C52D8F24A}" type="pres">
      <dgm:prSet presAssocID="{7A8B28C8-D02A-4829-832F-27CEB44DA18F}" presName="sibTrans" presStyleLbl="sibTrans2D1" presStyleIdx="2" presStyleCnt="4"/>
      <dgm:spPr/>
    </dgm:pt>
    <dgm:pt modelId="{110201C1-3A0A-4507-B885-51641A11C54F}" type="pres">
      <dgm:prSet presAssocID="{7A8B28C8-D02A-4829-832F-27CEB44DA18F}" presName="connectorText" presStyleLbl="sibTrans2D1" presStyleIdx="2" presStyleCnt="4"/>
      <dgm:spPr/>
    </dgm:pt>
    <dgm:pt modelId="{0DC393D0-858F-4558-AA99-1E5EE609FE73}" type="pres">
      <dgm:prSet presAssocID="{10CA8394-DD38-46B2-B8DB-FDF5AE6C4F0E}" presName="node" presStyleLbl="node1" presStyleIdx="3" presStyleCnt="5" custScaleY="110333">
        <dgm:presLayoutVars>
          <dgm:bulletEnabled val="1"/>
        </dgm:presLayoutVars>
      </dgm:prSet>
      <dgm:spPr/>
    </dgm:pt>
    <dgm:pt modelId="{C559A9E8-B556-4FF8-AAC5-31B4EDF7B752}" type="pres">
      <dgm:prSet presAssocID="{557926F8-3FC1-4A95-AD68-064DEBA00141}" presName="sibTrans" presStyleLbl="sibTrans2D1" presStyleIdx="3" presStyleCnt="4"/>
      <dgm:spPr/>
    </dgm:pt>
    <dgm:pt modelId="{6AC2F798-7840-42C6-8ABA-65C6DB2BCAE7}" type="pres">
      <dgm:prSet presAssocID="{557926F8-3FC1-4A95-AD68-064DEBA00141}" presName="connectorText" presStyleLbl="sibTrans2D1" presStyleIdx="3" presStyleCnt="4"/>
      <dgm:spPr/>
    </dgm:pt>
    <dgm:pt modelId="{316CE464-54EF-48F6-AB57-1467D91E8C87}" type="pres">
      <dgm:prSet presAssocID="{5F846A7E-DA0C-4496-ACC9-D553EE87D090}" presName="node" presStyleLbl="node1" presStyleIdx="4" presStyleCnt="5" custScaleY="110333">
        <dgm:presLayoutVars>
          <dgm:bulletEnabled val="1"/>
        </dgm:presLayoutVars>
      </dgm:prSet>
      <dgm:spPr/>
    </dgm:pt>
  </dgm:ptLst>
  <dgm:cxnLst>
    <dgm:cxn modelId="{760F6012-F416-4F44-835C-54A9240171E6}" type="presOf" srcId="{748F5758-BDA0-4413-8626-84012C67ADA4}" destId="{178D88E8-0C00-4D6F-8F87-2CA748B9E442}" srcOrd="0" destOrd="0" presId="urn:microsoft.com/office/officeart/2005/8/layout/process1"/>
    <dgm:cxn modelId="{55EF0F13-9D8A-4B5C-ABA2-66A2BE89F0C1}" type="presOf" srcId="{C6B5C385-041B-43D7-A6AA-F7E80BBA1AFB}" destId="{FBB84348-1EC3-448B-AE05-D3D6D97B17F9}" srcOrd="0" destOrd="0" presId="urn:microsoft.com/office/officeart/2005/8/layout/process1"/>
    <dgm:cxn modelId="{782C5816-1A52-4FA1-B2B3-202EC145B47F}" type="presOf" srcId="{7A8B28C8-D02A-4829-832F-27CEB44DA18F}" destId="{110201C1-3A0A-4507-B885-51641A11C54F}" srcOrd="1" destOrd="0" presId="urn:microsoft.com/office/officeart/2005/8/layout/process1"/>
    <dgm:cxn modelId="{14FBBA22-5BAB-4817-AA83-C029F1D21A31}" type="presOf" srcId="{5F846A7E-DA0C-4496-ACC9-D553EE87D090}" destId="{316CE464-54EF-48F6-AB57-1467D91E8C87}" srcOrd="0" destOrd="0" presId="urn:microsoft.com/office/officeart/2005/8/layout/process1"/>
    <dgm:cxn modelId="{0A24E22B-7FE3-4118-814C-C38576725D6F}" srcId="{F3DE5406-BAC8-4BD2-B260-BE718E23A911}" destId="{C6B5C385-041B-43D7-A6AA-F7E80BBA1AFB}" srcOrd="0" destOrd="0" parTransId="{7C803F42-8507-4EB5-AA0F-6121BEA1553D}" sibTransId="{A4E3A181-4E8A-4DB0-B6D0-6B05FD67B8DA}"/>
    <dgm:cxn modelId="{E4FD733B-ACFE-4D70-8329-6C036E21E94E}" srcId="{F3DE5406-BAC8-4BD2-B260-BE718E23A911}" destId="{5F846A7E-DA0C-4496-ACC9-D553EE87D090}" srcOrd="4" destOrd="0" parTransId="{3DDCEC57-A9B1-4E6A-B442-BA601A158B28}" sibTransId="{B6F9082E-F491-43A6-95E4-F7DEA8493A98}"/>
    <dgm:cxn modelId="{C3438272-D542-4003-BF86-8EA17D82F4F0}" type="presOf" srcId="{15D4CE98-05D6-4909-9767-30D682C12915}" destId="{E39F2308-0AEF-49AC-8B93-73F6EE5F82B7}" srcOrd="0" destOrd="0" presId="urn:microsoft.com/office/officeart/2005/8/layout/process1"/>
    <dgm:cxn modelId="{9C95B77E-72DF-40D0-B448-E6FF3B0177C1}" type="presOf" srcId="{15D4CE98-05D6-4909-9767-30D682C12915}" destId="{73587272-C102-4F88-BBC5-DE2940C499CD}" srcOrd="1" destOrd="0" presId="urn:microsoft.com/office/officeart/2005/8/layout/process1"/>
    <dgm:cxn modelId="{0895F78C-7494-4960-B499-3D581E418C29}" type="presOf" srcId="{7A8B28C8-D02A-4829-832F-27CEB44DA18F}" destId="{1A0FE08F-F1AF-4B2A-97E1-6D8C52D8F24A}" srcOrd="0" destOrd="0" presId="urn:microsoft.com/office/officeart/2005/8/layout/process1"/>
    <dgm:cxn modelId="{AF14FD94-4836-455B-9875-AC292752D4F9}" srcId="{F3DE5406-BAC8-4BD2-B260-BE718E23A911}" destId="{B4E18075-71EC-46B9-9942-44F7EE316F9A}" srcOrd="1" destOrd="0" parTransId="{E9AADAE6-9395-4F7E-A26B-D264BF829745}" sibTransId="{15D4CE98-05D6-4909-9767-30D682C12915}"/>
    <dgm:cxn modelId="{E08BD8A4-BABB-4C3D-BC54-4EC1DB8275A6}" type="presOf" srcId="{10CA8394-DD38-46B2-B8DB-FDF5AE6C4F0E}" destId="{0DC393D0-858F-4558-AA99-1E5EE609FE73}" srcOrd="0" destOrd="0" presId="urn:microsoft.com/office/officeart/2005/8/layout/process1"/>
    <dgm:cxn modelId="{DD8548C9-D338-4B66-B2C8-5638B8368ECE}" srcId="{F3DE5406-BAC8-4BD2-B260-BE718E23A911}" destId="{748F5758-BDA0-4413-8626-84012C67ADA4}" srcOrd="2" destOrd="0" parTransId="{5FE347B4-0D50-4E99-BA11-3A9BD77ACE5D}" sibTransId="{7A8B28C8-D02A-4829-832F-27CEB44DA18F}"/>
    <dgm:cxn modelId="{EAA31BD1-2796-4104-A0A2-9F25E923A671}" type="presOf" srcId="{F3DE5406-BAC8-4BD2-B260-BE718E23A911}" destId="{33C17100-4591-4D09-A32C-5339B471AFDE}" srcOrd="0" destOrd="0" presId="urn:microsoft.com/office/officeart/2005/8/layout/process1"/>
    <dgm:cxn modelId="{9ED0CAD7-6757-4F22-BD79-80F10AE309F6}" type="presOf" srcId="{557926F8-3FC1-4A95-AD68-064DEBA00141}" destId="{6AC2F798-7840-42C6-8ABA-65C6DB2BCAE7}" srcOrd="1" destOrd="0" presId="urn:microsoft.com/office/officeart/2005/8/layout/process1"/>
    <dgm:cxn modelId="{34BD8AE0-EA50-4CF7-9BD0-644745A5E0AF}" type="presOf" srcId="{A4E3A181-4E8A-4DB0-B6D0-6B05FD67B8DA}" destId="{84D94633-E039-4A2A-B04F-9346C2F9F916}" srcOrd="1" destOrd="0" presId="urn:microsoft.com/office/officeart/2005/8/layout/process1"/>
    <dgm:cxn modelId="{8A9568E4-75D2-444A-B429-54A68E0F72EF}" type="presOf" srcId="{B4E18075-71EC-46B9-9942-44F7EE316F9A}" destId="{C60558D5-F277-4906-88E9-DD78A7DC32EA}" srcOrd="0" destOrd="0" presId="urn:microsoft.com/office/officeart/2005/8/layout/process1"/>
    <dgm:cxn modelId="{DF2D47EF-50E7-4B20-929A-140CF728AB26}" type="presOf" srcId="{A4E3A181-4E8A-4DB0-B6D0-6B05FD67B8DA}" destId="{1296172A-0ACA-44F8-94AE-C21DBD2778FC}" srcOrd="0" destOrd="0" presId="urn:microsoft.com/office/officeart/2005/8/layout/process1"/>
    <dgm:cxn modelId="{73E2C6F4-5C15-48A6-8D72-6A5700DFF591}" srcId="{F3DE5406-BAC8-4BD2-B260-BE718E23A911}" destId="{10CA8394-DD38-46B2-B8DB-FDF5AE6C4F0E}" srcOrd="3" destOrd="0" parTransId="{454FCC80-F032-4B22-B0A9-6CAC8DC9A161}" sibTransId="{557926F8-3FC1-4A95-AD68-064DEBA00141}"/>
    <dgm:cxn modelId="{555E31F9-EBB3-4F39-94F0-7EE5015E7722}" type="presOf" srcId="{557926F8-3FC1-4A95-AD68-064DEBA00141}" destId="{C559A9E8-B556-4FF8-AAC5-31B4EDF7B752}" srcOrd="0" destOrd="0" presId="urn:microsoft.com/office/officeart/2005/8/layout/process1"/>
    <dgm:cxn modelId="{59D97F5F-B986-4E16-BD8A-0138F4DEBA69}" type="presParOf" srcId="{33C17100-4591-4D09-A32C-5339B471AFDE}" destId="{FBB84348-1EC3-448B-AE05-D3D6D97B17F9}" srcOrd="0" destOrd="0" presId="urn:microsoft.com/office/officeart/2005/8/layout/process1"/>
    <dgm:cxn modelId="{19A263B5-C7D0-453B-8F88-78F07E30CE2D}" type="presParOf" srcId="{33C17100-4591-4D09-A32C-5339B471AFDE}" destId="{1296172A-0ACA-44F8-94AE-C21DBD2778FC}" srcOrd="1" destOrd="0" presId="urn:microsoft.com/office/officeart/2005/8/layout/process1"/>
    <dgm:cxn modelId="{C2E6A5FC-DE85-411D-8EAC-047DF785D011}" type="presParOf" srcId="{1296172A-0ACA-44F8-94AE-C21DBD2778FC}" destId="{84D94633-E039-4A2A-B04F-9346C2F9F916}" srcOrd="0" destOrd="0" presId="urn:microsoft.com/office/officeart/2005/8/layout/process1"/>
    <dgm:cxn modelId="{E643E237-C36B-4EE9-A964-7F1BFC9F6D15}" type="presParOf" srcId="{33C17100-4591-4D09-A32C-5339B471AFDE}" destId="{C60558D5-F277-4906-88E9-DD78A7DC32EA}" srcOrd="2" destOrd="0" presId="urn:microsoft.com/office/officeart/2005/8/layout/process1"/>
    <dgm:cxn modelId="{13ACA701-2FCB-42AF-9A13-1B8440BDC157}" type="presParOf" srcId="{33C17100-4591-4D09-A32C-5339B471AFDE}" destId="{E39F2308-0AEF-49AC-8B93-73F6EE5F82B7}" srcOrd="3" destOrd="0" presId="urn:microsoft.com/office/officeart/2005/8/layout/process1"/>
    <dgm:cxn modelId="{6718987A-4853-4A28-AA0E-02690F8BA29F}" type="presParOf" srcId="{E39F2308-0AEF-49AC-8B93-73F6EE5F82B7}" destId="{73587272-C102-4F88-BBC5-DE2940C499CD}" srcOrd="0" destOrd="0" presId="urn:microsoft.com/office/officeart/2005/8/layout/process1"/>
    <dgm:cxn modelId="{53E3985A-4E8D-455B-9A36-F3A2BAC7B4C1}" type="presParOf" srcId="{33C17100-4591-4D09-A32C-5339B471AFDE}" destId="{178D88E8-0C00-4D6F-8F87-2CA748B9E442}" srcOrd="4" destOrd="0" presId="urn:microsoft.com/office/officeart/2005/8/layout/process1"/>
    <dgm:cxn modelId="{1055F576-55F5-41E9-B030-5F254FF234ED}" type="presParOf" srcId="{33C17100-4591-4D09-A32C-5339B471AFDE}" destId="{1A0FE08F-F1AF-4B2A-97E1-6D8C52D8F24A}" srcOrd="5" destOrd="0" presId="urn:microsoft.com/office/officeart/2005/8/layout/process1"/>
    <dgm:cxn modelId="{C965C5E7-3F09-4E6E-9DAE-0874BA92ECDC}" type="presParOf" srcId="{1A0FE08F-F1AF-4B2A-97E1-6D8C52D8F24A}" destId="{110201C1-3A0A-4507-B885-51641A11C54F}" srcOrd="0" destOrd="0" presId="urn:microsoft.com/office/officeart/2005/8/layout/process1"/>
    <dgm:cxn modelId="{C07695AE-11E0-41DF-904B-B4B14BDE853B}" type="presParOf" srcId="{33C17100-4591-4D09-A32C-5339B471AFDE}" destId="{0DC393D0-858F-4558-AA99-1E5EE609FE73}" srcOrd="6" destOrd="0" presId="urn:microsoft.com/office/officeart/2005/8/layout/process1"/>
    <dgm:cxn modelId="{79B9940F-B969-4466-BDBA-776139637823}" type="presParOf" srcId="{33C17100-4591-4D09-A32C-5339B471AFDE}" destId="{C559A9E8-B556-4FF8-AAC5-31B4EDF7B752}" srcOrd="7" destOrd="0" presId="urn:microsoft.com/office/officeart/2005/8/layout/process1"/>
    <dgm:cxn modelId="{2E9C5879-0FAA-43F4-968B-C12EC67A37F1}" type="presParOf" srcId="{C559A9E8-B556-4FF8-AAC5-31B4EDF7B752}" destId="{6AC2F798-7840-42C6-8ABA-65C6DB2BCAE7}" srcOrd="0" destOrd="0" presId="urn:microsoft.com/office/officeart/2005/8/layout/process1"/>
    <dgm:cxn modelId="{023099E7-B159-4492-9380-F50DA14BCF3E}" type="presParOf" srcId="{33C17100-4591-4D09-A32C-5339B471AFDE}" destId="{316CE464-54EF-48F6-AB57-1467D91E8C87}"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84348-1EC3-448B-AE05-D3D6D97B17F9}">
      <dsp:nvSpPr>
        <dsp:cNvPr id="0" name=""/>
        <dsp:cNvSpPr/>
      </dsp:nvSpPr>
      <dsp:spPr>
        <a:xfrm>
          <a:off x="9669" y="0"/>
          <a:ext cx="1497979" cy="2293636"/>
        </a:xfrm>
        <a:prstGeom prst="roundRect">
          <a:avLst>
            <a:gd name="adj" fmla="val 10000"/>
          </a:avLst>
        </a:prstGeom>
        <a:gradFill rotWithShape="0">
          <a:gsLst>
            <a:gs pos="0">
              <a:schemeClr val="accent2">
                <a:hueOff val="0"/>
                <a:satOff val="0"/>
                <a:lumOff val="0"/>
                <a:alphaOff val="0"/>
                <a:tint val="58000"/>
                <a:satMod val="108000"/>
                <a:lumMod val="110000"/>
              </a:schemeClr>
            </a:gs>
            <a:gs pos="100000">
              <a:schemeClr val="accent2">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前処理</a:t>
          </a:r>
          <a:endParaRPr lang="en-US" altLang="ja-JP" sz="2400" b="1" kern="1200" dirty="0"/>
        </a:p>
        <a:p>
          <a:pPr marL="0" lvl="0" indent="0" algn="ctr" defTabSz="1066800">
            <a:lnSpc>
              <a:spcPct val="90000"/>
            </a:lnSpc>
            <a:spcBef>
              <a:spcPct val="0"/>
            </a:spcBef>
            <a:spcAft>
              <a:spcPct val="35000"/>
            </a:spcAft>
            <a:buNone/>
          </a:pPr>
          <a:r>
            <a:rPr lang="ja-JP" altLang="en-US" sz="1800" kern="1200" dirty="0"/>
            <a:t>・重複削除</a:t>
          </a:r>
        </a:p>
      </dsp:txBody>
      <dsp:txXfrm>
        <a:off x="53543" y="43874"/>
        <a:ext cx="1410231" cy="2205888"/>
      </dsp:txXfrm>
    </dsp:sp>
    <dsp:sp modelId="{1296172A-0ACA-44F8-94AE-C21DBD2778FC}">
      <dsp:nvSpPr>
        <dsp:cNvPr id="0" name=""/>
        <dsp:cNvSpPr/>
      </dsp:nvSpPr>
      <dsp:spPr>
        <a:xfrm>
          <a:off x="1657446" y="961068"/>
          <a:ext cx="317571" cy="371498"/>
        </a:xfrm>
        <a:prstGeom prst="rightArrow">
          <a:avLst>
            <a:gd name="adj1" fmla="val 60000"/>
            <a:gd name="adj2" fmla="val 50000"/>
          </a:avLst>
        </a:prstGeom>
        <a:gradFill rotWithShape="0">
          <a:gsLst>
            <a:gs pos="0">
              <a:schemeClr val="accent2">
                <a:tint val="60000"/>
                <a:hueOff val="0"/>
                <a:satOff val="0"/>
                <a:lumOff val="0"/>
                <a:alphaOff val="0"/>
                <a:tint val="58000"/>
                <a:satMod val="108000"/>
                <a:lumMod val="110000"/>
              </a:schemeClr>
            </a:gs>
            <a:gs pos="100000">
              <a:schemeClr val="accent2">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ja-JP" altLang="en-US" sz="1700" kern="1200"/>
        </a:p>
      </dsp:txBody>
      <dsp:txXfrm>
        <a:off x="1657446" y="1035368"/>
        <a:ext cx="222300" cy="222898"/>
      </dsp:txXfrm>
    </dsp:sp>
    <dsp:sp modelId="{C60558D5-F277-4906-88E9-DD78A7DC32EA}">
      <dsp:nvSpPr>
        <dsp:cNvPr id="0" name=""/>
        <dsp:cNvSpPr/>
      </dsp:nvSpPr>
      <dsp:spPr>
        <a:xfrm>
          <a:off x="2106839" y="0"/>
          <a:ext cx="1497979" cy="2293636"/>
        </a:xfrm>
        <a:prstGeom prst="roundRect">
          <a:avLst>
            <a:gd name="adj" fmla="val 10000"/>
          </a:avLst>
        </a:prstGeom>
        <a:gradFill rotWithShape="0">
          <a:gsLst>
            <a:gs pos="0">
              <a:schemeClr val="accent2">
                <a:hueOff val="0"/>
                <a:satOff val="0"/>
                <a:lumOff val="0"/>
                <a:alphaOff val="0"/>
                <a:tint val="58000"/>
                <a:satMod val="108000"/>
                <a:lumMod val="110000"/>
              </a:schemeClr>
            </a:gs>
            <a:gs pos="100000">
              <a:schemeClr val="accent2">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範囲統一</a:t>
          </a:r>
          <a:endParaRPr lang="en-US" altLang="ja-JP" sz="2400" b="1" kern="1200" dirty="0"/>
        </a:p>
        <a:p>
          <a:pPr marL="0" lvl="0" indent="0" algn="ctr" defTabSz="1066800">
            <a:lnSpc>
              <a:spcPct val="90000"/>
            </a:lnSpc>
            <a:spcBef>
              <a:spcPct val="0"/>
            </a:spcBef>
            <a:spcAft>
              <a:spcPct val="35000"/>
            </a:spcAft>
            <a:buNone/>
          </a:pPr>
          <a:r>
            <a:rPr lang="ja-JP" altLang="en-US" sz="1800" kern="1200" dirty="0"/>
            <a:t>・データ範囲統一</a:t>
          </a:r>
        </a:p>
      </dsp:txBody>
      <dsp:txXfrm>
        <a:off x="2150713" y="43874"/>
        <a:ext cx="1410231" cy="2205888"/>
      </dsp:txXfrm>
    </dsp:sp>
    <dsp:sp modelId="{E39F2308-0AEF-49AC-8B93-73F6EE5F82B7}">
      <dsp:nvSpPr>
        <dsp:cNvPr id="0" name=""/>
        <dsp:cNvSpPr/>
      </dsp:nvSpPr>
      <dsp:spPr>
        <a:xfrm>
          <a:off x="3754616" y="961068"/>
          <a:ext cx="317571" cy="371498"/>
        </a:xfrm>
        <a:prstGeom prst="rightArrow">
          <a:avLst>
            <a:gd name="adj1" fmla="val 60000"/>
            <a:gd name="adj2" fmla="val 50000"/>
          </a:avLst>
        </a:prstGeom>
        <a:gradFill rotWithShape="0">
          <a:gsLst>
            <a:gs pos="0">
              <a:schemeClr val="accent2">
                <a:tint val="60000"/>
                <a:hueOff val="0"/>
                <a:satOff val="0"/>
                <a:lumOff val="0"/>
                <a:alphaOff val="0"/>
                <a:tint val="58000"/>
                <a:satMod val="108000"/>
                <a:lumMod val="110000"/>
              </a:schemeClr>
            </a:gs>
            <a:gs pos="100000">
              <a:schemeClr val="accent2">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ja-JP" altLang="en-US" sz="1700" kern="1200"/>
        </a:p>
      </dsp:txBody>
      <dsp:txXfrm>
        <a:off x="3754616" y="1035368"/>
        <a:ext cx="222300" cy="222898"/>
      </dsp:txXfrm>
    </dsp:sp>
    <dsp:sp modelId="{178D88E8-0C00-4D6F-8F87-2CA748B9E442}">
      <dsp:nvSpPr>
        <dsp:cNvPr id="0" name=""/>
        <dsp:cNvSpPr/>
      </dsp:nvSpPr>
      <dsp:spPr>
        <a:xfrm>
          <a:off x="4204010" y="0"/>
          <a:ext cx="1497979" cy="2293636"/>
        </a:xfrm>
        <a:prstGeom prst="roundRect">
          <a:avLst>
            <a:gd name="adj" fmla="val 10000"/>
          </a:avLst>
        </a:prstGeom>
        <a:gradFill rotWithShape="0">
          <a:gsLst>
            <a:gs pos="0">
              <a:schemeClr val="accent2">
                <a:hueOff val="0"/>
                <a:satOff val="0"/>
                <a:lumOff val="0"/>
                <a:alphaOff val="0"/>
                <a:tint val="58000"/>
                <a:satMod val="108000"/>
                <a:lumMod val="110000"/>
              </a:schemeClr>
            </a:gs>
            <a:gs pos="100000">
              <a:schemeClr val="accent2">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特徴量</a:t>
          </a:r>
          <a:endParaRPr lang="en-US" altLang="ja-JP" sz="2400" b="1" kern="1200" dirty="0"/>
        </a:p>
        <a:p>
          <a:pPr marL="0" lvl="0" indent="0" algn="ctr" defTabSz="1066800">
            <a:lnSpc>
              <a:spcPct val="90000"/>
            </a:lnSpc>
            <a:spcBef>
              <a:spcPct val="0"/>
            </a:spcBef>
            <a:spcAft>
              <a:spcPct val="35000"/>
            </a:spcAft>
            <a:buNone/>
          </a:pPr>
          <a:r>
            <a:rPr lang="ja-JP" altLang="en-US" sz="2400" b="1" kern="1200" dirty="0"/>
            <a:t>選定</a:t>
          </a:r>
          <a:endParaRPr lang="en-US" altLang="ja-JP" sz="2400" b="1" kern="1200" dirty="0"/>
        </a:p>
        <a:p>
          <a:pPr marL="0" lvl="0" indent="0" algn="ctr" defTabSz="1066800">
            <a:lnSpc>
              <a:spcPct val="90000"/>
            </a:lnSpc>
            <a:spcBef>
              <a:spcPct val="0"/>
            </a:spcBef>
            <a:spcAft>
              <a:spcPct val="35000"/>
            </a:spcAft>
            <a:buNone/>
          </a:pPr>
          <a:r>
            <a:rPr lang="ja-JP" altLang="en-US" sz="1800" kern="1200" dirty="0"/>
            <a:t>・重要度で調整・削除</a:t>
          </a:r>
        </a:p>
      </dsp:txBody>
      <dsp:txXfrm>
        <a:off x="4247884" y="43874"/>
        <a:ext cx="1410231" cy="2205888"/>
      </dsp:txXfrm>
    </dsp:sp>
    <dsp:sp modelId="{1A0FE08F-F1AF-4B2A-97E1-6D8C52D8F24A}">
      <dsp:nvSpPr>
        <dsp:cNvPr id="0" name=""/>
        <dsp:cNvSpPr/>
      </dsp:nvSpPr>
      <dsp:spPr>
        <a:xfrm>
          <a:off x="5851787" y="961068"/>
          <a:ext cx="317571" cy="371498"/>
        </a:xfrm>
        <a:prstGeom prst="rightArrow">
          <a:avLst>
            <a:gd name="adj1" fmla="val 60000"/>
            <a:gd name="adj2" fmla="val 50000"/>
          </a:avLst>
        </a:prstGeom>
        <a:gradFill rotWithShape="0">
          <a:gsLst>
            <a:gs pos="0">
              <a:schemeClr val="accent2">
                <a:tint val="60000"/>
                <a:hueOff val="0"/>
                <a:satOff val="0"/>
                <a:lumOff val="0"/>
                <a:alphaOff val="0"/>
                <a:tint val="58000"/>
                <a:satMod val="108000"/>
                <a:lumMod val="110000"/>
              </a:schemeClr>
            </a:gs>
            <a:gs pos="100000">
              <a:schemeClr val="accent2">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ja-JP" altLang="en-US" sz="1700" kern="1200"/>
        </a:p>
      </dsp:txBody>
      <dsp:txXfrm>
        <a:off x="5851787" y="1035368"/>
        <a:ext cx="222300" cy="222898"/>
      </dsp:txXfrm>
    </dsp:sp>
    <dsp:sp modelId="{0DC393D0-858F-4558-AA99-1E5EE609FE73}">
      <dsp:nvSpPr>
        <dsp:cNvPr id="0" name=""/>
        <dsp:cNvSpPr/>
      </dsp:nvSpPr>
      <dsp:spPr>
        <a:xfrm>
          <a:off x="6301181" y="0"/>
          <a:ext cx="1497979" cy="2293636"/>
        </a:xfrm>
        <a:prstGeom prst="roundRect">
          <a:avLst>
            <a:gd name="adj" fmla="val 10000"/>
          </a:avLst>
        </a:prstGeom>
        <a:gradFill rotWithShape="0">
          <a:gsLst>
            <a:gs pos="0">
              <a:schemeClr val="accent2">
                <a:hueOff val="0"/>
                <a:satOff val="0"/>
                <a:lumOff val="0"/>
                <a:alphaOff val="0"/>
                <a:tint val="58000"/>
                <a:satMod val="108000"/>
                <a:lumMod val="110000"/>
              </a:schemeClr>
            </a:gs>
            <a:gs pos="100000">
              <a:schemeClr val="accent2">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モデル</a:t>
          </a:r>
          <a:endParaRPr lang="en-US" altLang="ja-JP" sz="2400" b="1" kern="1200" dirty="0"/>
        </a:p>
        <a:p>
          <a:pPr marL="0" lvl="0" indent="0" algn="ctr" defTabSz="1066800">
            <a:lnSpc>
              <a:spcPct val="90000"/>
            </a:lnSpc>
            <a:spcBef>
              <a:spcPct val="0"/>
            </a:spcBef>
            <a:spcAft>
              <a:spcPct val="35000"/>
            </a:spcAft>
            <a:buNone/>
          </a:pPr>
          <a:r>
            <a:rPr lang="ja-JP" altLang="en-US" sz="2400" b="1" kern="1200" dirty="0"/>
            <a:t>学習</a:t>
          </a:r>
          <a:endParaRPr lang="en-US" altLang="ja-JP" sz="2400" b="1" kern="1200" dirty="0"/>
        </a:p>
        <a:p>
          <a:pPr marL="0" lvl="0" indent="0" algn="ctr" defTabSz="1066800">
            <a:lnSpc>
              <a:spcPct val="90000"/>
            </a:lnSpc>
            <a:spcBef>
              <a:spcPct val="0"/>
            </a:spcBef>
            <a:spcAft>
              <a:spcPct val="35000"/>
            </a:spcAft>
            <a:buNone/>
          </a:pPr>
          <a:r>
            <a:rPr lang="ja-JP" altLang="en-US" sz="1800" kern="1200" dirty="0"/>
            <a:t>・</a:t>
          </a:r>
          <a:r>
            <a:rPr lang="en-US" altLang="ja-JP" sz="1800" kern="1200" dirty="0"/>
            <a:t>LGB/RF/</a:t>
          </a:r>
        </a:p>
        <a:p>
          <a:pPr marL="0" lvl="0" indent="0" algn="ctr" defTabSz="1066800">
            <a:lnSpc>
              <a:spcPct val="90000"/>
            </a:lnSpc>
            <a:spcBef>
              <a:spcPct val="0"/>
            </a:spcBef>
            <a:spcAft>
              <a:spcPct val="35000"/>
            </a:spcAft>
            <a:buNone/>
          </a:pPr>
          <a:r>
            <a:rPr lang="en-US" altLang="ja-JP" sz="1800" kern="1200" dirty="0"/>
            <a:t>Cat/XGB</a:t>
          </a:r>
          <a:endParaRPr lang="ja-JP" altLang="en-US" sz="1800" kern="1200" dirty="0"/>
        </a:p>
      </dsp:txBody>
      <dsp:txXfrm>
        <a:off x="6345055" y="43874"/>
        <a:ext cx="1410231" cy="2205888"/>
      </dsp:txXfrm>
    </dsp:sp>
    <dsp:sp modelId="{C559A9E8-B556-4FF8-AAC5-31B4EDF7B752}">
      <dsp:nvSpPr>
        <dsp:cNvPr id="0" name=""/>
        <dsp:cNvSpPr/>
      </dsp:nvSpPr>
      <dsp:spPr>
        <a:xfrm>
          <a:off x="7948958" y="961068"/>
          <a:ext cx="317571" cy="371498"/>
        </a:xfrm>
        <a:prstGeom prst="rightArrow">
          <a:avLst>
            <a:gd name="adj1" fmla="val 60000"/>
            <a:gd name="adj2" fmla="val 50000"/>
          </a:avLst>
        </a:prstGeom>
        <a:gradFill rotWithShape="0">
          <a:gsLst>
            <a:gs pos="0">
              <a:schemeClr val="accent2">
                <a:tint val="60000"/>
                <a:hueOff val="0"/>
                <a:satOff val="0"/>
                <a:lumOff val="0"/>
                <a:alphaOff val="0"/>
                <a:tint val="58000"/>
                <a:satMod val="108000"/>
                <a:lumMod val="110000"/>
              </a:schemeClr>
            </a:gs>
            <a:gs pos="100000">
              <a:schemeClr val="accent2">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ja-JP" altLang="en-US" sz="1700" kern="1200"/>
        </a:p>
      </dsp:txBody>
      <dsp:txXfrm>
        <a:off x="7948958" y="1035368"/>
        <a:ext cx="222300" cy="222898"/>
      </dsp:txXfrm>
    </dsp:sp>
    <dsp:sp modelId="{316CE464-54EF-48F6-AB57-1467D91E8C87}">
      <dsp:nvSpPr>
        <dsp:cNvPr id="0" name=""/>
        <dsp:cNvSpPr/>
      </dsp:nvSpPr>
      <dsp:spPr>
        <a:xfrm>
          <a:off x="8398351" y="0"/>
          <a:ext cx="1497979" cy="2293636"/>
        </a:xfrm>
        <a:prstGeom prst="roundRect">
          <a:avLst>
            <a:gd name="adj" fmla="val 10000"/>
          </a:avLst>
        </a:prstGeom>
        <a:gradFill rotWithShape="0">
          <a:gsLst>
            <a:gs pos="0">
              <a:schemeClr val="accent2">
                <a:hueOff val="0"/>
                <a:satOff val="0"/>
                <a:lumOff val="0"/>
                <a:alphaOff val="0"/>
                <a:tint val="58000"/>
                <a:satMod val="108000"/>
                <a:lumMod val="110000"/>
              </a:schemeClr>
            </a:gs>
            <a:gs pos="100000">
              <a:schemeClr val="accent2">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提出用</a:t>
          </a:r>
          <a:endParaRPr lang="en-US" altLang="ja-JP" sz="2400" b="1" kern="1200" dirty="0"/>
        </a:p>
        <a:p>
          <a:pPr marL="0" lvl="0" indent="0" algn="ctr" defTabSz="1066800">
            <a:lnSpc>
              <a:spcPct val="90000"/>
            </a:lnSpc>
            <a:spcBef>
              <a:spcPct val="0"/>
            </a:spcBef>
            <a:spcAft>
              <a:spcPct val="35000"/>
            </a:spcAft>
            <a:buNone/>
          </a:pPr>
          <a:r>
            <a:rPr lang="ja-JP" altLang="en-US" sz="2400" b="1" kern="1200" dirty="0"/>
            <a:t>整形</a:t>
          </a:r>
          <a:endParaRPr lang="en-US" altLang="ja-JP" sz="2400" b="1" kern="1200" dirty="0"/>
        </a:p>
        <a:p>
          <a:pPr marL="0" lvl="0" indent="0" algn="ctr" defTabSz="1066800">
            <a:lnSpc>
              <a:spcPct val="90000"/>
            </a:lnSpc>
            <a:spcBef>
              <a:spcPct val="0"/>
            </a:spcBef>
            <a:spcAft>
              <a:spcPct val="35000"/>
            </a:spcAft>
            <a:buNone/>
          </a:pPr>
          <a:r>
            <a:rPr lang="ja-JP" altLang="en-US" sz="1800" kern="1200" dirty="0"/>
            <a:t>・テンプレに整形</a:t>
          </a:r>
          <a:endParaRPr lang="en-US" altLang="ja-JP" sz="1800" kern="1200" dirty="0"/>
        </a:p>
        <a:p>
          <a:pPr marL="0" lvl="0" indent="0" algn="ctr" defTabSz="1066800">
            <a:lnSpc>
              <a:spcPct val="90000"/>
            </a:lnSpc>
            <a:spcBef>
              <a:spcPct val="0"/>
            </a:spcBef>
            <a:spcAft>
              <a:spcPct val="35000"/>
            </a:spcAft>
            <a:buNone/>
          </a:pPr>
          <a:r>
            <a:rPr lang="ja-JP" altLang="en-US" sz="1800" kern="1200" dirty="0"/>
            <a:t>・中央値で補完</a:t>
          </a:r>
          <a:endParaRPr lang="en-US" altLang="ja-JP" sz="1800" kern="1200" dirty="0"/>
        </a:p>
      </dsp:txBody>
      <dsp:txXfrm>
        <a:off x="8442225" y="43874"/>
        <a:ext cx="1410231" cy="220588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8091B-8F07-4B20-8AF4-3DBBD491974B}" type="datetimeFigureOut">
              <a:rPr kumimoji="1" lang="ja-JP" altLang="en-US" smtClean="0"/>
              <a:t>2025/5/20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F92BD-5936-429B-BFFD-B72510DF0543}" type="slidenum">
              <a:rPr kumimoji="1" lang="ja-JP" altLang="en-US" smtClean="0"/>
              <a:t>‹#›</a:t>
            </a:fld>
            <a:endParaRPr kumimoji="1" lang="ja-JP" altLang="en-US"/>
          </a:p>
        </p:txBody>
      </p:sp>
    </p:spTree>
    <p:extLst>
      <p:ext uri="{BB962C8B-B14F-4D97-AF65-F5344CB8AC3E}">
        <p14:creationId xmlns:p14="http://schemas.microsoft.com/office/powerpoint/2010/main" val="23285106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本日発表をさせていただきます、仲村翔です。よろしくお願いいたします。</a:t>
            </a:r>
            <a:endParaRPr kumimoji="1" lang="en-US" altLang="ja-JP" dirty="0"/>
          </a:p>
          <a:p>
            <a:endParaRPr kumimoji="1" lang="en-US" altLang="ja-JP" dirty="0"/>
          </a:p>
          <a:p>
            <a:r>
              <a:rPr kumimoji="1" lang="ja-JP" altLang="en-US" dirty="0"/>
              <a:t>本日の発表タイトルは</a:t>
            </a:r>
            <a:endParaRPr kumimoji="1" lang="en-US" altLang="ja-JP" dirty="0"/>
          </a:p>
          <a:p>
            <a:r>
              <a:rPr kumimoji="1" lang="ja-JP" altLang="en-US" dirty="0"/>
              <a:t>ターボエンジン、残存耐用時間予測となっております。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a:t>
            </a:fld>
            <a:endParaRPr kumimoji="1" lang="ja-JP" altLang="en-US"/>
          </a:p>
        </p:txBody>
      </p:sp>
    </p:spTree>
    <p:extLst>
      <p:ext uri="{BB962C8B-B14F-4D97-AF65-F5344CB8AC3E}">
        <p14:creationId xmlns:p14="http://schemas.microsoft.com/office/powerpoint/2010/main" val="4100600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こちらが本日の目次となっております。</a:t>
            </a:r>
            <a:endParaRPr kumimoji="1" lang="en-US" altLang="ja-JP" dirty="0"/>
          </a:p>
          <a:p>
            <a:r>
              <a:rPr kumimoji="1" lang="ja-JP" altLang="en-US" dirty="0"/>
              <a:t>全１４項目、発表時間は１０分間を予定しております。</a:t>
            </a:r>
            <a:endParaRPr kumimoji="1" lang="en-US" altLang="ja-JP" dirty="0"/>
          </a:p>
          <a:p>
            <a:endParaRPr kumimoji="1" lang="en-US" altLang="ja-JP" dirty="0"/>
          </a:p>
          <a:p>
            <a:r>
              <a:rPr kumimoji="1" lang="ja-JP" altLang="en-US" dirty="0"/>
              <a:t>最後までお付き合いいただけますと幸いです。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a:t>
            </a:fld>
            <a:endParaRPr kumimoji="1" lang="ja-JP" altLang="en-US"/>
          </a:p>
        </p:txBody>
      </p:sp>
    </p:spTree>
    <p:extLst>
      <p:ext uri="{BB962C8B-B14F-4D97-AF65-F5344CB8AC3E}">
        <p14:creationId xmlns:p14="http://schemas.microsoft.com/office/powerpoint/2010/main" val="2098819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発表者、私の紹介をさせていただきます。</a:t>
            </a:r>
            <a:endParaRPr kumimoji="1" lang="en-US" altLang="ja-JP" dirty="0"/>
          </a:p>
          <a:p>
            <a:r>
              <a:rPr kumimoji="1" lang="ja-JP" altLang="en-US" dirty="0"/>
              <a:t>名前は仲村翔、現在３５歳です。</a:t>
            </a:r>
            <a:endParaRPr kumimoji="1" lang="en-US" altLang="ja-JP" dirty="0"/>
          </a:p>
          <a:p>
            <a:r>
              <a:rPr kumimoji="1" lang="ja-JP" altLang="en-US" dirty="0"/>
              <a:t>趣味は模型製作と野球観戦、大切なものは娘と過ごす時間です。</a:t>
            </a:r>
            <a:endParaRPr kumimoji="1" lang="en-US" altLang="ja-JP" dirty="0"/>
          </a:p>
          <a:p>
            <a:r>
              <a:rPr kumimoji="1" lang="ja-JP" altLang="en-US" dirty="0"/>
              <a:t>最終学歴は日本工学院専門学校　蒲田校の声優俳優科を卒業しております。</a:t>
            </a:r>
            <a:endParaRPr kumimoji="1" lang="en-US" altLang="ja-JP" dirty="0"/>
          </a:p>
          <a:p>
            <a:endParaRPr kumimoji="1" lang="en-US" altLang="ja-JP" dirty="0"/>
          </a:p>
          <a:p>
            <a:r>
              <a:rPr kumimoji="1" lang="ja-JP" altLang="en-US" dirty="0"/>
              <a:t>前職では社内システム管理をやっておりました。</a:t>
            </a:r>
            <a:endParaRPr kumimoji="1" lang="en-US" altLang="ja-JP" dirty="0"/>
          </a:p>
          <a:p>
            <a:r>
              <a:rPr kumimoji="1" lang="ja-JP" altLang="en-US" dirty="0"/>
              <a:t>業務内容は機材調達及び管理、業務システムの保守運用、社内ヘルプデスクなどです。</a:t>
            </a:r>
            <a:endParaRPr kumimoji="1" lang="en-US" altLang="ja-JP" dirty="0"/>
          </a:p>
          <a:p>
            <a:endParaRPr kumimoji="1" lang="en-US" altLang="ja-JP" dirty="0"/>
          </a:p>
          <a:p>
            <a:r>
              <a:rPr kumimoji="1" lang="ja-JP" altLang="en-US" dirty="0"/>
              <a:t>障害はうつ病です。</a:t>
            </a:r>
            <a:endParaRPr kumimoji="1" lang="en-US" altLang="ja-JP" dirty="0"/>
          </a:p>
          <a:p>
            <a:r>
              <a:rPr kumimoji="1" lang="ja-JP" altLang="en-US" dirty="0"/>
              <a:t>前職に在籍中に診断を受け退職、その後は専業主夫として育児に専念しておりました。</a:t>
            </a:r>
            <a:endParaRPr kumimoji="1" lang="en-US" altLang="ja-JP" dirty="0"/>
          </a:p>
          <a:p>
            <a:r>
              <a:rPr kumimoji="1" lang="ja-JP" altLang="en-US" dirty="0"/>
              <a:t>子供が小学校に入ったのをきっかけに</a:t>
            </a:r>
            <a:r>
              <a:rPr kumimoji="1" lang="en-US" altLang="ja-JP" dirty="0"/>
              <a:t>NDY</a:t>
            </a:r>
            <a:r>
              <a:rPr kumimoji="1" lang="ja-JP" altLang="en-US" dirty="0"/>
              <a:t>にて復職を目指して訓練を開始しました。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3</a:t>
            </a:fld>
            <a:endParaRPr kumimoji="1" lang="ja-JP" altLang="en-US"/>
          </a:p>
        </p:txBody>
      </p:sp>
    </p:spTree>
    <p:extLst>
      <p:ext uri="{BB962C8B-B14F-4D97-AF65-F5344CB8AC3E}">
        <p14:creationId xmlns:p14="http://schemas.microsoft.com/office/powerpoint/2010/main" val="3914153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本分析の概要について説明させていただきます。</a:t>
            </a:r>
            <a:endParaRPr kumimoji="1" lang="en-US" altLang="ja-JP" dirty="0"/>
          </a:p>
          <a:p>
            <a:endParaRPr kumimoji="1" lang="en-US" altLang="ja-JP" dirty="0"/>
          </a:p>
          <a:p>
            <a:r>
              <a:rPr kumimoji="1" lang="ja-JP" altLang="en-US" dirty="0"/>
              <a:t>目的はターボエンジンの使用状況から、ざんぞん　たいよう　じかん　、</a:t>
            </a:r>
            <a:r>
              <a:rPr kumimoji="1" lang="en-US" altLang="ja-JP" dirty="0"/>
              <a:t>RUL</a:t>
            </a:r>
            <a:r>
              <a:rPr kumimoji="1" lang="ja-JP" altLang="en-US" dirty="0"/>
              <a:t>を予測するモデルを構築することです。</a:t>
            </a:r>
            <a:endParaRPr kumimoji="1" lang="en-US" altLang="ja-JP" dirty="0"/>
          </a:p>
          <a:p>
            <a:r>
              <a:rPr kumimoji="1" lang="ja-JP" altLang="en-US" dirty="0"/>
              <a:t>つまり使用状況から「あと何回使えるか」を予測するのが目的です。</a:t>
            </a:r>
            <a:endParaRPr kumimoji="1" lang="en-US" altLang="ja-JP" dirty="0"/>
          </a:p>
          <a:p>
            <a:endParaRPr kumimoji="1" lang="en-US" altLang="ja-JP" dirty="0"/>
          </a:p>
          <a:p>
            <a:r>
              <a:rPr kumimoji="1" lang="ja-JP" altLang="en-US" dirty="0"/>
              <a:t>なお、以降の説明ではターボエンジンをエンジン、残存耐用時間をＲＵＬを呼称させていただきます。</a:t>
            </a:r>
            <a:endParaRPr kumimoji="1" lang="en-US" altLang="ja-JP" dirty="0"/>
          </a:p>
          <a:p>
            <a:endParaRPr kumimoji="1" lang="en-US" altLang="ja-JP" dirty="0"/>
          </a:p>
          <a:p>
            <a:r>
              <a:rPr kumimoji="1" lang="ja-JP" altLang="en-US" dirty="0"/>
              <a:t>背景といたしましては、様々な産業において、機器の故障予知や異常検知をより正確に行うため、機械学習を用いる取組が行われています。</a:t>
            </a:r>
          </a:p>
          <a:p>
            <a:endParaRPr kumimoji="1" lang="en-US" altLang="ja-JP" dirty="0"/>
          </a:p>
          <a:p>
            <a:r>
              <a:rPr kumimoji="1" lang="ja-JP" altLang="en-US" dirty="0"/>
              <a:t>故障の発生を予測することで、保守効率の上昇、整備時間の短縮したり、故障そのものの予防を実現し、</a:t>
            </a:r>
            <a:endParaRPr kumimoji="1" lang="en-US" altLang="ja-JP" dirty="0"/>
          </a:p>
          <a:p>
            <a:r>
              <a:rPr kumimoji="1" lang="ja-JP" altLang="en-US" dirty="0"/>
              <a:t>結果として故障によって発生する様々なコストを削減することができるようになります。</a:t>
            </a:r>
            <a:endParaRPr kumimoji="1" lang="en-US" altLang="ja-JP" dirty="0"/>
          </a:p>
          <a:p>
            <a:endParaRPr kumimoji="1" lang="en-US" altLang="ja-JP" dirty="0"/>
          </a:p>
          <a:p>
            <a:r>
              <a:rPr kumimoji="1" lang="ja-JP" altLang="en-US" dirty="0"/>
              <a:t>例えば</a:t>
            </a:r>
            <a:r>
              <a:rPr kumimoji="1" lang="en-US" altLang="ja-JP" dirty="0"/>
              <a:t>24</a:t>
            </a:r>
            <a:r>
              <a:rPr kumimoji="1" lang="ja-JP" altLang="en-US" dirty="0"/>
              <a:t>時間稼働するような生産設備では、突発的な稼働停止は大きな損失につながりますが、</a:t>
            </a:r>
            <a:endParaRPr kumimoji="1" lang="en-US" altLang="ja-JP" dirty="0"/>
          </a:p>
          <a:p>
            <a:r>
              <a:rPr kumimoji="1" lang="ja-JP" altLang="en-US" dirty="0"/>
              <a:t>生産設備の</a:t>
            </a:r>
            <a:r>
              <a:rPr kumimoji="1" lang="en-US" altLang="ja-JP" dirty="0"/>
              <a:t>RUL</a:t>
            </a:r>
            <a:r>
              <a:rPr kumimoji="1" lang="ja-JP" altLang="en-US" dirty="0"/>
              <a:t>予測をすれば適切なタイミングでのメンテナンスが可能になり、保守コストの最適化と生産量の最大化が見込めます。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4</a:t>
            </a:fld>
            <a:endParaRPr kumimoji="1" lang="ja-JP" altLang="en-US"/>
          </a:p>
        </p:txBody>
      </p:sp>
    </p:spTree>
    <p:extLst>
      <p:ext uri="{BB962C8B-B14F-4D97-AF65-F5344CB8AC3E}">
        <p14:creationId xmlns:p14="http://schemas.microsoft.com/office/powerpoint/2010/main" val="383097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使用したデータセットについて説明します。</a:t>
            </a:r>
            <a:endParaRPr kumimoji="1" lang="en-US" altLang="ja-JP" dirty="0"/>
          </a:p>
          <a:p>
            <a:endParaRPr kumimoji="1" lang="en-US" altLang="ja-JP" dirty="0"/>
          </a:p>
          <a:p>
            <a:r>
              <a:rPr kumimoji="1" lang="ja-JP" altLang="en-US" dirty="0"/>
              <a:t>データセットは元データ、統計データの２種類存在していました。</a:t>
            </a:r>
            <a:endParaRPr kumimoji="1" lang="en-US" altLang="ja-JP" dirty="0"/>
          </a:p>
          <a:p>
            <a:r>
              <a:rPr kumimoji="1" lang="ja-JP" altLang="en-US" dirty="0"/>
              <a:t>元データはエンジンの使用状況の生のデータ、</a:t>
            </a:r>
            <a:endParaRPr kumimoji="1" lang="en-US" altLang="ja-JP" dirty="0"/>
          </a:p>
          <a:p>
            <a:r>
              <a:rPr kumimoji="1" lang="ja-JP" altLang="en-US" dirty="0"/>
              <a:t>統計データは元データを統計的にまとめたものです。</a:t>
            </a:r>
            <a:endParaRPr kumimoji="1" lang="en-US" altLang="ja-JP" dirty="0"/>
          </a:p>
          <a:p>
            <a:endParaRPr kumimoji="1" lang="en-US" altLang="ja-JP" dirty="0"/>
          </a:p>
          <a:p>
            <a:r>
              <a:rPr kumimoji="1" lang="ja-JP" altLang="en-US" dirty="0"/>
              <a:t>元データはカラム数４６に対し、数百万件のレコードが存在し、</a:t>
            </a:r>
            <a:endParaRPr kumimoji="1" lang="en-US" altLang="ja-JP" dirty="0"/>
          </a:p>
          <a:p>
            <a:r>
              <a:rPr kumimoji="1" lang="ja-JP" altLang="en-US" dirty="0"/>
              <a:t>統計データはカラム数が２８４件、レコード数は５０００件程度まで削減されています。</a:t>
            </a:r>
            <a:endParaRPr kumimoji="1" lang="en-US" altLang="ja-JP" dirty="0"/>
          </a:p>
          <a:p>
            <a:endParaRPr kumimoji="1" lang="en-US" altLang="ja-JP" dirty="0"/>
          </a:p>
          <a:p>
            <a:r>
              <a:rPr kumimoji="1" lang="ja-JP" altLang="en-US" dirty="0"/>
              <a:t>今回は使用している</a:t>
            </a:r>
            <a:r>
              <a:rPr kumimoji="1" lang="en-US" altLang="ja-JP" dirty="0"/>
              <a:t>PC</a:t>
            </a:r>
            <a:r>
              <a:rPr kumimoji="1" lang="ja-JP" altLang="en-US" dirty="0"/>
              <a:t>の制約から、データサイズの小さい、統計データを使用しました。</a:t>
            </a:r>
            <a:endParaRPr kumimoji="1" lang="en-US" altLang="ja-JP" dirty="0"/>
          </a:p>
          <a:p>
            <a:endParaRPr kumimoji="1" lang="en-US" altLang="ja-JP" dirty="0"/>
          </a:p>
          <a:p>
            <a:r>
              <a:rPr kumimoji="1" lang="ja-JP" altLang="en-US" dirty="0"/>
              <a:t>今回の目的変数</a:t>
            </a:r>
            <a:r>
              <a:rPr kumimoji="1" lang="en-US" altLang="ja-JP" dirty="0"/>
              <a:t>Y</a:t>
            </a:r>
            <a:r>
              <a:rPr kumimoji="1" lang="ja-JP" altLang="en-US" dirty="0"/>
              <a:t>は</a:t>
            </a:r>
            <a:r>
              <a:rPr kumimoji="1" lang="en-US" altLang="ja-JP" dirty="0"/>
              <a:t>RUL</a:t>
            </a:r>
            <a:r>
              <a:rPr kumimoji="1" lang="ja-JP" altLang="en-US" dirty="0"/>
              <a:t>です。</a:t>
            </a:r>
            <a:endParaRPr kumimoji="1" lang="en-US" altLang="ja-JP" dirty="0"/>
          </a:p>
          <a:p>
            <a:endParaRPr kumimoji="1" lang="en-US" altLang="ja-JP" dirty="0"/>
          </a:p>
          <a:p>
            <a:r>
              <a:rPr kumimoji="1" lang="ja-JP" altLang="en-US" dirty="0"/>
              <a:t>データセットはエンジン名ごとにファイルが分かれており、データ内には各エンジンのユニットとその使用回数であるサイクルのカラムが含まれています。</a:t>
            </a:r>
            <a:endParaRPr kumimoji="1" lang="en-US" altLang="ja-JP" dirty="0"/>
          </a:p>
          <a:p>
            <a:r>
              <a:rPr kumimoji="1" lang="ja-JP" altLang="en-US" dirty="0"/>
              <a:t>最終的にはエンジン名とユニットの組み合わせに対し</a:t>
            </a:r>
            <a:r>
              <a:rPr kumimoji="1" lang="en-US" altLang="ja-JP" dirty="0"/>
              <a:t>RUL</a:t>
            </a:r>
            <a:r>
              <a:rPr kumimoji="1" lang="ja-JP" altLang="en-US" dirty="0"/>
              <a:t>の予測を行います。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5</a:t>
            </a:fld>
            <a:endParaRPr kumimoji="1" lang="ja-JP" altLang="en-US"/>
          </a:p>
        </p:txBody>
      </p:sp>
    </p:spTree>
    <p:extLst>
      <p:ext uri="{BB962C8B-B14F-4D97-AF65-F5344CB8AC3E}">
        <p14:creationId xmlns:p14="http://schemas.microsoft.com/office/powerpoint/2010/main" val="3960421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実行環境と言語については御覧の通りとなっております。</a:t>
            </a:r>
            <a:endParaRPr kumimoji="1" lang="en-US" altLang="ja-JP" dirty="0"/>
          </a:p>
          <a:p>
            <a:endParaRPr kumimoji="1" lang="en-US" altLang="ja-JP" dirty="0"/>
          </a:p>
          <a:p>
            <a:r>
              <a:rPr kumimoji="1" lang="ja-JP" altLang="en-US" dirty="0"/>
              <a:t>グーグルコラボラトリーでパイソンを使用し、分析を行いました。</a:t>
            </a:r>
            <a:endParaRPr kumimoji="1" lang="en-US" altLang="ja-JP" dirty="0"/>
          </a:p>
          <a:p>
            <a:r>
              <a:rPr kumimoji="1" lang="ja-JP" altLang="en-US" dirty="0"/>
              <a:t>使用した主な学習モデルは、</a:t>
            </a:r>
            <a:r>
              <a:rPr kumimoji="1" lang="en-US" altLang="ja-JP" dirty="0" err="1"/>
              <a:t>LightGBM</a:t>
            </a:r>
            <a:r>
              <a:rPr kumimoji="1" lang="ja-JP" altLang="en-US" dirty="0"/>
              <a:t>、</a:t>
            </a:r>
            <a:r>
              <a:rPr kumimoji="1" lang="en-US" altLang="ja-JP" dirty="0" err="1"/>
              <a:t>XGBoost</a:t>
            </a:r>
            <a:r>
              <a:rPr kumimoji="1" lang="ja-JP" altLang="en-US" dirty="0"/>
              <a:t>、</a:t>
            </a:r>
            <a:r>
              <a:rPr kumimoji="1" lang="en-US" altLang="ja-JP" dirty="0" err="1"/>
              <a:t>CatBoost</a:t>
            </a:r>
            <a:r>
              <a:rPr kumimoji="1" lang="en-US" altLang="ja-JP" dirty="0"/>
              <a:t>,</a:t>
            </a:r>
            <a:r>
              <a:rPr kumimoji="1" lang="ja-JP" altLang="en-US" dirty="0"/>
              <a:t>ランダムフォレストです。</a:t>
            </a:r>
            <a:endParaRPr kumimoji="1" lang="en-US" altLang="ja-JP" dirty="0"/>
          </a:p>
          <a:p>
            <a:r>
              <a:rPr kumimoji="1" lang="ja-JP" altLang="en-US" dirty="0"/>
              <a:t>総作業日数はおおよそ</a:t>
            </a:r>
            <a:r>
              <a:rPr kumimoji="1" lang="en-US" altLang="ja-JP" dirty="0"/>
              <a:t>30</a:t>
            </a:r>
            <a:r>
              <a:rPr kumimoji="1" lang="ja-JP" altLang="en-US" dirty="0"/>
              <a:t>日となっております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6</a:t>
            </a:fld>
            <a:endParaRPr kumimoji="1" lang="ja-JP" altLang="en-US"/>
          </a:p>
        </p:txBody>
      </p:sp>
    </p:spTree>
    <p:extLst>
      <p:ext uri="{BB962C8B-B14F-4D97-AF65-F5344CB8AC3E}">
        <p14:creationId xmlns:p14="http://schemas.microsoft.com/office/powerpoint/2010/main" val="3525341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こちらは本分析の作業フローとなっております。</a:t>
            </a:r>
            <a:endParaRPr kumimoji="1" lang="en-US" altLang="ja-JP" dirty="0"/>
          </a:p>
          <a:p>
            <a:endParaRPr kumimoji="1" lang="en-US" altLang="ja-JP" dirty="0"/>
          </a:p>
          <a:p>
            <a:r>
              <a:rPr kumimoji="1" lang="ja-JP" altLang="en-US" dirty="0"/>
              <a:t>前処理では、同一の値を持つ特徴量が多く発見されたため、削除。</a:t>
            </a:r>
            <a:endParaRPr kumimoji="1" lang="en-US" altLang="ja-JP" dirty="0"/>
          </a:p>
          <a:p>
            <a:endParaRPr kumimoji="1" lang="en-US" altLang="ja-JP" dirty="0"/>
          </a:p>
          <a:p>
            <a:r>
              <a:rPr kumimoji="1" lang="ja-JP" altLang="en-US" dirty="0"/>
              <a:t>続いて、学習データと評価データで使用サイクルの範囲が異なっていたため、範囲を統一。</a:t>
            </a:r>
            <a:endParaRPr kumimoji="1" lang="en-US" altLang="ja-JP" dirty="0"/>
          </a:p>
          <a:p>
            <a:endParaRPr kumimoji="1" lang="en-US" altLang="ja-JP" dirty="0"/>
          </a:p>
          <a:p>
            <a:r>
              <a:rPr kumimoji="1" lang="ja-JP" altLang="en-US" dirty="0"/>
              <a:t>特徴量の選定では</a:t>
            </a:r>
            <a:r>
              <a:rPr kumimoji="1" lang="en-US" altLang="ja-JP" dirty="0" err="1"/>
              <a:t>Lightgbm</a:t>
            </a:r>
            <a:r>
              <a:rPr kumimoji="1" lang="ja-JP" altLang="en-US" dirty="0"/>
              <a:t>とランダムフォレストで特徴量重要度を調査し、重要度の低い特徴量を削減。</a:t>
            </a:r>
            <a:endParaRPr kumimoji="1" lang="en-US" altLang="ja-JP" dirty="0"/>
          </a:p>
          <a:p>
            <a:endParaRPr kumimoji="1" lang="en-US" altLang="ja-JP" dirty="0"/>
          </a:p>
          <a:p>
            <a:r>
              <a:rPr kumimoji="1" lang="ja-JP" altLang="en-US" dirty="0"/>
              <a:t>そして残った重要な特徴量を使用し、</a:t>
            </a:r>
            <a:r>
              <a:rPr kumimoji="1" lang="en-US" altLang="ja-JP" dirty="0" err="1"/>
              <a:t>Lightgbm</a:t>
            </a:r>
            <a:r>
              <a:rPr kumimoji="1" lang="ja-JP" altLang="en-US" dirty="0"/>
              <a:t>をメタモデルとしたアンサンブルでモデル学習を実施。</a:t>
            </a:r>
            <a:endParaRPr kumimoji="1" lang="en-US" altLang="ja-JP" dirty="0"/>
          </a:p>
          <a:p>
            <a:r>
              <a:rPr kumimoji="1" lang="ja-JP" altLang="en-US" dirty="0"/>
              <a:t>アンサンブル対象としては</a:t>
            </a:r>
            <a:r>
              <a:rPr kumimoji="1" lang="en-US" altLang="ja-JP" dirty="0" err="1"/>
              <a:t>CatBoost</a:t>
            </a:r>
            <a:r>
              <a:rPr kumimoji="1" lang="ja-JP" altLang="en-US" dirty="0"/>
              <a:t>、ランダムフォレスト、</a:t>
            </a:r>
            <a:r>
              <a:rPr kumimoji="1" lang="en-US" altLang="ja-JP" dirty="0" err="1"/>
              <a:t>XGBoost</a:t>
            </a:r>
            <a:r>
              <a:rPr kumimoji="1" lang="ja-JP" altLang="en-US" dirty="0"/>
              <a:t>を採用しました。</a:t>
            </a:r>
            <a:endParaRPr kumimoji="1" lang="en-US" altLang="ja-JP" dirty="0"/>
          </a:p>
          <a:p>
            <a:endParaRPr kumimoji="1" lang="en-US" altLang="ja-JP" dirty="0"/>
          </a:p>
          <a:p>
            <a:r>
              <a:rPr kumimoji="1" lang="ja-JP" altLang="en-US" dirty="0"/>
              <a:t>最後に、予測結果を提出用テンプレートに合わせ整形。予測結果をまとめるときは中央値を採用しております。</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7</a:t>
            </a:fld>
            <a:endParaRPr kumimoji="1" lang="ja-JP" altLang="en-US"/>
          </a:p>
        </p:txBody>
      </p:sp>
    </p:spTree>
    <p:extLst>
      <p:ext uri="{BB962C8B-B14F-4D97-AF65-F5344CB8AC3E}">
        <p14:creationId xmlns:p14="http://schemas.microsoft.com/office/powerpoint/2010/main" val="1640068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続いて分析の結果です。</a:t>
            </a:r>
            <a:endParaRPr kumimoji="1" lang="en-US" altLang="ja-JP" dirty="0"/>
          </a:p>
          <a:p>
            <a:endParaRPr kumimoji="1" lang="en-US" altLang="ja-JP" dirty="0"/>
          </a:p>
          <a:p>
            <a:r>
              <a:rPr kumimoji="1" lang="ja-JP" altLang="en-US" dirty="0"/>
              <a:t>コンペにおける</a:t>
            </a:r>
            <a:r>
              <a:rPr kumimoji="1" lang="en-US" altLang="ja-JP" dirty="0"/>
              <a:t>RMSE</a:t>
            </a:r>
            <a:r>
              <a:rPr kumimoji="1" lang="ja-JP" altLang="en-US" dirty="0"/>
              <a:t>は</a:t>
            </a:r>
            <a:r>
              <a:rPr kumimoji="1" lang="en-US" altLang="ja-JP" dirty="0"/>
              <a:t>23.64</a:t>
            </a:r>
            <a:r>
              <a:rPr kumimoji="1" lang="ja-JP" altLang="en-US" dirty="0"/>
              <a:t>となりました。</a:t>
            </a:r>
            <a:endParaRPr kumimoji="1" lang="en-US" altLang="ja-JP" dirty="0"/>
          </a:p>
          <a:p>
            <a:r>
              <a:rPr kumimoji="1" lang="ja-JP" altLang="en-US" dirty="0"/>
              <a:t>これは、残りの使用回数を０から</a:t>
            </a:r>
            <a:r>
              <a:rPr kumimoji="1" lang="en-US" altLang="ja-JP" dirty="0"/>
              <a:t>100</a:t>
            </a:r>
            <a:r>
              <a:rPr kumimoji="1" lang="ja-JP" altLang="en-US" dirty="0"/>
              <a:t>回の範囲であると想定した場合、プラスマイナス</a:t>
            </a:r>
            <a:r>
              <a:rPr kumimoji="1" lang="en-US" altLang="ja-JP" dirty="0"/>
              <a:t>23</a:t>
            </a:r>
            <a:r>
              <a:rPr kumimoji="1" lang="ja-JP" altLang="en-US" dirty="0"/>
              <a:t>回の誤差で予測ができる、ということです。</a:t>
            </a:r>
            <a:endParaRPr kumimoji="1" lang="en-US" altLang="ja-JP" dirty="0"/>
          </a:p>
          <a:p>
            <a:r>
              <a:rPr kumimoji="1" lang="ja-JP" altLang="en-US" dirty="0"/>
              <a:t>ピンポイントな故障の予測はできないが、そろそろメンテナンスをした方がいい、というアラートとしては活用できるのではないかと考えます。</a:t>
            </a:r>
            <a:endParaRPr kumimoji="1" lang="en-US" altLang="ja-JP" dirty="0"/>
          </a:p>
          <a:p>
            <a:endParaRPr kumimoji="1" lang="en-US" altLang="ja-JP" dirty="0"/>
          </a:p>
          <a:p>
            <a:r>
              <a:rPr kumimoji="1" lang="ja-JP" altLang="en-US" dirty="0"/>
              <a:t>コンペ順位は</a:t>
            </a:r>
            <a:r>
              <a:rPr kumimoji="1" lang="en-US" altLang="ja-JP" dirty="0"/>
              <a:t>348</a:t>
            </a:r>
            <a:r>
              <a:rPr kumimoji="1" lang="ja-JP" altLang="en-US" dirty="0"/>
              <a:t>人中</a:t>
            </a:r>
            <a:r>
              <a:rPr kumimoji="1" lang="en-US" altLang="ja-JP" dirty="0"/>
              <a:t>51</a:t>
            </a:r>
            <a:r>
              <a:rPr kumimoji="1" lang="ja-JP" altLang="en-US" dirty="0"/>
              <a:t>位でした。</a:t>
            </a:r>
            <a:endParaRPr kumimoji="1" lang="en-US" altLang="ja-JP" dirty="0"/>
          </a:p>
          <a:p>
            <a:endParaRPr kumimoji="1" lang="en-US" altLang="ja-JP" dirty="0"/>
          </a:p>
          <a:p>
            <a:r>
              <a:rPr kumimoji="1" lang="ja-JP" altLang="en-US" dirty="0"/>
              <a:t>コンペ順位としてはまずまずの精度に到達することができましたが、</a:t>
            </a:r>
            <a:endParaRPr kumimoji="1" lang="en-US" altLang="ja-JP" dirty="0"/>
          </a:p>
          <a:p>
            <a:r>
              <a:rPr kumimoji="1" lang="ja-JP" altLang="en-US" dirty="0"/>
              <a:t>個人的には満足しておらず、再度挑戦する機会があれば、より高い精度を目指したいと考えています。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8</a:t>
            </a:fld>
            <a:endParaRPr kumimoji="1" lang="ja-JP" altLang="en-US"/>
          </a:p>
        </p:txBody>
      </p:sp>
    </p:spTree>
    <p:extLst>
      <p:ext uri="{BB962C8B-B14F-4D97-AF65-F5344CB8AC3E}">
        <p14:creationId xmlns:p14="http://schemas.microsoft.com/office/powerpoint/2010/main" val="2963347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予測結果に対する考察を説明いたします。</a:t>
            </a:r>
            <a:endParaRPr kumimoji="1" lang="en-US" altLang="ja-JP" dirty="0"/>
          </a:p>
          <a:p>
            <a:endParaRPr kumimoji="1" lang="en-US" altLang="ja-JP" dirty="0"/>
          </a:p>
          <a:p>
            <a:r>
              <a:rPr kumimoji="1" lang="ja-JP" altLang="en-US" dirty="0"/>
              <a:t>画面左側のグラフは使用回数に対する予測</a:t>
            </a:r>
            <a:r>
              <a:rPr kumimoji="1" lang="en-US" altLang="ja-JP" dirty="0"/>
              <a:t>RUL</a:t>
            </a:r>
            <a:r>
              <a:rPr kumimoji="1" lang="ja-JP" altLang="en-US" dirty="0"/>
              <a:t>の分布を示したものです。</a:t>
            </a:r>
            <a:endParaRPr kumimoji="1" lang="en-US" altLang="ja-JP" dirty="0"/>
          </a:p>
          <a:p>
            <a:endParaRPr kumimoji="1" lang="en-US" altLang="ja-JP" dirty="0"/>
          </a:p>
          <a:p>
            <a:r>
              <a:rPr kumimoji="1" lang="ja-JP" altLang="en-US" dirty="0"/>
              <a:t>傾向として、予測値は使用回数が増えるにつれ減少しており、エンジンの劣化傾向を適切に予測していることが分かります。</a:t>
            </a:r>
            <a:endParaRPr kumimoji="1" lang="en-US" altLang="ja-JP" dirty="0"/>
          </a:p>
          <a:p>
            <a:endParaRPr kumimoji="1" lang="en-US" altLang="ja-JP" dirty="0"/>
          </a:p>
          <a:p>
            <a:r>
              <a:rPr kumimoji="1" lang="ja-JP" altLang="en-US" dirty="0"/>
              <a:t>予測範囲のばらつきが見られますが、全体としては「使用回数が増えれば</a:t>
            </a:r>
            <a:r>
              <a:rPr kumimoji="1" lang="en-US" altLang="ja-JP" dirty="0"/>
              <a:t>RUL</a:t>
            </a:r>
            <a:r>
              <a:rPr kumimoji="1" lang="ja-JP" altLang="en-US" dirty="0"/>
              <a:t>が減少する」という整合的な予測ができているものと考えます。</a:t>
            </a:r>
            <a:endParaRPr kumimoji="1" lang="en-US" altLang="ja-JP" dirty="0"/>
          </a:p>
          <a:p>
            <a:endParaRPr kumimoji="1" lang="en-US" altLang="ja-JP" dirty="0"/>
          </a:p>
          <a:p>
            <a:r>
              <a:rPr kumimoji="1" lang="ja-JP" altLang="en-US" dirty="0"/>
              <a:t>結論として、モデルは全体的に劣化傾向の予測はできているものの、新たな特徴量として実測値を加えるなどの改善ができれば一層の精度向上が見込めるだろうと思います。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9</a:t>
            </a:fld>
            <a:endParaRPr kumimoji="1" lang="ja-JP" altLang="en-US"/>
          </a:p>
        </p:txBody>
      </p:sp>
    </p:spTree>
    <p:extLst>
      <p:ext uri="{BB962C8B-B14F-4D97-AF65-F5344CB8AC3E}">
        <p14:creationId xmlns:p14="http://schemas.microsoft.com/office/powerpoint/2010/main" val="4131039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続いて工夫点ですが、こちらは</a:t>
            </a:r>
            <a:r>
              <a:rPr kumimoji="1" lang="en-US" altLang="ja-JP" dirty="0"/>
              <a:t>2</a:t>
            </a:r>
            <a:r>
              <a:rPr kumimoji="1" lang="ja-JP" altLang="en-US" dirty="0"/>
              <a:t>点あります。</a:t>
            </a:r>
            <a:endParaRPr kumimoji="1" lang="en-US" altLang="ja-JP" dirty="0"/>
          </a:p>
          <a:p>
            <a:r>
              <a:rPr kumimoji="1" lang="ja-JP" altLang="en-US" dirty="0"/>
              <a:t>一つ目はユニットの使用回数を示す</a:t>
            </a:r>
            <a:r>
              <a:rPr kumimoji="1" lang="en-US" altLang="ja-JP" dirty="0"/>
              <a:t>cycle</a:t>
            </a:r>
            <a:r>
              <a:rPr kumimoji="1" lang="ja-JP" altLang="en-US" dirty="0"/>
              <a:t>の範囲の調整です。</a:t>
            </a:r>
            <a:endParaRPr kumimoji="1" lang="en-US" altLang="ja-JP" dirty="0"/>
          </a:p>
          <a:p>
            <a:r>
              <a:rPr kumimoji="1" lang="ja-JP" altLang="en-US" dirty="0"/>
              <a:t>学習データにおいてサイクルは</a:t>
            </a:r>
            <a:r>
              <a:rPr kumimoji="1" lang="en-US" altLang="ja-JP" dirty="0"/>
              <a:t>0</a:t>
            </a:r>
            <a:r>
              <a:rPr kumimoji="1" lang="ja-JP" altLang="en-US" dirty="0"/>
              <a:t>回から</a:t>
            </a:r>
            <a:r>
              <a:rPr kumimoji="1" lang="en-US" altLang="ja-JP" dirty="0"/>
              <a:t>100</a:t>
            </a:r>
            <a:r>
              <a:rPr kumimoji="1" lang="ja-JP" altLang="en-US" dirty="0"/>
              <a:t>回の範囲、評価データでは</a:t>
            </a:r>
            <a:r>
              <a:rPr kumimoji="1" lang="en-US" altLang="ja-JP" dirty="0"/>
              <a:t>0</a:t>
            </a:r>
            <a:r>
              <a:rPr kumimoji="1" lang="ja-JP" altLang="en-US" dirty="0"/>
              <a:t>回から</a:t>
            </a:r>
            <a:r>
              <a:rPr kumimoji="1" lang="en-US" altLang="ja-JP" dirty="0"/>
              <a:t>40</a:t>
            </a:r>
            <a:r>
              <a:rPr kumimoji="1" lang="ja-JP" altLang="en-US" dirty="0"/>
              <a:t>回の範囲の値を持っていました。</a:t>
            </a:r>
            <a:endParaRPr kumimoji="1" lang="en-US" altLang="ja-JP" dirty="0"/>
          </a:p>
          <a:p>
            <a:r>
              <a:rPr kumimoji="1" lang="ja-JP" altLang="en-US" dirty="0"/>
              <a:t>このことから学習データに存在する</a:t>
            </a:r>
            <a:r>
              <a:rPr kumimoji="1" lang="en-US" altLang="ja-JP" dirty="0"/>
              <a:t>cycle41</a:t>
            </a:r>
            <a:r>
              <a:rPr kumimoji="1" lang="ja-JP" altLang="en-US" dirty="0"/>
              <a:t>回目以降のデータがノイズになる可能性があると考え、範囲の調整を行いました。</a:t>
            </a:r>
            <a:endParaRPr kumimoji="1" lang="en-US" altLang="ja-JP" dirty="0"/>
          </a:p>
          <a:p>
            <a:endParaRPr kumimoji="1" lang="en-US" altLang="ja-JP" dirty="0"/>
          </a:p>
          <a:p>
            <a:r>
              <a:rPr kumimoji="1" lang="ja-JP" altLang="en-US" dirty="0"/>
              <a:t>二つ目はサイクルと目的変数</a:t>
            </a:r>
            <a:r>
              <a:rPr kumimoji="1" lang="en-US" altLang="ja-JP" dirty="0"/>
              <a:t>Y</a:t>
            </a:r>
            <a:r>
              <a:rPr kumimoji="1" lang="ja-JP" altLang="en-US" dirty="0"/>
              <a:t>の強い負の相関についてです。</a:t>
            </a:r>
            <a:endParaRPr kumimoji="1" lang="en-US" altLang="ja-JP" dirty="0"/>
          </a:p>
          <a:p>
            <a:r>
              <a:rPr kumimoji="1" lang="ja-JP" altLang="en-US" dirty="0"/>
              <a:t>使用した回数を示す</a:t>
            </a:r>
            <a:r>
              <a:rPr kumimoji="1" lang="en-US" altLang="ja-JP" dirty="0"/>
              <a:t>cycle</a:t>
            </a:r>
            <a:r>
              <a:rPr kumimoji="1" lang="ja-JP" altLang="en-US" dirty="0"/>
              <a:t>と、残りの使用可能回数を示す目的変数</a:t>
            </a:r>
            <a:r>
              <a:rPr kumimoji="1" lang="en-US" altLang="ja-JP" dirty="0"/>
              <a:t>Y</a:t>
            </a:r>
            <a:r>
              <a:rPr kumimoji="1" lang="ja-JP" altLang="en-US" dirty="0"/>
              <a:t>、つまり</a:t>
            </a:r>
            <a:r>
              <a:rPr kumimoji="1" lang="en-US" altLang="ja-JP" dirty="0"/>
              <a:t>RUL</a:t>
            </a:r>
            <a:r>
              <a:rPr kumimoji="1" lang="ja-JP" altLang="en-US" dirty="0"/>
              <a:t>には強い負の相関がありました。</a:t>
            </a:r>
            <a:endParaRPr kumimoji="1" lang="en-US" altLang="ja-JP" dirty="0"/>
          </a:p>
          <a:p>
            <a:r>
              <a:rPr kumimoji="1" lang="ja-JP" altLang="en-US" dirty="0"/>
              <a:t>そのためサイクルを基準とした時間経過を示す新たな特徴量を追加し、学習結果に影響があるか調査を行いました。</a:t>
            </a:r>
            <a:endParaRPr kumimoji="1" lang="en-US" altLang="ja-JP" dirty="0"/>
          </a:p>
          <a:p>
            <a:r>
              <a:rPr kumimoji="1" lang="ja-JP" altLang="en-US" dirty="0"/>
              <a:t>この時追加した特徴量ついては予測結果にあまり貢献しなかったため、最終的な実施フローでは除外しました。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10</a:t>
            </a:fld>
            <a:endParaRPr kumimoji="1" lang="ja-JP" altLang="en-US"/>
          </a:p>
        </p:txBody>
      </p:sp>
    </p:spTree>
    <p:extLst>
      <p:ext uri="{BB962C8B-B14F-4D97-AF65-F5344CB8AC3E}">
        <p14:creationId xmlns:p14="http://schemas.microsoft.com/office/powerpoint/2010/main" val="1227351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r>
              <a:rPr kumimoji="1" lang="ja-JP" altLang="en-US" dirty="0"/>
              <a:t>苦労点です。こちらも</a:t>
            </a:r>
            <a:r>
              <a:rPr kumimoji="1" lang="en-US" altLang="ja-JP" dirty="0"/>
              <a:t>2</a:t>
            </a:r>
            <a:r>
              <a:rPr kumimoji="1" lang="ja-JP" altLang="en-US" dirty="0"/>
              <a:t>点あります。</a:t>
            </a:r>
            <a:endParaRPr kumimoji="1" lang="en-US" altLang="ja-JP" dirty="0"/>
          </a:p>
          <a:p>
            <a:r>
              <a:rPr kumimoji="1" lang="ja-JP" altLang="en-US" dirty="0"/>
              <a:t>一つ目はドメイン知識の獲得です。</a:t>
            </a:r>
            <a:endParaRPr kumimoji="1" lang="en-US" altLang="ja-JP" dirty="0"/>
          </a:p>
          <a:p>
            <a:r>
              <a:rPr kumimoji="1" lang="ja-JP" altLang="en-US" dirty="0"/>
              <a:t>私にはターボエンジンの構造に関する知識が全くなく、前提として必要になるドメイン知識の習得に時間がかかってしまいました。</a:t>
            </a:r>
            <a:endParaRPr kumimoji="1" lang="en-US" altLang="ja-JP" dirty="0"/>
          </a:p>
          <a:p>
            <a:r>
              <a:rPr kumimoji="1" lang="ja-JP" altLang="en-US" dirty="0"/>
              <a:t>実際に機械学習モデルを使用し特徴量重要度や目的変数に対する相関が高い特徴量などを中心に、ターボエンジンの用語の学習を行いました。</a:t>
            </a:r>
            <a:endParaRPr kumimoji="1" lang="en-US" altLang="ja-JP" dirty="0"/>
          </a:p>
          <a:p>
            <a:endParaRPr kumimoji="1" lang="en-US" altLang="ja-JP" dirty="0"/>
          </a:p>
          <a:p>
            <a:r>
              <a:rPr kumimoji="1" lang="ja-JP" altLang="en-US" dirty="0"/>
              <a:t>並行して、実際の航空機業界で故障予知についてどのような取り組みの事例があるのかを調査しました。</a:t>
            </a:r>
            <a:endParaRPr kumimoji="1" lang="en-US" altLang="ja-JP" dirty="0"/>
          </a:p>
          <a:p>
            <a:r>
              <a:rPr kumimoji="1" lang="ja-JP" altLang="en-US" dirty="0"/>
              <a:t>こうした事例も知識の獲得に役に立ち、予測結果がどう活用できるのかという考察を深めることができました。</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11</a:t>
            </a:fld>
            <a:endParaRPr kumimoji="1" lang="ja-JP" altLang="en-US"/>
          </a:p>
        </p:txBody>
      </p:sp>
    </p:spTree>
    <p:extLst>
      <p:ext uri="{BB962C8B-B14F-4D97-AF65-F5344CB8AC3E}">
        <p14:creationId xmlns:p14="http://schemas.microsoft.com/office/powerpoint/2010/main" val="1050357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もう一つはデータの前処理についてです。</a:t>
            </a:r>
            <a:endParaRPr kumimoji="1" lang="en-US" altLang="ja-JP" dirty="0"/>
          </a:p>
          <a:p>
            <a:r>
              <a:rPr kumimoji="1" lang="ja-JP" altLang="en-US" dirty="0"/>
              <a:t>各特徴量に関する事前の調査が甘く、分析作業を進めていく途中で不必要な特徴量がいくつも発見されました。</a:t>
            </a:r>
            <a:endParaRPr kumimoji="1" lang="en-US" altLang="ja-JP" dirty="0"/>
          </a:p>
          <a:p>
            <a:r>
              <a:rPr kumimoji="1" lang="ja-JP" altLang="en-US" dirty="0"/>
              <a:t>これらはすべてのレコード内で同じ値を持つ複数の特徴量やすべての値が０しかない特徴量です。</a:t>
            </a:r>
            <a:endParaRPr kumimoji="1" lang="en-US" altLang="ja-JP" dirty="0"/>
          </a:p>
          <a:p>
            <a:r>
              <a:rPr kumimoji="1" lang="ja-JP" altLang="en-US" dirty="0"/>
              <a:t>欠損値は先んじて確認をしていましたが、重複するデータや０で埋められたデータまでは気が付きませんでした。</a:t>
            </a:r>
            <a:endParaRPr kumimoji="1" lang="en-US" altLang="ja-JP" dirty="0"/>
          </a:p>
          <a:p>
            <a:endParaRPr kumimoji="1" lang="en-US" altLang="ja-JP" dirty="0"/>
          </a:p>
          <a:p>
            <a:r>
              <a:rPr kumimoji="1" lang="ja-JP" altLang="en-US" dirty="0"/>
              <a:t>幸運にも今回は作業途中で発見し、調査を行い、不必要であることが確認ができています。</a:t>
            </a:r>
            <a:endParaRPr kumimoji="1" lang="en-US" altLang="ja-JP" dirty="0"/>
          </a:p>
          <a:p>
            <a:r>
              <a:rPr kumimoji="1" lang="ja-JP" altLang="en-US" dirty="0"/>
              <a:t>欠損しているかどうかだけでなく、どういった値を持っているのか事前に確認することで、今後の作業を効率的に進めようと思います。</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12</a:t>
            </a:fld>
            <a:endParaRPr kumimoji="1" lang="ja-JP" altLang="en-US"/>
          </a:p>
        </p:txBody>
      </p:sp>
    </p:spTree>
    <p:extLst>
      <p:ext uri="{BB962C8B-B14F-4D97-AF65-F5344CB8AC3E}">
        <p14:creationId xmlns:p14="http://schemas.microsoft.com/office/powerpoint/2010/main" val="2874599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本分析の応用に関するアイディアです。</a:t>
            </a:r>
            <a:r>
              <a:rPr kumimoji="1" lang="en-US" altLang="ja-JP" dirty="0"/>
              <a:t>3</a:t>
            </a:r>
            <a:r>
              <a:rPr kumimoji="1" lang="ja-JP" altLang="en-US" dirty="0"/>
              <a:t>点あります。</a:t>
            </a:r>
          </a:p>
          <a:p>
            <a:endParaRPr kumimoji="1" lang="en-US" altLang="ja-JP" dirty="0"/>
          </a:p>
          <a:p>
            <a:r>
              <a:rPr kumimoji="1" lang="ja-JP" altLang="en-US" dirty="0"/>
              <a:t>まずは</a:t>
            </a:r>
            <a:r>
              <a:rPr kumimoji="1" lang="en-US" altLang="ja-JP" dirty="0"/>
              <a:t>1</a:t>
            </a:r>
            <a:r>
              <a:rPr kumimoji="1" lang="ja-JP" altLang="en-US" dirty="0"/>
              <a:t>つ目、修理効率化です。</a:t>
            </a:r>
            <a:endParaRPr kumimoji="1" lang="en-US" altLang="ja-JP" dirty="0"/>
          </a:p>
          <a:p>
            <a:r>
              <a:rPr kumimoji="1" lang="ja-JP" altLang="en-US" dirty="0"/>
              <a:t>運用データを常にモニタリングし、データの収集と共有を行います。</a:t>
            </a:r>
            <a:endParaRPr kumimoji="1" lang="en-US" altLang="ja-JP" dirty="0"/>
          </a:p>
          <a:p>
            <a:r>
              <a:rPr kumimoji="1" lang="ja-JP" altLang="en-US" dirty="0"/>
              <a:t>それらのデータを保守部門と共有することで、機体の稼働を止めることなく、より効率的な修理・交換が可能になります。</a:t>
            </a:r>
          </a:p>
          <a:p>
            <a:r>
              <a:rPr kumimoji="1" lang="ja-JP" altLang="en-US" dirty="0"/>
              <a:t>データの蓄積により予測精度が向上していけば、予測をベースとした保守を実現することが可能です。</a:t>
            </a:r>
            <a:endParaRPr kumimoji="1" lang="en-US" altLang="ja-JP" dirty="0"/>
          </a:p>
          <a:p>
            <a:endParaRPr kumimoji="1" lang="ja-JP" altLang="en-US" dirty="0"/>
          </a:p>
          <a:p>
            <a:r>
              <a:rPr kumimoji="1" lang="en-US" altLang="ja-JP" dirty="0"/>
              <a:t>2</a:t>
            </a:r>
            <a:r>
              <a:rPr kumimoji="1" lang="ja-JP" altLang="en-US" dirty="0"/>
              <a:t>つ目、他業種への応用です。</a:t>
            </a:r>
          </a:p>
          <a:p>
            <a:r>
              <a:rPr kumimoji="1" lang="ja-JP" altLang="en-US" dirty="0"/>
              <a:t>他業種への横展開を行い、同様に必要なデータをモニタリングし、先手を打って必要なメンテナンスを実施することができるようなります。</a:t>
            </a:r>
          </a:p>
          <a:p>
            <a:r>
              <a:rPr kumimoji="1" lang="ja-JP" altLang="en-US" dirty="0"/>
              <a:t>蓄積されたデータを基に予測型保守を実現し、効率的なメンテナンスをすることで、機器の停止時間を削減し、工場の生産ラインや物流網などの稼働率を上昇させることが可能です。</a:t>
            </a:r>
          </a:p>
          <a:p>
            <a:endParaRPr kumimoji="1" lang="ja-JP" altLang="en-US" dirty="0"/>
          </a:p>
          <a:p>
            <a:r>
              <a:rPr kumimoji="1" lang="en-US" altLang="ja-JP" dirty="0"/>
              <a:t>3</a:t>
            </a:r>
            <a:r>
              <a:rPr kumimoji="1" lang="ja-JP" altLang="en-US" dirty="0"/>
              <a:t>つ目は家庭用機器への展開です。</a:t>
            </a:r>
          </a:p>
          <a:p>
            <a:r>
              <a:rPr kumimoji="1" lang="ja-JP" altLang="en-US" dirty="0"/>
              <a:t>個人が家庭内で使用する家電などの機器においても、使用状況をメーカーがモニタリングし、積極的にユーザーをメンテナンスへ誘導することができるようになります。</a:t>
            </a:r>
          </a:p>
          <a:p>
            <a:r>
              <a:rPr kumimoji="1" lang="ja-JP" altLang="en-US" dirty="0"/>
              <a:t>こうすることで修理や交換といったビジネスチャンスを広げることが期待できます。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13</a:t>
            </a:fld>
            <a:endParaRPr kumimoji="1" lang="ja-JP" altLang="en-US"/>
          </a:p>
        </p:txBody>
      </p:sp>
    </p:spTree>
    <p:extLst>
      <p:ext uri="{BB962C8B-B14F-4D97-AF65-F5344CB8AC3E}">
        <p14:creationId xmlns:p14="http://schemas.microsoft.com/office/powerpoint/2010/main" val="2974021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本分析を通じて学んだことを</a:t>
            </a:r>
            <a:r>
              <a:rPr kumimoji="1" lang="en-US" altLang="ja-JP" dirty="0"/>
              <a:t>3</a:t>
            </a:r>
            <a:r>
              <a:rPr kumimoji="1" lang="ja-JP" altLang="en-US" dirty="0"/>
              <a:t>点紹介させていただきます。</a:t>
            </a:r>
            <a:endParaRPr kumimoji="1" lang="en-US" altLang="ja-JP" dirty="0"/>
          </a:p>
          <a:p>
            <a:endParaRPr kumimoji="1" lang="en-US" altLang="ja-JP" dirty="0"/>
          </a:p>
          <a:p>
            <a:r>
              <a:rPr kumimoji="1" lang="ja-JP" altLang="en-US" dirty="0"/>
              <a:t>一つ目はデータ理解の重要性です。</a:t>
            </a:r>
            <a:endParaRPr kumimoji="1" lang="en-US" altLang="ja-JP" dirty="0"/>
          </a:p>
          <a:p>
            <a:r>
              <a:rPr kumimoji="1" lang="ja-JP" altLang="en-US" dirty="0"/>
              <a:t>ドメインに関する知識や特徴量の意味を先に学び、それから作業に入る重要性を痛感しました。</a:t>
            </a:r>
            <a:endParaRPr kumimoji="1" lang="en-US" altLang="ja-JP" dirty="0"/>
          </a:p>
          <a:p>
            <a:r>
              <a:rPr kumimoji="1" lang="ja-JP" altLang="en-US" dirty="0"/>
              <a:t>事前にターボエンジンの構造や様々なセンサーの名称とその目的などを理解していれば、分析作業がより効率的に進んだだろうと思います。</a:t>
            </a:r>
            <a:endParaRPr kumimoji="1" lang="en-US" altLang="ja-JP" dirty="0"/>
          </a:p>
          <a:p>
            <a:r>
              <a:rPr kumimoji="1" lang="ja-JP" altLang="en-US" dirty="0"/>
              <a:t>今後は事前調査に重きをおき、理解を進めてからモデル構築に進みます。</a:t>
            </a:r>
            <a:endParaRPr kumimoji="1" lang="en-US" altLang="ja-JP" dirty="0"/>
          </a:p>
          <a:p>
            <a:endParaRPr kumimoji="1" lang="en-US" altLang="ja-JP" dirty="0"/>
          </a:p>
          <a:p>
            <a:r>
              <a:rPr kumimoji="1" lang="en-US" altLang="ja-JP" dirty="0"/>
              <a:t>2</a:t>
            </a:r>
            <a:r>
              <a:rPr kumimoji="1" lang="ja-JP" altLang="en-US" dirty="0"/>
              <a:t>つ目は作業内容の保存です。</a:t>
            </a:r>
            <a:endParaRPr kumimoji="1" lang="en-US" altLang="ja-JP" dirty="0"/>
          </a:p>
          <a:p>
            <a:r>
              <a:rPr kumimoji="1" lang="ja-JP" altLang="en-US" dirty="0"/>
              <a:t>日々の分析や調査、モデル構築での作業ログを適切に保管する必要性を実感しました。</a:t>
            </a:r>
            <a:endParaRPr kumimoji="1" lang="en-US" altLang="ja-JP" dirty="0"/>
          </a:p>
          <a:p>
            <a:r>
              <a:rPr kumimoji="1" lang="ja-JP" altLang="en-US" dirty="0"/>
              <a:t>そうすることで作業の再現性を高め、手戻りを減らし、より効率的に作業を進めることができるようになると考えます。</a:t>
            </a:r>
            <a:endParaRPr kumimoji="1" lang="en-US" altLang="ja-JP" dirty="0"/>
          </a:p>
          <a:p>
            <a:r>
              <a:rPr kumimoji="1" lang="ja-JP" altLang="en-US" dirty="0"/>
              <a:t>現在は</a:t>
            </a:r>
            <a:r>
              <a:rPr kumimoji="1" lang="en-US" altLang="ja-JP" dirty="0"/>
              <a:t>ChatGPT</a:t>
            </a:r>
            <a:r>
              <a:rPr kumimoji="1" lang="ja-JP" altLang="en-US" dirty="0"/>
              <a:t>を使用して会話・作業ログを保管しています。</a:t>
            </a:r>
            <a:endParaRPr kumimoji="1" lang="en-US" altLang="ja-JP" dirty="0"/>
          </a:p>
          <a:p>
            <a:endParaRPr kumimoji="1" lang="en-US" altLang="ja-JP" dirty="0"/>
          </a:p>
          <a:p>
            <a:r>
              <a:rPr kumimoji="1" lang="en-US" altLang="ja-JP" dirty="0"/>
              <a:t>3</a:t>
            </a:r>
            <a:r>
              <a:rPr kumimoji="1" lang="ja-JP" altLang="en-US" dirty="0"/>
              <a:t>つ目は業務的視点の獲得です。</a:t>
            </a:r>
            <a:endParaRPr kumimoji="1" lang="en-US" altLang="ja-JP" dirty="0"/>
          </a:p>
          <a:p>
            <a:r>
              <a:rPr kumimoji="1" lang="ja-JP" altLang="en-US" dirty="0"/>
              <a:t>他業種での業務改善につなげるという視点から、エンジンの</a:t>
            </a:r>
            <a:r>
              <a:rPr kumimoji="1" lang="en-US" altLang="ja-JP" dirty="0"/>
              <a:t>RUL</a:t>
            </a:r>
            <a:r>
              <a:rPr kumimoji="1" lang="ja-JP" altLang="en-US" dirty="0"/>
              <a:t>予測という専門性の強い分析テーマをかみ砕き、どう活用するか？を考察することができました。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同時に明確に目的を見据え、適切な手法を選択する経験を積むことができたと思います。</a:t>
            </a:r>
            <a:endParaRPr kumimoji="1" lang="en-US" altLang="ja-JP" dirty="0"/>
          </a:p>
          <a:p>
            <a:r>
              <a:rPr kumimoji="1" lang="ja-JP" altLang="en-US" dirty="0"/>
              <a:t>今回は</a:t>
            </a:r>
            <a:r>
              <a:rPr kumimoji="1" lang="en-US" altLang="ja-JP" dirty="0"/>
              <a:t>RUL</a:t>
            </a:r>
            <a:r>
              <a:rPr kumimoji="1" lang="ja-JP" altLang="en-US" dirty="0"/>
              <a:t>予測を行うモデルの構築という目的に対し、汎化性能の確保のためアンサンブル学習を選択し、全体的な傾向を捉えた予測を行うことができました。</a:t>
            </a:r>
            <a:endParaRPr kumimoji="1" lang="en-US" altLang="ja-JP" dirty="0"/>
          </a:p>
          <a:p>
            <a:r>
              <a:rPr kumimoji="1" lang="ja-JP" altLang="en-US" dirty="0"/>
              <a:t>この経験は、データ分析だけでなく、今後自分が参加する様々な業務においても活きてくるだろうと考えております。</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14</a:t>
            </a:fld>
            <a:endParaRPr kumimoji="1" lang="ja-JP" altLang="en-US"/>
          </a:p>
        </p:txBody>
      </p:sp>
    </p:spTree>
    <p:extLst>
      <p:ext uri="{BB962C8B-B14F-4D97-AF65-F5344CB8AC3E}">
        <p14:creationId xmlns:p14="http://schemas.microsoft.com/office/powerpoint/2010/main" val="2860816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以上で発表は終了とさせていただきます。</a:t>
            </a:r>
            <a:endParaRPr kumimoji="1" lang="en-US" altLang="ja-JP" dirty="0"/>
          </a:p>
          <a:p>
            <a:r>
              <a:rPr kumimoji="1" lang="ja-JP" altLang="en-US" dirty="0"/>
              <a:t>ご清聴、ありがとうございました。</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15</a:t>
            </a:fld>
            <a:endParaRPr kumimoji="1" lang="ja-JP" altLang="en-US"/>
          </a:p>
        </p:txBody>
      </p:sp>
    </p:spTree>
    <p:extLst>
      <p:ext uri="{BB962C8B-B14F-4D97-AF65-F5344CB8AC3E}">
        <p14:creationId xmlns:p14="http://schemas.microsoft.com/office/powerpoint/2010/main" val="3852673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発表者、私の紹介をさせていただきます。</a:t>
            </a:r>
            <a:endParaRPr kumimoji="1" lang="en-US" altLang="ja-JP" dirty="0"/>
          </a:p>
          <a:p>
            <a:r>
              <a:rPr kumimoji="1" lang="ja-JP" altLang="en-US" dirty="0"/>
              <a:t>名前は仲村翔、１９９０年１月１６日生まれ、現在３５歳です。</a:t>
            </a:r>
            <a:endParaRPr kumimoji="1" lang="en-US" altLang="ja-JP" dirty="0"/>
          </a:p>
          <a:p>
            <a:r>
              <a:rPr kumimoji="1" lang="ja-JP" altLang="en-US" dirty="0"/>
              <a:t>趣味は模型製作と野球観戦、推しチームは横浜</a:t>
            </a:r>
            <a:r>
              <a:rPr kumimoji="1" lang="en-US" altLang="ja-JP" dirty="0" err="1"/>
              <a:t>DeNA</a:t>
            </a:r>
            <a:r>
              <a:rPr kumimoji="1" lang="ja-JP" altLang="en-US" dirty="0"/>
              <a:t>ベイスターズです。</a:t>
            </a:r>
            <a:endParaRPr kumimoji="1" lang="en-US" altLang="ja-JP" dirty="0"/>
          </a:p>
          <a:p>
            <a:r>
              <a:rPr kumimoji="1" lang="ja-JP" altLang="en-US" dirty="0"/>
              <a:t>大切なものは今年で８歳になる娘と過ごすかけがえのない時間です。</a:t>
            </a:r>
            <a:endParaRPr kumimoji="1" lang="en-US" altLang="ja-JP" dirty="0"/>
          </a:p>
          <a:p>
            <a:r>
              <a:rPr kumimoji="1" lang="ja-JP" altLang="en-US" dirty="0"/>
              <a:t>学歴については神奈川県内の公立高校を卒業後、日本工学院専門学校蒲田校の声優俳優科を卒業しております。</a:t>
            </a:r>
            <a:endParaRPr kumimoji="1" lang="en-US" altLang="ja-JP" dirty="0"/>
          </a:p>
          <a:p>
            <a:r>
              <a:rPr kumimoji="1" lang="ja-JP" altLang="en-US" dirty="0"/>
              <a:t>前職は</a:t>
            </a:r>
            <a:r>
              <a:rPr kumimoji="1" lang="en-US" altLang="ja-JP" dirty="0"/>
              <a:t>2014</a:t>
            </a:r>
            <a:r>
              <a:rPr kumimoji="1" lang="ja-JP" altLang="en-US" dirty="0"/>
              <a:t>年</a:t>
            </a:r>
            <a:r>
              <a:rPr kumimoji="1" lang="en-US" altLang="ja-JP" dirty="0"/>
              <a:t>9</a:t>
            </a:r>
            <a:r>
              <a:rPr kumimoji="1" lang="ja-JP" altLang="en-US" dirty="0"/>
              <a:t>月から</a:t>
            </a:r>
            <a:r>
              <a:rPr kumimoji="1" lang="en-US" altLang="ja-JP" dirty="0"/>
              <a:t>2019</a:t>
            </a:r>
            <a:r>
              <a:rPr kumimoji="1" lang="ja-JP" altLang="en-US" dirty="0"/>
              <a:t>年</a:t>
            </a:r>
            <a:r>
              <a:rPr kumimoji="1" lang="en-US" altLang="ja-JP" dirty="0"/>
              <a:t>6</a:t>
            </a:r>
            <a:r>
              <a:rPr kumimoji="1" lang="ja-JP" altLang="en-US" dirty="0"/>
              <a:t>月までアニメグッズの中古売買の会社でシステム管理をやっておりました。</a:t>
            </a:r>
            <a:endParaRPr kumimoji="1" lang="en-US" altLang="ja-JP" dirty="0"/>
          </a:p>
          <a:p>
            <a:r>
              <a:rPr kumimoji="1" lang="ja-JP" altLang="en-US" dirty="0"/>
              <a:t>業務内容は機材調達及び管理、業務システムの保守管理、社内ヘルプデスクなど、多岐にわたっていました。</a:t>
            </a:r>
            <a:endParaRPr kumimoji="1" lang="en-US" altLang="ja-JP" dirty="0"/>
          </a:p>
          <a:p>
            <a:r>
              <a:rPr kumimoji="1" lang="ja-JP" altLang="en-US" dirty="0"/>
              <a:t>前職に在籍中にうつ病の診断を受け退職、その後は専業主夫として子育てに専念、</a:t>
            </a:r>
            <a:endParaRPr kumimoji="1" lang="en-US" altLang="ja-JP" dirty="0"/>
          </a:p>
          <a:p>
            <a:r>
              <a:rPr kumimoji="1" lang="ja-JP" altLang="en-US" dirty="0"/>
              <a:t>子供が小学校に入ったのをきっかけに</a:t>
            </a:r>
            <a:r>
              <a:rPr kumimoji="1" lang="en-US" altLang="ja-JP" dirty="0"/>
              <a:t>NDY</a:t>
            </a:r>
            <a:r>
              <a:rPr kumimoji="1" lang="ja-JP" altLang="en-US" dirty="0"/>
              <a:t>にて復職を目指して訓練を開始しました。</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16</a:t>
            </a:fld>
            <a:endParaRPr kumimoji="1" lang="ja-JP" altLang="en-US"/>
          </a:p>
        </p:txBody>
      </p:sp>
    </p:spTree>
    <p:extLst>
      <p:ext uri="{BB962C8B-B14F-4D97-AF65-F5344CB8AC3E}">
        <p14:creationId xmlns:p14="http://schemas.microsoft.com/office/powerpoint/2010/main" val="3732102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今回の発表におけるテーマの概要を説明させていただきます。</a:t>
            </a:r>
            <a:endParaRPr kumimoji="1" lang="en-US" altLang="ja-JP" dirty="0"/>
          </a:p>
          <a:p>
            <a:r>
              <a:rPr kumimoji="1" lang="ja-JP" altLang="en-US" dirty="0"/>
              <a:t>テーマはターボエンジンの残存耐用時間予測についてです。</a:t>
            </a:r>
            <a:endParaRPr kumimoji="1" lang="en-US" altLang="ja-JP" dirty="0"/>
          </a:p>
          <a:p>
            <a:r>
              <a:rPr kumimoji="1" lang="ja-JP" altLang="en-US" dirty="0"/>
              <a:t>航空機のターボエンジンの使用状況から残存耐用時間、</a:t>
            </a:r>
            <a:r>
              <a:rPr kumimoji="1" lang="en-US" altLang="ja-JP" dirty="0"/>
              <a:t>RUL</a:t>
            </a:r>
            <a:r>
              <a:rPr kumimoji="1" lang="ja-JP" altLang="en-US" dirty="0"/>
              <a:t>を予測することが目的です。</a:t>
            </a:r>
            <a:endParaRPr kumimoji="1" lang="en-US" altLang="ja-JP" dirty="0"/>
          </a:p>
          <a:p>
            <a:r>
              <a:rPr kumimoji="1" lang="ja-JP" altLang="en-US" dirty="0"/>
              <a:t>今回はにしかの終了済みコンペを利用させていただきました。</a:t>
            </a:r>
            <a:endParaRPr kumimoji="1" lang="en-US" altLang="ja-JP" dirty="0"/>
          </a:p>
          <a:p>
            <a:endParaRPr kumimoji="1" lang="en-US" altLang="ja-JP" dirty="0"/>
          </a:p>
          <a:p>
            <a:r>
              <a:rPr kumimoji="1" lang="ja-JP" altLang="en-US" dirty="0"/>
              <a:t>テーマ選定の理由は</a:t>
            </a:r>
            <a:r>
              <a:rPr kumimoji="1" lang="en-US" altLang="ja-JP" dirty="0"/>
              <a:t>2</a:t>
            </a:r>
            <a:r>
              <a:rPr kumimoji="1" lang="ja-JP" altLang="en-US" dirty="0"/>
              <a:t>つあります。</a:t>
            </a:r>
            <a:endParaRPr kumimoji="1" lang="en-US" altLang="ja-JP" dirty="0"/>
          </a:p>
          <a:p>
            <a:r>
              <a:rPr kumimoji="1" lang="ja-JP" altLang="en-US" dirty="0"/>
              <a:t>まず航空機ターボエンジンの使用状況に関するデータは非公開のことが多く、このコンペのように実際に触れることができる機会が貴重であると考えたためです。</a:t>
            </a:r>
            <a:endParaRPr kumimoji="1" lang="en-US" altLang="ja-JP" dirty="0"/>
          </a:p>
          <a:p>
            <a:r>
              <a:rPr kumimoji="1" lang="en-US" altLang="ja-JP" dirty="0"/>
              <a:t>2</a:t>
            </a:r>
            <a:r>
              <a:rPr kumimoji="1" lang="ja-JP" altLang="en-US" dirty="0"/>
              <a:t>つ目はターボエンジンの残存耐用時間の予測ができれば、エンジン以外の様々な機器に転用できると考えたためです。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17</a:t>
            </a:fld>
            <a:endParaRPr kumimoji="1" lang="ja-JP" altLang="en-US"/>
          </a:p>
        </p:txBody>
      </p:sp>
    </p:spTree>
    <p:extLst>
      <p:ext uri="{BB962C8B-B14F-4D97-AF65-F5344CB8AC3E}">
        <p14:creationId xmlns:p14="http://schemas.microsoft.com/office/powerpoint/2010/main" val="795080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続いて５，背景です。</a:t>
            </a:r>
            <a:endParaRPr kumimoji="1" lang="en-US" altLang="ja-JP" dirty="0"/>
          </a:p>
          <a:p>
            <a:r>
              <a:rPr kumimoji="1" lang="ja-JP" altLang="en-US" dirty="0"/>
              <a:t>様々な産業において、機器の故障予知や異常検知を機械学習を用いて、より正確に行うための取組が行われています。</a:t>
            </a:r>
            <a:endParaRPr kumimoji="1" lang="en-US" altLang="ja-JP" dirty="0"/>
          </a:p>
          <a:p>
            <a:r>
              <a:rPr kumimoji="1" lang="ja-JP" altLang="en-US" dirty="0"/>
              <a:t>特に多くの乗客の命を預かる航空機においては、可能な限り早く、正確に、故障の余地を検知し、的確なメンテナンスを行うことが必要となっています。</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18</a:t>
            </a:fld>
            <a:endParaRPr kumimoji="1" lang="ja-JP" altLang="en-US"/>
          </a:p>
        </p:txBody>
      </p:sp>
    </p:spTree>
    <p:extLst>
      <p:ext uri="{BB962C8B-B14F-4D97-AF65-F5344CB8AC3E}">
        <p14:creationId xmlns:p14="http://schemas.microsoft.com/office/powerpoint/2010/main" val="3153376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６，結果です。</a:t>
            </a:r>
            <a:endParaRPr kumimoji="1" lang="en-US" altLang="ja-JP" dirty="0"/>
          </a:p>
          <a:p>
            <a:r>
              <a:rPr kumimoji="1" lang="ja-JP" altLang="en-US" dirty="0"/>
              <a:t>私が構築したモデルにおける予測精度は</a:t>
            </a:r>
            <a:r>
              <a:rPr kumimoji="1" lang="en-US" altLang="ja-JP" dirty="0"/>
              <a:t>RMSE</a:t>
            </a:r>
            <a:r>
              <a:rPr kumimoji="1" lang="ja-JP" altLang="en-US" dirty="0"/>
              <a:t>換算で</a:t>
            </a:r>
            <a:r>
              <a:rPr kumimoji="1" lang="en-US" altLang="ja-JP" dirty="0"/>
              <a:t>23</a:t>
            </a:r>
            <a:r>
              <a:rPr kumimoji="1" lang="ja-JP" altLang="en-US" dirty="0"/>
              <a:t>程度となりました。</a:t>
            </a:r>
            <a:endParaRPr kumimoji="1" lang="en-US" altLang="ja-JP" dirty="0"/>
          </a:p>
          <a:p>
            <a:r>
              <a:rPr kumimoji="1" lang="ja-JP" altLang="en-US" dirty="0"/>
              <a:t>これはエンジンの残りの使用回数が０回から</a:t>
            </a:r>
            <a:r>
              <a:rPr kumimoji="1" lang="en-US" altLang="ja-JP" dirty="0"/>
              <a:t>100</a:t>
            </a:r>
            <a:r>
              <a:rPr kumimoji="1" lang="ja-JP" altLang="en-US" dirty="0"/>
              <a:t>回以上の範囲にある前提で、誤差範囲が</a:t>
            </a:r>
            <a:r>
              <a:rPr kumimoji="1" lang="en-US" altLang="ja-JP" dirty="0"/>
              <a:t>23</a:t>
            </a:r>
            <a:r>
              <a:rPr kumimoji="1" lang="ja-JP" altLang="en-US" dirty="0"/>
              <a:t>回程度の精度で予測ができる、と解釈できます。</a:t>
            </a:r>
            <a:endParaRPr kumimoji="1" lang="en-US" altLang="ja-JP" dirty="0"/>
          </a:p>
          <a:p>
            <a:r>
              <a:rPr kumimoji="1" lang="ja-JP" altLang="en-US" dirty="0"/>
              <a:t>これでは必要十分な精度とは言い難いですが、</a:t>
            </a:r>
            <a:r>
              <a:rPr kumimoji="1" lang="en-US" altLang="ja-JP" dirty="0" err="1"/>
              <a:t>Nishika</a:t>
            </a:r>
            <a:r>
              <a:rPr kumimoji="1" lang="ja-JP" altLang="en-US" dirty="0"/>
              <a:t>のランキングとしては参加</a:t>
            </a:r>
            <a:r>
              <a:rPr kumimoji="1" lang="en-US" altLang="ja-JP" dirty="0"/>
              <a:t>348</a:t>
            </a:r>
            <a:r>
              <a:rPr kumimoji="1" lang="ja-JP" altLang="en-US" dirty="0"/>
              <a:t>人中</a:t>
            </a:r>
            <a:r>
              <a:rPr kumimoji="1" lang="en-US" altLang="ja-JP" dirty="0"/>
              <a:t>51</a:t>
            </a:r>
            <a:r>
              <a:rPr kumimoji="1" lang="ja-JP" altLang="en-US" dirty="0"/>
              <a:t>位となりました。</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19</a:t>
            </a:fld>
            <a:endParaRPr kumimoji="1" lang="ja-JP" altLang="en-US"/>
          </a:p>
        </p:txBody>
      </p:sp>
    </p:spTree>
    <p:extLst>
      <p:ext uri="{BB962C8B-B14F-4D97-AF65-F5344CB8AC3E}">
        <p14:creationId xmlns:p14="http://schemas.microsoft.com/office/powerpoint/2010/main" val="2201073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７，作業内容に関して説明させていただきます。</a:t>
            </a:r>
            <a:endParaRPr kumimoji="1" lang="en-US" altLang="ja-JP" dirty="0"/>
          </a:p>
          <a:p>
            <a:r>
              <a:rPr kumimoji="1" lang="ja-JP" altLang="en-US" dirty="0"/>
              <a:t>この項目は７の１から</a:t>
            </a:r>
            <a:r>
              <a:rPr kumimoji="1" lang="en-US" altLang="ja-JP" dirty="0"/>
              <a:t>7</a:t>
            </a:r>
            <a:r>
              <a:rPr kumimoji="1" lang="ja-JP" altLang="en-US" dirty="0"/>
              <a:t>の</a:t>
            </a:r>
            <a:r>
              <a:rPr kumimoji="1" lang="en-US" altLang="ja-JP" dirty="0"/>
              <a:t>3</a:t>
            </a:r>
            <a:r>
              <a:rPr kumimoji="1" lang="ja-JP" altLang="en-US" dirty="0"/>
              <a:t>まで分かれています。</a:t>
            </a:r>
            <a:endParaRPr kumimoji="1" lang="en-US" altLang="ja-JP" dirty="0"/>
          </a:p>
          <a:p>
            <a:endParaRPr kumimoji="1" lang="en-US" altLang="ja-JP" dirty="0"/>
          </a:p>
          <a:p>
            <a:r>
              <a:rPr kumimoji="1" lang="ja-JP" altLang="en-US" dirty="0"/>
              <a:t>７の１、データセットの概要に関してですが、</a:t>
            </a:r>
            <a:endParaRPr kumimoji="1" lang="en-US" altLang="ja-JP" dirty="0"/>
          </a:p>
          <a:p>
            <a:r>
              <a:rPr kumimoji="1" lang="ja-JP" altLang="en-US" dirty="0"/>
              <a:t>本コンペにおいてデータセットは</a:t>
            </a:r>
            <a:r>
              <a:rPr kumimoji="1" lang="en-US" altLang="ja-JP" dirty="0"/>
              <a:t>2</a:t>
            </a:r>
            <a:r>
              <a:rPr kumimoji="1" lang="ja-JP" altLang="en-US" dirty="0"/>
              <a:t>種類用意されていました。</a:t>
            </a:r>
            <a:endParaRPr kumimoji="1" lang="en-US" altLang="ja-JP" dirty="0"/>
          </a:p>
          <a:p>
            <a:r>
              <a:rPr kumimoji="1" lang="en-US" altLang="ja-JP" dirty="0"/>
              <a:t>1</a:t>
            </a:r>
            <a:r>
              <a:rPr kumimoji="1" lang="ja-JP" altLang="en-US" dirty="0"/>
              <a:t>つは元データ。エンジンの使用状況に関する生の状態のデータであり、カラム数</a:t>
            </a:r>
            <a:r>
              <a:rPr kumimoji="1" lang="en-US" altLang="ja-JP" dirty="0"/>
              <a:t>46</a:t>
            </a:r>
            <a:r>
              <a:rPr kumimoji="1" lang="ja-JP" altLang="en-US" dirty="0"/>
              <a:t>、データ件数は数百万件に及びました。</a:t>
            </a:r>
            <a:endParaRPr kumimoji="1" lang="en-US" altLang="ja-JP" dirty="0"/>
          </a:p>
          <a:p>
            <a:r>
              <a:rPr kumimoji="1" lang="ja-JP" altLang="en-US" dirty="0"/>
              <a:t>もう一つは元データをいくつかの統計値にまとめた統計データです。</a:t>
            </a:r>
            <a:endParaRPr kumimoji="1" lang="en-US" altLang="ja-JP" dirty="0"/>
          </a:p>
          <a:p>
            <a:r>
              <a:rPr kumimoji="1" lang="ja-JP" altLang="en-US" dirty="0"/>
              <a:t>こちらはまとめられているためカラム数が</a:t>
            </a:r>
            <a:r>
              <a:rPr kumimoji="1" lang="en-US" altLang="ja-JP" dirty="0"/>
              <a:t>284</a:t>
            </a:r>
            <a:r>
              <a:rPr kumimoji="1" lang="ja-JP" altLang="en-US" dirty="0"/>
              <a:t>、データ件数は</a:t>
            </a:r>
            <a:r>
              <a:rPr kumimoji="1" lang="en-US" altLang="ja-JP" dirty="0"/>
              <a:t>5</a:t>
            </a:r>
            <a:r>
              <a:rPr kumimoji="1" lang="ja-JP" altLang="en-US" dirty="0"/>
              <a:t>千件程度でした</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20</a:t>
            </a:fld>
            <a:endParaRPr kumimoji="1" lang="ja-JP" altLang="en-US"/>
          </a:p>
        </p:txBody>
      </p:sp>
    </p:spTree>
    <p:extLst>
      <p:ext uri="{BB962C8B-B14F-4D97-AF65-F5344CB8AC3E}">
        <p14:creationId xmlns:p14="http://schemas.microsoft.com/office/powerpoint/2010/main" val="1661980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７の２，データセットについて補足をさせていただきます。</a:t>
            </a:r>
            <a:endParaRPr kumimoji="1" lang="en-US" altLang="ja-JP" dirty="0"/>
          </a:p>
          <a:p>
            <a:r>
              <a:rPr kumimoji="1" lang="ja-JP" altLang="en-US" dirty="0"/>
              <a:t>元データも統計データも学習用評価用の</a:t>
            </a:r>
            <a:r>
              <a:rPr kumimoji="1" lang="en-US" altLang="ja-JP" dirty="0"/>
              <a:t>2</a:t>
            </a:r>
            <a:r>
              <a:rPr kumimoji="1" lang="ja-JP" altLang="en-US" dirty="0"/>
              <a:t>種類用意されていました。</a:t>
            </a:r>
            <a:endParaRPr kumimoji="1" lang="en-US" altLang="ja-JP" dirty="0"/>
          </a:p>
          <a:p>
            <a:r>
              <a:rPr kumimoji="1" lang="ja-JP" altLang="en-US" dirty="0"/>
              <a:t>これらのデータはエンジンの名称ごとに</a:t>
            </a:r>
            <a:r>
              <a:rPr kumimoji="1" lang="en-US" altLang="ja-JP" dirty="0"/>
              <a:t>file</a:t>
            </a:r>
            <a:r>
              <a:rPr kumimoji="1" lang="ja-JP" altLang="en-US" dirty="0"/>
              <a:t>が分かれており、</a:t>
            </a:r>
            <a:endParaRPr kumimoji="1" lang="en-US" altLang="ja-JP" dirty="0"/>
          </a:p>
          <a:p>
            <a:r>
              <a:rPr kumimoji="1" lang="ja-JP" altLang="en-US" dirty="0"/>
              <a:t>ファイル内ではエンジンのユニットとその使用回数である</a:t>
            </a:r>
            <a:r>
              <a:rPr kumimoji="1" lang="en-US" altLang="ja-JP" dirty="0"/>
              <a:t>cycle</a:t>
            </a:r>
            <a:r>
              <a:rPr kumimoji="1" lang="ja-JP" altLang="en-US" dirty="0"/>
              <a:t>のカラムが存在していました。</a:t>
            </a:r>
            <a:endParaRPr kumimoji="1" lang="en-US" altLang="ja-JP" dirty="0"/>
          </a:p>
          <a:p>
            <a:endParaRPr kumimoji="1" lang="en-US" altLang="ja-JP" dirty="0"/>
          </a:p>
          <a:p>
            <a:r>
              <a:rPr kumimoji="1" lang="ja-JP" altLang="en-US" dirty="0"/>
              <a:t>目的変数となる</a:t>
            </a:r>
            <a:r>
              <a:rPr kumimoji="1" lang="en-US" altLang="ja-JP" dirty="0"/>
              <a:t>Y</a:t>
            </a:r>
            <a:r>
              <a:rPr kumimoji="1" lang="ja-JP" altLang="en-US" dirty="0"/>
              <a:t>は残存耐用時間、</a:t>
            </a:r>
            <a:r>
              <a:rPr kumimoji="1" lang="en-US" altLang="ja-JP" dirty="0"/>
              <a:t>RUL</a:t>
            </a:r>
            <a:r>
              <a:rPr kumimoji="1" lang="ja-JP" altLang="en-US" dirty="0"/>
              <a:t>です。最終的にはエンジン名とユニット名の組み合わせに対し、残存耐用時間を予測する必要がありました。</a:t>
            </a:r>
            <a:endParaRPr kumimoji="1" lang="en-US" altLang="ja-JP" dirty="0"/>
          </a:p>
          <a:p>
            <a:endParaRPr kumimoji="1" lang="en-US" altLang="ja-JP" dirty="0"/>
          </a:p>
          <a:p>
            <a:r>
              <a:rPr kumimoji="1" lang="ja-JP" altLang="en-US" dirty="0"/>
              <a:t>元データの方が様々な分析に挑戦できそうでしたが、データサイズが大きすぎるため自分の環境では満足いく分析を行うことができず、</a:t>
            </a:r>
            <a:endParaRPr kumimoji="1" lang="en-US" altLang="ja-JP" dirty="0"/>
          </a:p>
          <a:p>
            <a:r>
              <a:rPr kumimoji="1" lang="ja-JP" altLang="en-US" dirty="0"/>
              <a:t>やむを得ず統計データを使用することにしました。</a:t>
            </a:r>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21</a:t>
            </a:fld>
            <a:endParaRPr kumimoji="1" lang="ja-JP" altLang="en-US"/>
          </a:p>
        </p:txBody>
      </p:sp>
    </p:spTree>
    <p:extLst>
      <p:ext uri="{BB962C8B-B14F-4D97-AF65-F5344CB8AC3E}">
        <p14:creationId xmlns:p14="http://schemas.microsoft.com/office/powerpoint/2010/main" val="936133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７の３，最終的な作業フローです。</a:t>
            </a:r>
            <a:endParaRPr kumimoji="1" lang="en-US" altLang="ja-JP" dirty="0"/>
          </a:p>
          <a:p>
            <a:pPr marL="0" indent="0">
              <a:buNone/>
            </a:pPr>
            <a:r>
              <a:rPr kumimoji="1" lang="ja-JP" altLang="en-US" sz="1200" dirty="0">
                <a:latin typeface="+mn-ea"/>
              </a:rPr>
              <a:t>①同一の値を持つ特徴量が多く発見されたため、削除。</a:t>
            </a:r>
          </a:p>
          <a:p>
            <a:pPr marL="0" indent="0">
              <a:buNone/>
            </a:pPr>
            <a:r>
              <a:rPr kumimoji="1" lang="ja-JP" altLang="en-US" sz="1200" dirty="0">
                <a:latin typeface="+mn-ea"/>
              </a:rPr>
              <a:t>②学習データと評価データで使用回数の範囲が異なっていたため、範囲を統一。</a:t>
            </a:r>
          </a:p>
          <a:p>
            <a:pPr marL="0" indent="0">
              <a:buNone/>
            </a:pPr>
            <a:r>
              <a:rPr kumimoji="1" lang="ja-JP" altLang="en-US" sz="1200" dirty="0">
                <a:latin typeface="+mn-ea"/>
              </a:rPr>
              <a:t>③ランダムフォレストと</a:t>
            </a:r>
            <a:r>
              <a:rPr kumimoji="1" lang="en-US" altLang="ja-JP" sz="1200" dirty="0" err="1">
                <a:latin typeface="+mn-ea"/>
              </a:rPr>
              <a:t>Lightgbm</a:t>
            </a:r>
            <a:r>
              <a:rPr kumimoji="1" lang="ja-JP" altLang="en-US" sz="1200" dirty="0">
                <a:latin typeface="+mn-ea"/>
              </a:rPr>
              <a:t>で特徴量重要度を調査し、特徴量を削減。</a:t>
            </a:r>
          </a:p>
          <a:p>
            <a:pPr marL="0" indent="0">
              <a:buNone/>
            </a:pPr>
            <a:r>
              <a:rPr kumimoji="1" lang="ja-JP" altLang="en-US" sz="1200" dirty="0">
                <a:latin typeface="+mn-ea"/>
              </a:rPr>
              <a:t>④重要な特徴量を使用し、</a:t>
            </a:r>
            <a:r>
              <a:rPr kumimoji="1" lang="en-US" altLang="ja-JP" sz="1200" dirty="0" err="1">
                <a:latin typeface="+mn-ea"/>
              </a:rPr>
              <a:t>Lightgbm</a:t>
            </a:r>
            <a:r>
              <a:rPr kumimoji="1" lang="ja-JP" altLang="en-US" sz="1200" dirty="0">
                <a:latin typeface="+mn-ea"/>
              </a:rPr>
              <a:t>をメタモデルとしたアンサンブル学習を実施。アンサンブル対象として</a:t>
            </a:r>
            <a:r>
              <a:rPr kumimoji="1" lang="en-US" altLang="ja-JP" sz="1200" dirty="0" err="1">
                <a:latin typeface="+mn-ea"/>
              </a:rPr>
              <a:t>CatBoost</a:t>
            </a:r>
            <a:r>
              <a:rPr kumimoji="1" lang="ja-JP" altLang="en-US" sz="1200" dirty="0">
                <a:latin typeface="+mn-ea"/>
              </a:rPr>
              <a:t>、ランダムフォレスト、</a:t>
            </a:r>
            <a:r>
              <a:rPr kumimoji="1" lang="en-US" altLang="ja-JP" sz="1200" dirty="0" err="1">
                <a:latin typeface="+mn-ea"/>
              </a:rPr>
              <a:t>XGBoost</a:t>
            </a:r>
            <a:r>
              <a:rPr kumimoji="1" lang="ja-JP" altLang="en-US" sz="1200" dirty="0">
                <a:latin typeface="+mn-ea"/>
              </a:rPr>
              <a:t>を採用。</a:t>
            </a:r>
          </a:p>
          <a:p>
            <a:pPr marL="0" indent="0">
              <a:buNone/>
            </a:pPr>
            <a:r>
              <a:rPr kumimoji="1" lang="ja-JP" altLang="en-US" sz="1200" dirty="0">
                <a:latin typeface="+mn-ea"/>
              </a:rPr>
              <a:t>⑤予測結果を提出用テンプレートに合わせ整形。予測結果をまとめるときは中央値を採用。</a:t>
            </a:r>
            <a:endParaRPr kumimoji="1" lang="en-US" altLang="ja-JP" sz="1200" dirty="0">
              <a:latin typeface="+mn-ea"/>
            </a:endParaRPr>
          </a:p>
          <a:p>
            <a:pPr marL="0" indent="0">
              <a:buNone/>
            </a:pP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22</a:t>
            </a:fld>
            <a:endParaRPr kumimoji="1" lang="ja-JP" altLang="en-US"/>
          </a:p>
        </p:txBody>
      </p:sp>
    </p:spTree>
    <p:extLst>
      <p:ext uri="{BB962C8B-B14F-4D97-AF65-F5344CB8AC3E}">
        <p14:creationId xmlns:p14="http://schemas.microsoft.com/office/powerpoint/2010/main" val="37368347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８，工夫点、こちらは</a:t>
            </a:r>
            <a:r>
              <a:rPr kumimoji="1" lang="en-US" altLang="ja-JP" dirty="0"/>
              <a:t>2</a:t>
            </a:r>
            <a:r>
              <a:rPr kumimoji="1" lang="ja-JP" altLang="en-US" dirty="0"/>
              <a:t>点あります。</a:t>
            </a:r>
            <a:endParaRPr kumimoji="1" lang="en-US" altLang="ja-JP" dirty="0"/>
          </a:p>
          <a:p>
            <a:r>
              <a:rPr kumimoji="1" lang="ja-JP" altLang="en-US" dirty="0"/>
              <a:t>一つ目はユニットの使用回数を示す</a:t>
            </a:r>
            <a:r>
              <a:rPr kumimoji="1" lang="en-US" altLang="ja-JP" dirty="0"/>
              <a:t>cycle</a:t>
            </a:r>
            <a:r>
              <a:rPr kumimoji="1" lang="ja-JP" altLang="en-US" dirty="0"/>
              <a:t>の範囲の調整です。</a:t>
            </a:r>
            <a:endParaRPr kumimoji="1" lang="en-US" altLang="ja-JP" dirty="0"/>
          </a:p>
          <a:p>
            <a:r>
              <a:rPr kumimoji="1" lang="ja-JP" altLang="en-US" dirty="0"/>
              <a:t>学習データにおいてサイクルは</a:t>
            </a:r>
            <a:r>
              <a:rPr kumimoji="1" lang="en-US" altLang="ja-JP" dirty="0"/>
              <a:t>0</a:t>
            </a:r>
            <a:r>
              <a:rPr kumimoji="1" lang="ja-JP" altLang="en-US" dirty="0"/>
              <a:t>回から</a:t>
            </a:r>
            <a:r>
              <a:rPr kumimoji="1" lang="en-US" altLang="ja-JP" dirty="0"/>
              <a:t>100</a:t>
            </a:r>
            <a:r>
              <a:rPr kumimoji="1" lang="ja-JP" altLang="en-US" dirty="0"/>
              <a:t>回の範囲、評価データでは</a:t>
            </a:r>
            <a:r>
              <a:rPr kumimoji="1" lang="en-US" altLang="ja-JP" dirty="0"/>
              <a:t>0</a:t>
            </a:r>
            <a:r>
              <a:rPr kumimoji="1" lang="ja-JP" altLang="en-US" dirty="0"/>
              <a:t>回から</a:t>
            </a:r>
            <a:r>
              <a:rPr kumimoji="1" lang="en-US" altLang="ja-JP" dirty="0"/>
              <a:t>40</a:t>
            </a:r>
            <a:r>
              <a:rPr kumimoji="1" lang="ja-JP" altLang="en-US" dirty="0"/>
              <a:t>回の範囲の値を持っていました。</a:t>
            </a:r>
            <a:endParaRPr kumimoji="1" lang="en-US" altLang="ja-JP" dirty="0"/>
          </a:p>
          <a:p>
            <a:r>
              <a:rPr kumimoji="1" lang="ja-JP" altLang="en-US" dirty="0"/>
              <a:t>このことから学習データに存在する</a:t>
            </a:r>
            <a:r>
              <a:rPr kumimoji="1" lang="en-US" altLang="ja-JP" dirty="0"/>
              <a:t>cycle41</a:t>
            </a:r>
            <a:r>
              <a:rPr kumimoji="1" lang="ja-JP" altLang="en-US" dirty="0"/>
              <a:t>回目以降のデータがノイズになる可能性があると考え、範囲の調整を行いました。</a:t>
            </a:r>
            <a:endParaRPr kumimoji="1" lang="en-US" altLang="ja-JP" dirty="0"/>
          </a:p>
          <a:p>
            <a:endParaRPr kumimoji="1" lang="en-US" altLang="ja-JP" dirty="0"/>
          </a:p>
          <a:p>
            <a:r>
              <a:rPr kumimoji="1" lang="ja-JP" altLang="en-US" dirty="0"/>
              <a:t>二つ目はサイクルと目的変数</a:t>
            </a:r>
            <a:r>
              <a:rPr kumimoji="1" lang="en-US" altLang="ja-JP" dirty="0"/>
              <a:t>Y</a:t>
            </a:r>
            <a:r>
              <a:rPr kumimoji="1" lang="ja-JP" altLang="en-US" dirty="0"/>
              <a:t>の強い負の相関についてです。</a:t>
            </a:r>
            <a:endParaRPr kumimoji="1" lang="en-US" altLang="ja-JP" dirty="0"/>
          </a:p>
          <a:p>
            <a:r>
              <a:rPr kumimoji="1" lang="ja-JP" altLang="en-US" dirty="0"/>
              <a:t>使用した回数を示す</a:t>
            </a:r>
            <a:r>
              <a:rPr kumimoji="1" lang="en-US" altLang="ja-JP" dirty="0"/>
              <a:t>cycle</a:t>
            </a:r>
            <a:r>
              <a:rPr kumimoji="1" lang="ja-JP" altLang="en-US" dirty="0"/>
              <a:t>と、残りの使用可能回数を示す目的変数</a:t>
            </a:r>
            <a:r>
              <a:rPr kumimoji="1" lang="en-US" altLang="ja-JP" dirty="0"/>
              <a:t>Y</a:t>
            </a:r>
            <a:r>
              <a:rPr kumimoji="1" lang="ja-JP" altLang="en-US" dirty="0"/>
              <a:t>、つまり残存耐用時間には強い負の相関がありました。</a:t>
            </a:r>
            <a:endParaRPr kumimoji="1" lang="en-US" altLang="ja-JP" dirty="0"/>
          </a:p>
          <a:p>
            <a:r>
              <a:rPr kumimoji="1" lang="ja-JP" altLang="en-US" dirty="0"/>
              <a:t>そのためサイクルを基準とした時間経過を示すいくつかの特徴量を追加し、学習結果に影響があるか調査を行いました。</a:t>
            </a:r>
            <a:endParaRPr kumimoji="1" lang="en-US" altLang="ja-JP" dirty="0"/>
          </a:p>
          <a:p>
            <a:r>
              <a:rPr kumimoji="1" lang="ja-JP" altLang="en-US" dirty="0"/>
              <a:t>この時追加した特徴量ついては予測結果にあまり貢献しなかったため、最終的な実施フローでは除外しました。</a:t>
            </a:r>
            <a:endParaRPr kumimoji="1" lang="en-US" altLang="ja-JP" dirty="0"/>
          </a:p>
          <a:p>
            <a:endParaRPr kumimoji="1" lang="en-US" altLang="ja-JP" dirty="0"/>
          </a:p>
          <a:p>
            <a:r>
              <a:rPr kumimoji="1" lang="ja-JP" altLang="en-US" dirty="0"/>
              <a:t>三つめは過学習の対策です。</a:t>
            </a:r>
            <a:endParaRPr kumimoji="1" lang="en-US" altLang="ja-JP" dirty="0"/>
          </a:p>
          <a:p>
            <a:r>
              <a:rPr kumimoji="1" lang="ja-JP" altLang="en-US" dirty="0"/>
              <a:t>単体での学習モデルでは過学習となる傾向が強かったため、汎化性能の確保のためアンサンブル学習を採用しました。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23</a:t>
            </a:fld>
            <a:endParaRPr kumimoji="1" lang="ja-JP" altLang="en-US"/>
          </a:p>
        </p:txBody>
      </p:sp>
    </p:spTree>
    <p:extLst>
      <p:ext uri="{BB962C8B-B14F-4D97-AF65-F5344CB8AC3E}">
        <p14:creationId xmlns:p14="http://schemas.microsoft.com/office/powerpoint/2010/main" val="3767057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９，苦労点です。こちらも</a:t>
            </a:r>
            <a:r>
              <a:rPr kumimoji="1" lang="en-US" altLang="ja-JP" dirty="0"/>
              <a:t>2</a:t>
            </a:r>
            <a:r>
              <a:rPr kumimoji="1" lang="ja-JP" altLang="en-US" dirty="0"/>
              <a:t>点あります。</a:t>
            </a:r>
            <a:endParaRPr kumimoji="1" lang="en-US" altLang="ja-JP" dirty="0"/>
          </a:p>
          <a:p>
            <a:r>
              <a:rPr kumimoji="1" lang="ja-JP" altLang="en-US" dirty="0"/>
              <a:t>一つ目はドメイン知識の不足です。</a:t>
            </a:r>
            <a:endParaRPr kumimoji="1" lang="en-US" altLang="ja-JP" dirty="0"/>
          </a:p>
          <a:p>
            <a:r>
              <a:rPr kumimoji="1" lang="ja-JP" altLang="en-US" dirty="0"/>
              <a:t>私にはターボエンジンの構造に関する知識が全くなく、前提として必要になるドメイン知識の習得に時間がかかってしまいました。</a:t>
            </a:r>
            <a:endParaRPr kumimoji="1" lang="en-US" altLang="ja-JP" dirty="0"/>
          </a:p>
          <a:p>
            <a:r>
              <a:rPr kumimoji="1" lang="ja-JP" altLang="en-US" dirty="0"/>
              <a:t>実際に機械学習モデルを使用し特徴量重要度や目的変数に対する相関が高い特徴量などを中心に、ターボエンジンの用語の学習を行いました。</a:t>
            </a:r>
            <a:endParaRPr kumimoji="1" lang="en-US" altLang="ja-JP" dirty="0"/>
          </a:p>
          <a:p>
            <a:r>
              <a:rPr kumimoji="1" lang="ja-JP" altLang="en-US" dirty="0"/>
              <a:t>そうした中で理解できたのは、</a:t>
            </a:r>
            <a:endParaRPr kumimoji="1" lang="en-US" altLang="ja-JP" dirty="0"/>
          </a:p>
          <a:p>
            <a:r>
              <a:rPr kumimoji="1" lang="ja-JP" altLang="en-US" dirty="0"/>
              <a:t>低圧・高圧タービンというターボエンジンの重要なユニットに関する調整値が目的変数に対して重要度が高い</a:t>
            </a:r>
            <a:endParaRPr kumimoji="1" lang="en-US" altLang="ja-JP" dirty="0"/>
          </a:p>
          <a:p>
            <a:r>
              <a:rPr kumimoji="1" lang="ja-JP" altLang="en-US" dirty="0"/>
              <a:t>高度、速度、飛行時間といった使用状況が残存耐用時間に大きく影響する、などといった要素です。</a:t>
            </a:r>
            <a:endParaRPr kumimoji="1" lang="en-US" altLang="ja-JP" dirty="0"/>
          </a:p>
          <a:p>
            <a:endParaRPr kumimoji="1" lang="en-US" altLang="ja-JP" dirty="0"/>
          </a:p>
          <a:p>
            <a:r>
              <a:rPr kumimoji="1" lang="ja-JP" altLang="en-US" dirty="0"/>
              <a:t>もう一つはデータ理解の不足です。</a:t>
            </a:r>
            <a:endParaRPr kumimoji="1" lang="en-US" altLang="ja-JP" dirty="0"/>
          </a:p>
          <a:p>
            <a:r>
              <a:rPr kumimoji="1" lang="ja-JP" altLang="en-US" dirty="0"/>
              <a:t>ドメイン知識が不足していたことも相まって、各特徴量を精査しないまま分析作業を行ってしまいました。</a:t>
            </a:r>
            <a:endParaRPr kumimoji="1" lang="en-US" altLang="ja-JP" dirty="0"/>
          </a:p>
          <a:p>
            <a:r>
              <a:rPr kumimoji="1" lang="ja-JP" altLang="en-US" dirty="0"/>
              <a:t>その結果、一部の調子値を統計した特徴量で最小値中央値最大値などの統計量がすべて同じ値を持っていたり、</a:t>
            </a:r>
            <a:endParaRPr kumimoji="1" lang="en-US" altLang="ja-JP" dirty="0"/>
          </a:p>
          <a:p>
            <a:r>
              <a:rPr kumimoji="1" lang="ja-JP" altLang="en-US" dirty="0"/>
              <a:t>すべての値が</a:t>
            </a:r>
            <a:r>
              <a:rPr kumimoji="1" lang="en-US" altLang="ja-JP" dirty="0"/>
              <a:t>0</a:t>
            </a:r>
            <a:r>
              <a:rPr kumimoji="1" lang="ja-JP" altLang="en-US" dirty="0"/>
              <a:t>しかない特徴量を発見するのが遅れてしまったりなど、何度も手戻りが発生してしまいました。</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24</a:t>
            </a:fld>
            <a:endParaRPr kumimoji="1" lang="ja-JP" altLang="en-US"/>
          </a:p>
        </p:txBody>
      </p:sp>
    </p:spTree>
    <p:extLst>
      <p:ext uri="{BB962C8B-B14F-4D97-AF65-F5344CB8AC3E}">
        <p14:creationId xmlns:p14="http://schemas.microsoft.com/office/powerpoint/2010/main" val="1632985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次は</a:t>
            </a:r>
            <a:r>
              <a:rPr kumimoji="1" lang="en-US" altLang="ja-JP" dirty="0"/>
              <a:t>10</a:t>
            </a:r>
            <a:r>
              <a:rPr kumimoji="1" lang="ja-JP" altLang="en-US" dirty="0"/>
              <a:t>番、今後の展望に関するアイディアです。</a:t>
            </a:r>
            <a:endParaRPr kumimoji="1" lang="en-US" altLang="ja-JP" dirty="0"/>
          </a:p>
          <a:p>
            <a:r>
              <a:rPr kumimoji="1" lang="ja-JP" altLang="en-US" dirty="0"/>
              <a:t>まずは</a:t>
            </a:r>
            <a:r>
              <a:rPr kumimoji="1" lang="en-US" altLang="ja-JP" dirty="0"/>
              <a:t>1</a:t>
            </a:r>
            <a:r>
              <a:rPr kumimoji="1" lang="ja-JP" altLang="en-US" dirty="0"/>
              <a:t>つ目、機器の損耗状況のモニタリングとメンテナンス部門との共有です。</a:t>
            </a:r>
            <a:endParaRPr kumimoji="1" lang="en-US" altLang="ja-JP" dirty="0"/>
          </a:p>
          <a:p>
            <a:r>
              <a:rPr kumimoji="1" lang="ja-JP" altLang="en-US" dirty="0"/>
              <a:t>エンジンの使用状況や環境に関するデータから残存耐用時間を予測することは可能です。</a:t>
            </a:r>
            <a:endParaRPr kumimoji="1" lang="en-US" altLang="ja-JP" dirty="0"/>
          </a:p>
          <a:p>
            <a:r>
              <a:rPr kumimoji="1" lang="ja-JP" altLang="en-US" dirty="0"/>
              <a:t>それらのデータを随時記録・共有をしメンテナンス部門と共有することで</a:t>
            </a:r>
            <a:endParaRPr kumimoji="1" lang="en-US" altLang="ja-JP" dirty="0"/>
          </a:p>
          <a:p>
            <a:r>
              <a:rPr kumimoji="1" lang="ja-JP" altLang="en-US" dirty="0"/>
              <a:t>機体の稼働を止めることなく、より効率的な修理・交換が可能になります。</a:t>
            </a:r>
            <a:endParaRPr kumimoji="1" lang="en-US" altLang="ja-JP" dirty="0"/>
          </a:p>
          <a:p>
            <a:endParaRPr kumimoji="1" lang="en-US" altLang="ja-JP" dirty="0"/>
          </a:p>
          <a:p>
            <a:r>
              <a:rPr kumimoji="1" lang="en-US" altLang="ja-JP" dirty="0"/>
              <a:t>2</a:t>
            </a:r>
            <a:r>
              <a:rPr kumimoji="1" lang="ja-JP" altLang="en-US" dirty="0"/>
              <a:t>つ目、エンジン以外の機器への応用です。</a:t>
            </a:r>
            <a:endParaRPr kumimoji="1" lang="en-US" altLang="ja-JP" dirty="0"/>
          </a:p>
          <a:p>
            <a:r>
              <a:rPr kumimoji="1" lang="ja-JP" altLang="en-US" dirty="0"/>
              <a:t>ターボエンジン同様にほかの機器でも必要なデータをモニタリングし、先手を打って必要なメンテナンスを実施することができるようなります。</a:t>
            </a:r>
            <a:endParaRPr kumimoji="1" lang="en-US" altLang="ja-JP" dirty="0"/>
          </a:p>
          <a:p>
            <a:r>
              <a:rPr kumimoji="1" lang="ja-JP" altLang="en-US" dirty="0"/>
              <a:t>効率的なメンテナンスを実施することで、機器の停止時間を削減し、工場の生産ラインや物流網などの稼働率を上昇させることが可能です。</a:t>
            </a:r>
            <a:endParaRPr kumimoji="1" lang="en-US" altLang="ja-JP" dirty="0"/>
          </a:p>
          <a:p>
            <a:endParaRPr kumimoji="1" lang="en-US" altLang="ja-JP" dirty="0"/>
          </a:p>
          <a:p>
            <a:r>
              <a:rPr kumimoji="1" lang="en-US" altLang="ja-JP" dirty="0"/>
              <a:t>3</a:t>
            </a:r>
            <a:r>
              <a:rPr kumimoji="1" lang="ja-JP" altLang="en-US" dirty="0"/>
              <a:t>つ目はよりマクロな機器への展開です。</a:t>
            </a:r>
            <a:endParaRPr kumimoji="1" lang="en-US" altLang="ja-JP" dirty="0"/>
          </a:p>
          <a:p>
            <a:r>
              <a:rPr kumimoji="1" lang="ja-JP" altLang="en-US" dirty="0"/>
              <a:t>個人が家庭内で使用する家電などの機器においても、使用状況をメーカーがモニタリングし、顧客の手を煩わせることなくメンテナンスの案内を行うことができるようになります。</a:t>
            </a:r>
            <a:endParaRPr kumimoji="1" lang="en-US" altLang="ja-JP" dirty="0"/>
          </a:p>
          <a:p>
            <a:r>
              <a:rPr kumimoji="1" lang="ja-JP" altLang="en-US" dirty="0"/>
              <a:t>こうすることで修理や交換といったビジネスチャンスを広げることが期待できます。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25</a:t>
            </a:fld>
            <a:endParaRPr kumimoji="1" lang="ja-JP" altLang="en-US"/>
          </a:p>
        </p:txBody>
      </p:sp>
    </p:spTree>
    <p:extLst>
      <p:ext uri="{BB962C8B-B14F-4D97-AF65-F5344CB8AC3E}">
        <p14:creationId xmlns:p14="http://schemas.microsoft.com/office/powerpoint/2010/main" val="2150822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ゆっくりよめ！</a:t>
            </a:r>
            <a:r>
              <a:rPr kumimoji="1" lang="en-US" altLang="ja-JP" dirty="0"/>
              <a:t>※</a:t>
            </a:r>
          </a:p>
          <a:p>
            <a:endParaRPr kumimoji="1" lang="en-US" altLang="ja-JP" dirty="0"/>
          </a:p>
          <a:p>
            <a:r>
              <a:rPr kumimoji="1" lang="ja-JP" altLang="en-US" dirty="0"/>
              <a:t>続いては１０，データ分析における自分の今後の課題です</a:t>
            </a:r>
            <a:endParaRPr kumimoji="1" lang="en-US" altLang="ja-JP" dirty="0"/>
          </a:p>
          <a:p>
            <a:endParaRPr kumimoji="1" lang="en-US" altLang="ja-JP" dirty="0"/>
          </a:p>
          <a:p>
            <a:r>
              <a:rPr kumimoji="1" lang="ja-JP" altLang="en-US" dirty="0"/>
              <a:t>一つ目は作業手順の見直しと学習です</a:t>
            </a:r>
            <a:endParaRPr kumimoji="1" lang="en-US" altLang="ja-JP" dirty="0"/>
          </a:p>
          <a:p>
            <a:r>
              <a:rPr kumimoji="1" lang="ja-JP" altLang="en-US" dirty="0"/>
              <a:t>苦労点でもあげましたが、ドメイン知識の不足や特徴量への理解を後回しにしてしまった結果、痛い手戻りが発生してしまいました。</a:t>
            </a:r>
            <a:endParaRPr kumimoji="1" lang="en-US" altLang="ja-JP" dirty="0"/>
          </a:p>
          <a:p>
            <a:r>
              <a:rPr kumimoji="1" lang="ja-JP" altLang="en-US" dirty="0"/>
              <a:t>その反省を踏まえ、分析を始める前に最低限必要な知識を確認し、データセットの中身を精査する習慣をつけようと思います。</a:t>
            </a:r>
            <a:endParaRPr kumimoji="1" lang="en-US" altLang="ja-JP" dirty="0"/>
          </a:p>
          <a:p>
            <a:endParaRPr kumimoji="1" lang="en-US" altLang="ja-JP" dirty="0"/>
          </a:p>
          <a:p>
            <a:r>
              <a:rPr kumimoji="1" lang="en-US" altLang="ja-JP" dirty="0"/>
              <a:t>2</a:t>
            </a:r>
            <a:r>
              <a:rPr kumimoji="1" lang="ja-JP" altLang="en-US" dirty="0"/>
              <a:t>つ目は作業内容の保存です。</a:t>
            </a:r>
            <a:endParaRPr kumimoji="1" lang="en-US" altLang="ja-JP" dirty="0"/>
          </a:p>
          <a:p>
            <a:r>
              <a:rPr kumimoji="1" lang="ja-JP" altLang="en-US" dirty="0"/>
              <a:t>今回こうして発表を行うに際し、過去行った作業の振り返りの必要がありましたが、</a:t>
            </a:r>
            <a:endParaRPr kumimoji="1" lang="en-US" altLang="ja-JP" dirty="0"/>
          </a:p>
          <a:p>
            <a:r>
              <a:rPr kumimoji="1" lang="ja-JP" altLang="en-US" dirty="0"/>
              <a:t>あちらこちらに作業メモが散らかり、資料としてひとまとめにするのが大変でした。</a:t>
            </a:r>
            <a:endParaRPr kumimoji="1" lang="en-US" altLang="ja-JP" dirty="0"/>
          </a:p>
          <a:p>
            <a:r>
              <a:rPr kumimoji="1" lang="ja-JP" altLang="en-US" dirty="0"/>
              <a:t>次回以降、作業内容の保存方法を見直し、自分の行動そのものも必要な資料であると認識していきます。</a:t>
            </a:r>
            <a:endParaRPr kumimoji="1" lang="en-US" altLang="ja-JP" dirty="0"/>
          </a:p>
          <a:p>
            <a:endParaRPr kumimoji="1" lang="en-US" altLang="ja-JP" dirty="0"/>
          </a:p>
          <a:p>
            <a:r>
              <a:rPr kumimoji="1" lang="en-US" altLang="ja-JP" dirty="0"/>
              <a:t>3</a:t>
            </a:r>
            <a:r>
              <a:rPr kumimoji="1" lang="ja-JP" altLang="en-US" dirty="0"/>
              <a:t>つ目は具体的なゴールの設定です。</a:t>
            </a:r>
            <a:endParaRPr kumimoji="1" lang="en-US" altLang="ja-JP" dirty="0"/>
          </a:p>
          <a:p>
            <a:r>
              <a:rPr kumimoji="1" lang="ja-JP" altLang="en-US" dirty="0"/>
              <a:t>今回のテーマは航空機ターボエンジンの残存耐用時間予測ではありますが、</a:t>
            </a:r>
            <a:endParaRPr kumimoji="1" lang="en-US" altLang="ja-JP" dirty="0"/>
          </a:p>
          <a:p>
            <a:r>
              <a:rPr kumimoji="1" lang="ja-JP" altLang="en-US" dirty="0"/>
              <a:t>「それを予測してどうするのか」という視点が欠けていたように思います。</a:t>
            </a:r>
            <a:endParaRPr kumimoji="1" lang="en-US" altLang="ja-JP" dirty="0"/>
          </a:p>
          <a:p>
            <a:endParaRPr kumimoji="1" lang="en-US" altLang="ja-JP" dirty="0"/>
          </a:p>
          <a:p>
            <a:r>
              <a:rPr kumimoji="1" lang="ja-JP" altLang="en-US" dirty="0"/>
              <a:t>先ほど今後の展望でいくつかのアイディアを提示しましたが、それらを仮に実現したとして、</a:t>
            </a:r>
            <a:endParaRPr kumimoji="1" lang="en-US" altLang="ja-JP" dirty="0"/>
          </a:p>
          <a:p>
            <a:r>
              <a:rPr kumimoji="1" lang="ja-JP" altLang="en-US" dirty="0"/>
              <a:t>企業的視点から見てどの程度のメリットが発生しうるのかという部分までは言及ができませんでした。</a:t>
            </a:r>
            <a:endParaRPr kumimoji="1" lang="en-US" altLang="ja-JP" dirty="0"/>
          </a:p>
          <a:p>
            <a:r>
              <a:rPr kumimoji="1" lang="ja-JP" altLang="en-US" dirty="0"/>
              <a:t>今後データ分析に臨む際は、自分がまとめるデータ分析の成果をどのように活用するのか、できるのかといった視点を</a:t>
            </a:r>
            <a:endParaRPr kumimoji="1" lang="en-US" altLang="ja-JP" dirty="0"/>
          </a:p>
          <a:p>
            <a:r>
              <a:rPr kumimoji="1" lang="ja-JP" altLang="en-US" dirty="0"/>
              <a:t>作業開始の段階できちんと持ちたなければならないと考えます。</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D8F92BD-5936-429B-BFFD-B72510DF0543}" type="slidenum">
              <a:rPr kumimoji="1" lang="ja-JP" altLang="en-US" smtClean="0"/>
              <a:t>26</a:t>
            </a:fld>
            <a:endParaRPr kumimoji="1" lang="ja-JP" altLang="en-US"/>
          </a:p>
        </p:txBody>
      </p:sp>
    </p:spTree>
    <p:extLst>
      <p:ext uri="{BB962C8B-B14F-4D97-AF65-F5344CB8AC3E}">
        <p14:creationId xmlns:p14="http://schemas.microsoft.com/office/powerpoint/2010/main" val="38708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ja-JP" altLang="en-US"/>
              <a:t>マスター タイトルの書式設定</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5/20/2025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8A87A34-81AB-432B-8DAE-1953F412C126}"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41410" y="3073397"/>
            <a:ext cx="4878391" cy="27178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3073397"/>
            <a:ext cx="4875210" cy="27178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ja-JP" altLang="en-US"/>
              <a:t>アイコンをクリックして図を追加</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dirty="0"/>
              <a:t>5/20/2025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ja-JP" altLang="en-US"/>
              <a:t>アイコンをクリックして図を追加</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ja-JP" altLang="en-US"/>
              <a:t>アイコンをクリックして図を追加</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ja-JP" altLang="en-US"/>
              <a:t>アイコンをクリックして図を追加</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dirty="0"/>
              <a:t>5/20/2025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5/20/2025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kumimoji="1"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kumimoji="1"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kumimoji="1"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kumimoji="1"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kumimoji="1"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kumimoji="1"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8.png"/><Relationship Id="rId17" Type="http://schemas.openxmlformats.org/officeDocument/2006/relationships/image" Target="../media/image13.svg"/><Relationship Id="rId2" Type="http://schemas.openxmlformats.org/officeDocument/2006/relationships/notesSlide" Target="../notesSlides/notesSlide7.xml"/><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svg"/><Relationship Id="rId5" Type="http://schemas.openxmlformats.org/officeDocument/2006/relationships/diagramQuickStyle" Target="../diagrams/quickStyle1.xml"/><Relationship Id="rId15" Type="http://schemas.openxmlformats.org/officeDocument/2006/relationships/image" Target="../media/image11.svg"/><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svg"/><Relationship Id="rId1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95456-6724-5506-C9D0-256BEEA96321}"/>
              </a:ext>
            </a:extLst>
          </p:cNvPr>
          <p:cNvSpPr>
            <a:spLocks noGrp="1"/>
          </p:cNvSpPr>
          <p:nvPr>
            <p:ph type="ctrTitle"/>
          </p:nvPr>
        </p:nvSpPr>
        <p:spPr>
          <a:xfrm>
            <a:off x="1700212" y="1097853"/>
            <a:ext cx="8791575" cy="2387600"/>
          </a:xfrm>
        </p:spPr>
        <p:txBody>
          <a:bodyPr>
            <a:normAutofit/>
          </a:bodyPr>
          <a:lstStyle/>
          <a:p>
            <a:r>
              <a:rPr lang="ja-JP" altLang="en-US" sz="5400" b="1" dirty="0">
                <a:latin typeface="+mj-ea"/>
              </a:rPr>
              <a:t>ターボエンジン</a:t>
            </a:r>
            <a:br>
              <a:rPr lang="en-US" altLang="ja-JP" sz="5400" b="1" dirty="0">
                <a:latin typeface="+mj-ea"/>
              </a:rPr>
            </a:br>
            <a:r>
              <a:rPr lang="ja-JP" altLang="en-US" sz="5400" b="1" dirty="0">
                <a:latin typeface="+mj-ea"/>
              </a:rPr>
              <a:t>残存耐用時間予測</a:t>
            </a:r>
            <a:endParaRPr kumimoji="1" lang="ja-JP" altLang="en-US" sz="5400" b="1" dirty="0">
              <a:latin typeface="+mj-ea"/>
            </a:endParaRPr>
          </a:p>
        </p:txBody>
      </p:sp>
      <p:sp>
        <p:nvSpPr>
          <p:cNvPr id="3" name="字幕 2">
            <a:extLst>
              <a:ext uri="{FF2B5EF4-FFF2-40B4-BE49-F238E27FC236}">
                <a16:creationId xmlns:a16="http://schemas.microsoft.com/office/drawing/2014/main" id="{0514F4E1-99CA-1203-5FAE-9183A3CA6848}"/>
              </a:ext>
            </a:extLst>
          </p:cNvPr>
          <p:cNvSpPr>
            <a:spLocks noGrp="1"/>
          </p:cNvSpPr>
          <p:nvPr>
            <p:ph type="subTitle" idx="1"/>
          </p:nvPr>
        </p:nvSpPr>
        <p:spPr>
          <a:xfrm>
            <a:off x="6963905" y="4570998"/>
            <a:ext cx="4571999" cy="2133599"/>
          </a:xfrm>
        </p:spPr>
        <p:txBody>
          <a:bodyPr>
            <a:noAutofit/>
          </a:bodyPr>
          <a:lstStyle/>
          <a:p>
            <a:pPr algn="r"/>
            <a:r>
              <a:rPr kumimoji="1" lang="en-US" altLang="ja-JP" sz="3200" dirty="0">
                <a:solidFill>
                  <a:schemeClr val="tx1"/>
                </a:solidFill>
              </a:rPr>
              <a:t>2025</a:t>
            </a:r>
            <a:r>
              <a:rPr kumimoji="1" lang="ja-JP" altLang="en-US" sz="3200" dirty="0">
                <a:solidFill>
                  <a:schemeClr val="tx1"/>
                </a:solidFill>
              </a:rPr>
              <a:t>年</a:t>
            </a:r>
            <a:r>
              <a:rPr kumimoji="1" lang="en-US" altLang="ja-JP" sz="3200" dirty="0">
                <a:solidFill>
                  <a:schemeClr val="tx1"/>
                </a:solidFill>
              </a:rPr>
              <a:t>4</a:t>
            </a:r>
            <a:r>
              <a:rPr kumimoji="1" lang="ja-JP" altLang="en-US" sz="3200" dirty="0">
                <a:solidFill>
                  <a:schemeClr val="tx1"/>
                </a:solidFill>
              </a:rPr>
              <a:t>月</a:t>
            </a:r>
            <a:r>
              <a:rPr lang="en-US" altLang="ja-JP" sz="3200" dirty="0">
                <a:solidFill>
                  <a:schemeClr val="tx1"/>
                </a:solidFill>
              </a:rPr>
              <a:t>18</a:t>
            </a:r>
            <a:r>
              <a:rPr kumimoji="1" lang="ja-JP" altLang="en-US" sz="3200" dirty="0">
                <a:solidFill>
                  <a:schemeClr val="tx1"/>
                </a:solidFill>
              </a:rPr>
              <a:t>日</a:t>
            </a:r>
            <a:endParaRPr kumimoji="1" lang="en-US" altLang="ja-JP" sz="3200" dirty="0">
              <a:solidFill>
                <a:schemeClr val="tx1"/>
              </a:solidFill>
            </a:endParaRPr>
          </a:p>
          <a:p>
            <a:pPr algn="r"/>
            <a:r>
              <a:rPr kumimoji="1" lang="ja-JP" altLang="en-US" sz="3200" dirty="0">
                <a:solidFill>
                  <a:schemeClr val="tx1"/>
                </a:solidFill>
              </a:rPr>
              <a:t>仲村翔</a:t>
            </a:r>
          </a:p>
        </p:txBody>
      </p:sp>
    </p:spTree>
    <p:extLst>
      <p:ext uri="{BB962C8B-B14F-4D97-AF65-F5344CB8AC3E}">
        <p14:creationId xmlns:p14="http://schemas.microsoft.com/office/powerpoint/2010/main" val="340698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818067C1-2E03-92C9-33D1-F98359D4F325}"/>
              </a:ext>
            </a:extLst>
          </p:cNvPr>
          <p:cNvSpPr>
            <a:spLocks noGrp="1"/>
          </p:cNvSpPr>
          <p:nvPr>
            <p:ph type="body" idx="1"/>
          </p:nvPr>
        </p:nvSpPr>
        <p:spPr>
          <a:xfrm>
            <a:off x="1141411" y="2087061"/>
            <a:ext cx="9906000" cy="4500080"/>
          </a:xfrm>
        </p:spPr>
        <p:txBody>
          <a:bodyPr numCol="2">
            <a:normAutofit fontScale="92500" lnSpcReduction="20000"/>
          </a:bodyPr>
          <a:lstStyle/>
          <a:p>
            <a:pPr marL="342900" indent="-342900">
              <a:buFont typeface="+mj-lt"/>
              <a:buAutoNum type="arabicPeriod"/>
            </a:pPr>
            <a:r>
              <a:rPr kumimoji="1" lang="ja-JP" altLang="en-US" sz="2400" dirty="0">
                <a:latin typeface="+mj-ea"/>
                <a:ea typeface="+mj-ea"/>
              </a:rPr>
              <a:t>タイトル</a:t>
            </a:r>
            <a:endParaRPr kumimoji="1" lang="en-US" altLang="ja-JP" sz="2400" dirty="0">
              <a:latin typeface="+mj-ea"/>
              <a:ea typeface="+mj-ea"/>
            </a:endParaRPr>
          </a:p>
          <a:p>
            <a:pPr marL="342900" indent="-342900">
              <a:buFont typeface="+mj-lt"/>
              <a:buAutoNum type="arabicPeriod"/>
            </a:pPr>
            <a:r>
              <a:rPr lang="ja-JP" altLang="en-US" sz="2400" dirty="0">
                <a:latin typeface="+mj-ea"/>
                <a:ea typeface="+mj-ea"/>
              </a:rPr>
              <a:t>目次</a:t>
            </a:r>
            <a:endParaRPr lang="en-US" altLang="ja-JP" sz="2400" dirty="0">
              <a:latin typeface="+mj-ea"/>
              <a:ea typeface="+mj-ea"/>
            </a:endParaRPr>
          </a:p>
          <a:p>
            <a:pPr marL="342900" indent="-342900">
              <a:buFont typeface="+mj-lt"/>
              <a:buAutoNum type="arabicPeriod"/>
            </a:pPr>
            <a:r>
              <a:rPr lang="ja-JP" altLang="en-US" sz="2400" dirty="0">
                <a:latin typeface="+mj-ea"/>
                <a:ea typeface="+mj-ea"/>
              </a:rPr>
              <a:t>発表者紹介</a:t>
            </a:r>
            <a:endParaRPr kumimoji="1" lang="en-US" altLang="ja-JP" sz="2400" dirty="0">
              <a:latin typeface="+mj-ea"/>
              <a:ea typeface="+mj-ea"/>
            </a:endParaRPr>
          </a:p>
          <a:p>
            <a:pPr marL="342900" indent="-342900">
              <a:buFont typeface="+mj-lt"/>
              <a:buAutoNum type="arabicPeriod"/>
            </a:pPr>
            <a:r>
              <a:rPr lang="ja-JP" altLang="en-US" sz="2400" dirty="0">
                <a:latin typeface="+mj-ea"/>
                <a:ea typeface="+mj-ea"/>
              </a:rPr>
              <a:t>分析の概要</a:t>
            </a:r>
            <a:endParaRPr lang="en-US" altLang="ja-JP" sz="2400" dirty="0">
              <a:latin typeface="+mj-ea"/>
              <a:ea typeface="+mj-ea"/>
            </a:endParaRPr>
          </a:p>
          <a:p>
            <a:pPr marL="342900" indent="-342900">
              <a:buFont typeface="+mj-lt"/>
              <a:buAutoNum type="arabicPeriod"/>
            </a:pPr>
            <a:r>
              <a:rPr lang="ja-JP" altLang="en-US" sz="2400" dirty="0">
                <a:latin typeface="+mj-ea"/>
                <a:ea typeface="+mj-ea"/>
              </a:rPr>
              <a:t>データセット</a:t>
            </a:r>
            <a:endParaRPr lang="en-US" altLang="ja-JP" sz="2400" dirty="0">
              <a:latin typeface="+mj-ea"/>
              <a:ea typeface="+mj-ea"/>
            </a:endParaRPr>
          </a:p>
          <a:p>
            <a:pPr marL="342900" indent="-342900">
              <a:buFont typeface="+mj-lt"/>
              <a:buAutoNum type="arabicPeriod"/>
            </a:pPr>
            <a:r>
              <a:rPr lang="ja-JP" altLang="en-US" sz="2400" dirty="0">
                <a:latin typeface="+mj-ea"/>
                <a:ea typeface="+mj-ea"/>
              </a:rPr>
              <a:t>実行環境、言語</a:t>
            </a:r>
            <a:endParaRPr kumimoji="1" lang="en-US" altLang="ja-JP" sz="2400" dirty="0">
              <a:latin typeface="+mj-ea"/>
              <a:ea typeface="+mj-ea"/>
            </a:endParaRPr>
          </a:p>
          <a:p>
            <a:pPr marL="342900" indent="-342900">
              <a:buFont typeface="+mj-lt"/>
              <a:buAutoNum type="arabicPeriod"/>
            </a:pPr>
            <a:r>
              <a:rPr lang="ja-JP" altLang="en-US" sz="2400" dirty="0">
                <a:latin typeface="+mj-ea"/>
                <a:ea typeface="+mj-ea"/>
              </a:rPr>
              <a:t>作業フロー</a:t>
            </a:r>
            <a:endParaRPr lang="en-US" altLang="ja-JP" sz="2400" dirty="0">
              <a:latin typeface="+mj-ea"/>
              <a:ea typeface="+mj-ea"/>
            </a:endParaRPr>
          </a:p>
          <a:p>
            <a:pPr marL="342900" indent="-342900">
              <a:buFont typeface="+mj-lt"/>
              <a:buAutoNum type="arabicPeriod"/>
            </a:pPr>
            <a:r>
              <a:rPr lang="ja-JP" altLang="en-US" sz="2400" dirty="0">
                <a:latin typeface="+mj-ea"/>
                <a:ea typeface="+mj-ea"/>
              </a:rPr>
              <a:t>結果</a:t>
            </a:r>
            <a:endParaRPr kumimoji="1" lang="en-US" altLang="ja-JP" sz="2400" dirty="0">
              <a:latin typeface="+mj-ea"/>
              <a:ea typeface="+mj-ea"/>
            </a:endParaRPr>
          </a:p>
          <a:p>
            <a:pPr marL="342900" indent="-342900">
              <a:buFont typeface="+mj-lt"/>
              <a:buAutoNum type="arabicPeriod"/>
            </a:pPr>
            <a:r>
              <a:rPr lang="ja-JP" altLang="en-US" sz="2400" dirty="0">
                <a:latin typeface="+mj-ea"/>
                <a:ea typeface="+mj-ea"/>
              </a:rPr>
              <a:t>考察</a:t>
            </a:r>
            <a:endParaRPr lang="en-US" altLang="ja-JP" sz="2400" dirty="0">
              <a:latin typeface="+mj-ea"/>
              <a:ea typeface="+mj-ea"/>
            </a:endParaRPr>
          </a:p>
          <a:p>
            <a:pPr marL="342900" indent="-342900">
              <a:buFont typeface="+mj-lt"/>
              <a:buAutoNum type="arabicPeriod"/>
            </a:pPr>
            <a:r>
              <a:rPr kumimoji="1" lang="ja-JP" altLang="en-US" sz="2400" dirty="0">
                <a:latin typeface="+mj-ea"/>
                <a:ea typeface="+mj-ea"/>
              </a:rPr>
              <a:t>工夫点</a:t>
            </a:r>
            <a:endParaRPr kumimoji="1" lang="en-US" altLang="ja-JP" sz="2400" dirty="0">
              <a:latin typeface="+mj-ea"/>
              <a:ea typeface="+mj-ea"/>
            </a:endParaRPr>
          </a:p>
          <a:p>
            <a:pPr marL="342900" indent="-342900">
              <a:buFont typeface="+mj-lt"/>
              <a:buAutoNum type="arabicPeriod"/>
            </a:pPr>
            <a:r>
              <a:rPr kumimoji="1" lang="ja-JP" altLang="en-US" sz="2400" dirty="0">
                <a:latin typeface="+mj-ea"/>
                <a:ea typeface="+mj-ea"/>
              </a:rPr>
              <a:t>苦労点①</a:t>
            </a:r>
            <a:endParaRPr kumimoji="1" lang="en-US" altLang="ja-JP" sz="2400" dirty="0">
              <a:latin typeface="+mj-ea"/>
              <a:ea typeface="+mj-ea"/>
            </a:endParaRPr>
          </a:p>
          <a:p>
            <a:pPr marL="342900" indent="-342900">
              <a:buFont typeface="+mj-lt"/>
              <a:buAutoNum type="arabicPeriod"/>
            </a:pPr>
            <a:r>
              <a:rPr kumimoji="1" lang="ja-JP" altLang="en-US" sz="2400" dirty="0">
                <a:latin typeface="+mj-ea"/>
                <a:ea typeface="+mj-ea"/>
              </a:rPr>
              <a:t>苦労点②</a:t>
            </a:r>
            <a:endParaRPr kumimoji="1" lang="en-US" altLang="ja-JP" sz="2400" dirty="0">
              <a:latin typeface="+mj-ea"/>
              <a:ea typeface="+mj-ea"/>
            </a:endParaRPr>
          </a:p>
          <a:p>
            <a:pPr marL="342900" indent="-342900">
              <a:buFont typeface="+mj-lt"/>
              <a:buAutoNum type="arabicPeriod"/>
            </a:pPr>
            <a:r>
              <a:rPr lang="ja-JP" altLang="en-US" sz="2400" dirty="0">
                <a:latin typeface="+mj-ea"/>
                <a:ea typeface="+mj-ea"/>
              </a:rPr>
              <a:t>応用案</a:t>
            </a:r>
            <a:endParaRPr kumimoji="1" lang="en-US" altLang="ja-JP" sz="2400" dirty="0">
              <a:latin typeface="+mj-ea"/>
              <a:ea typeface="+mj-ea"/>
            </a:endParaRPr>
          </a:p>
          <a:p>
            <a:pPr marL="342900" indent="-342900">
              <a:buFont typeface="+mj-lt"/>
              <a:buAutoNum type="arabicPeriod"/>
            </a:pPr>
            <a:r>
              <a:rPr kumimoji="1" lang="ja-JP" altLang="en-US" sz="2400" dirty="0">
                <a:latin typeface="+mj-ea"/>
                <a:ea typeface="+mj-ea"/>
              </a:rPr>
              <a:t>本分析を通じての学び</a:t>
            </a:r>
            <a:endParaRPr kumimoji="1" lang="en-US" altLang="ja-JP" sz="2000" dirty="0">
              <a:latin typeface="+mj-ea"/>
              <a:ea typeface="+mj-ea"/>
            </a:endParaRPr>
          </a:p>
          <a:p>
            <a:pPr algn="r"/>
            <a:endParaRPr lang="en-US" altLang="ja-JP" sz="2000" dirty="0">
              <a:latin typeface="+mj-ea"/>
              <a:ea typeface="+mj-ea"/>
            </a:endParaRPr>
          </a:p>
          <a:p>
            <a:pPr algn="r"/>
            <a:endParaRPr kumimoji="1" lang="en-US" altLang="ja-JP" sz="2000" dirty="0">
              <a:latin typeface="+mj-ea"/>
              <a:ea typeface="+mj-ea"/>
            </a:endParaRPr>
          </a:p>
          <a:p>
            <a:pPr algn="r"/>
            <a:endParaRPr kumimoji="1" lang="en-US" altLang="ja-JP" sz="2000" dirty="0">
              <a:latin typeface="+mj-ea"/>
              <a:ea typeface="+mj-ea"/>
            </a:endParaRPr>
          </a:p>
          <a:p>
            <a:pPr algn="r"/>
            <a:endParaRPr lang="en-US" altLang="ja-JP" sz="2000" dirty="0">
              <a:latin typeface="+mj-ea"/>
              <a:ea typeface="+mj-ea"/>
            </a:endParaRPr>
          </a:p>
          <a:p>
            <a:pPr algn="r"/>
            <a:r>
              <a:rPr kumimoji="1" lang="ja-JP" altLang="en-US" sz="2000" dirty="0">
                <a:latin typeface="+mj-ea"/>
                <a:ea typeface="+mj-ea"/>
              </a:rPr>
              <a:t>所要時間：</a:t>
            </a:r>
            <a:r>
              <a:rPr kumimoji="1" lang="en-US" altLang="ja-JP" sz="2000" dirty="0">
                <a:latin typeface="+mj-ea"/>
                <a:ea typeface="+mj-ea"/>
              </a:rPr>
              <a:t>10</a:t>
            </a:r>
            <a:r>
              <a:rPr kumimoji="1" lang="ja-JP" altLang="en-US" sz="2000" dirty="0">
                <a:latin typeface="+mj-ea"/>
                <a:ea typeface="+mj-ea"/>
              </a:rPr>
              <a:t>分間</a:t>
            </a:r>
          </a:p>
        </p:txBody>
      </p:sp>
      <p:sp>
        <p:nvSpPr>
          <p:cNvPr id="7" name="タイトル 1">
            <a:extLst>
              <a:ext uri="{FF2B5EF4-FFF2-40B4-BE49-F238E27FC236}">
                <a16:creationId xmlns:a16="http://schemas.microsoft.com/office/drawing/2014/main" id="{DB5BBF9C-E01A-E848-3817-03BF1A60DDC3}"/>
              </a:ext>
            </a:extLst>
          </p:cNvPr>
          <p:cNvSpPr>
            <a:spLocks noGrp="1"/>
          </p:cNvSpPr>
          <p:nvPr>
            <p:ph type="title"/>
          </p:nvPr>
        </p:nvSpPr>
        <p:spPr>
          <a:xfrm>
            <a:off x="1141413" y="618518"/>
            <a:ext cx="9905998" cy="1478570"/>
          </a:xfrm>
        </p:spPr>
        <p:txBody>
          <a:bodyPr anchor="ctr">
            <a:normAutofit/>
          </a:bodyPr>
          <a:lstStyle/>
          <a:p>
            <a:r>
              <a:rPr lang="en-US" altLang="ja-JP" sz="4400" b="1" dirty="0">
                <a:latin typeface="+mj-ea"/>
              </a:rPr>
              <a:t>2</a:t>
            </a:r>
            <a:r>
              <a:rPr kumimoji="1" lang="en-US" altLang="ja-JP" sz="4400" b="1" dirty="0">
                <a:latin typeface="+mj-ea"/>
              </a:rPr>
              <a:t>. </a:t>
            </a:r>
            <a:r>
              <a:rPr kumimoji="1" lang="ja-JP" altLang="en-US" sz="4400" b="1" dirty="0">
                <a:latin typeface="+mj-ea"/>
              </a:rPr>
              <a:t>目次</a:t>
            </a:r>
          </a:p>
        </p:txBody>
      </p:sp>
    </p:spTree>
    <p:extLst>
      <p:ext uri="{BB962C8B-B14F-4D97-AF65-F5344CB8AC3E}">
        <p14:creationId xmlns:p14="http://schemas.microsoft.com/office/powerpoint/2010/main" val="206630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004C5E-7F99-EB68-2D30-65D7A236CF23}"/>
              </a:ext>
            </a:extLst>
          </p:cNvPr>
          <p:cNvSpPr>
            <a:spLocks noGrp="1"/>
          </p:cNvSpPr>
          <p:nvPr>
            <p:ph type="title"/>
          </p:nvPr>
        </p:nvSpPr>
        <p:spPr/>
        <p:txBody>
          <a:bodyPr>
            <a:normAutofit/>
          </a:bodyPr>
          <a:lstStyle/>
          <a:p>
            <a:r>
              <a:rPr kumimoji="1" lang="en-US" altLang="ja-JP" sz="4400" b="1" dirty="0"/>
              <a:t>3. </a:t>
            </a:r>
            <a:r>
              <a:rPr kumimoji="1" lang="ja-JP" altLang="en-US" sz="4400" b="1" dirty="0"/>
              <a:t>発表者紹介</a:t>
            </a:r>
          </a:p>
        </p:txBody>
      </p:sp>
      <p:graphicFrame>
        <p:nvGraphicFramePr>
          <p:cNvPr id="4" name="コンテンツ プレースホルダー 3">
            <a:extLst>
              <a:ext uri="{FF2B5EF4-FFF2-40B4-BE49-F238E27FC236}">
                <a16:creationId xmlns:a16="http://schemas.microsoft.com/office/drawing/2014/main" id="{A0131609-19FF-043A-F7F4-2F57A5285E9F}"/>
              </a:ext>
            </a:extLst>
          </p:cNvPr>
          <p:cNvGraphicFramePr>
            <a:graphicFrameLocks noGrp="1"/>
          </p:cNvGraphicFramePr>
          <p:nvPr>
            <p:ph idx="1"/>
            <p:extLst>
              <p:ext uri="{D42A27DB-BD31-4B8C-83A1-F6EECF244321}">
                <p14:modId xmlns:p14="http://schemas.microsoft.com/office/powerpoint/2010/main" val="1250232721"/>
              </p:ext>
            </p:extLst>
          </p:nvPr>
        </p:nvGraphicFramePr>
        <p:xfrm>
          <a:off x="1141411" y="2097087"/>
          <a:ext cx="7739542" cy="4189509"/>
        </p:xfrm>
        <a:graphic>
          <a:graphicData uri="http://schemas.openxmlformats.org/drawingml/2006/table">
            <a:tbl>
              <a:tblPr firstRow="1" bandRow="1">
                <a:tableStyleId>{21E4AEA4-8DFA-4A89-87EB-49C32662AFE0}</a:tableStyleId>
              </a:tblPr>
              <a:tblGrid>
                <a:gridCol w="1270550">
                  <a:extLst>
                    <a:ext uri="{9D8B030D-6E8A-4147-A177-3AD203B41FA5}">
                      <a16:colId xmlns:a16="http://schemas.microsoft.com/office/drawing/2014/main" val="3392515582"/>
                    </a:ext>
                  </a:extLst>
                </a:gridCol>
                <a:gridCol w="2084883">
                  <a:extLst>
                    <a:ext uri="{9D8B030D-6E8A-4147-A177-3AD203B41FA5}">
                      <a16:colId xmlns:a16="http://schemas.microsoft.com/office/drawing/2014/main" val="3602762683"/>
                    </a:ext>
                  </a:extLst>
                </a:gridCol>
                <a:gridCol w="4384109">
                  <a:extLst>
                    <a:ext uri="{9D8B030D-6E8A-4147-A177-3AD203B41FA5}">
                      <a16:colId xmlns:a16="http://schemas.microsoft.com/office/drawing/2014/main" val="3600997067"/>
                    </a:ext>
                  </a:extLst>
                </a:gridCol>
              </a:tblGrid>
              <a:tr h="318646">
                <a:tc>
                  <a:txBody>
                    <a:bodyPr/>
                    <a:lstStyle/>
                    <a:p>
                      <a:endParaRPr kumimoji="1" lang="ja-JP" altLang="en-US"/>
                    </a:p>
                  </a:txBody>
                  <a:tcPr/>
                </a:tc>
                <a:tc>
                  <a:txBody>
                    <a:bodyPr/>
                    <a:lstStyle/>
                    <a:p>
                      <a:endParaRPr kumimoji="1" lang="ja-JP" altLang="en-US" dirty="0"/>
                    </a:p>
                  </a:txBody>
                  <a:tcPr/>
                </a:tc>
                <a:tc>
                  <a:txBody>
                    <a:bodyPr/>
                    <a:lstStyle/>
                    <a:p>
                      <a:r>
                        <a:rPr kumimoji="1" lang="ja-JP" altLang="en-US" dirty="0"/>
                        <a:t>詳細</a:t>
                      </a:r>
                    </a:p>
                  </a:txBody>
                  <a:tcPr/>
                </a:tc>
                <a:extLst>
                  <a:ext uri="{0D108BD9-81ED-4DB2-BD59-A6C34878D82A}">
                    <a16:rowId xmlns:a16="http://schemas.microsoft.com/office/drawing/2014/main" val="2511896472"/>
                  </a:ext>
                </a:extLst>
              </a:tr>
              <a:tr h="1513567">
                <a:tc>
                  <a:txBody>
                    <a:bodyPr/>
                    <a:lstStyle/>
                    <a:p>
                      <a:pPr algn="ctr"/>
                      <a:r>
                        <a:rPr kumimoji="1" lang="ja-JP" altLang="en-US" sz="2800" b="1" dirty="0"/>
                        <a:t>発表者</a:t>
                      </a:r>
                      <a:endParaRPr kumimoji="1" lang="en-US" altLang="ja-JP" sz="2800" b="1" dirty="0"/>
                    </a:p>
                  </a:txBody>
                  <a:tcPr anchor="ctr"/>
                </a:tc>
                <a:tc>
                  <a:txBody>
                    <a:bodyPr/>
                    <a:lstStyle/>
                    <a:p>
                      <a:pPr algn="ctr"/>
                      <a:r>
                        <a:rPr kumimoji="1" lang="ja-JP" altLang="en-US" sz="2400" dirty="0"/>
                        <a:t>仲村 翔</a:t>
                      </a:r>
                      <a:endParaRPr kumimoji="1" lang="en-US" altLang="ja-JP" sz="2400" dirty="0"/>
                    </a:p>
                  </a:txBody>
                  <a:tcPr anchor="ctr"/>
                </a:tc>
                <a:tc>
                  <a:txBody>
                    <a:bodyPr/>
                    <a:lstStyle/>
                    <a:p>
                      <a:r>
                        <a:rPr lang="ja-JP" altLang="en-US" sz="1800" dirty="0"/>
                        <a:t>・</a:t>
                      </a:r>
                      <a:r>
                        <a:rPr lang="en-US" altLang="ja-JP" sz="1800" dirty="0"/>
                        <a:t>1990</a:t>
                      </a:r>
                      <a:r>
                        <a:rPr lang="ja-JP" altLang="en-US" sz="1800" dirty="0"/>
                        <a:t>年</a:t>
                      </a:r>
                      <a:r>
                        <a:rPr lang="en-US" altLang="ja-JP" sz="1800" dirty="0"/>
                        <a:t>1</a:t>
                      </a:r>
                      <a:r>
                        <a:rPr lang="ja-JP" altLang="en-US" sz="1800" dirty="0"/>
                        <a:t>月</a:t>
                      </a:r>
                      <a:r>
                        <a:rPr lang="en-US" altLang="ja-JP" sz="1800" dirty="0"/>
                        <a:t>16</a:t>
                      </a:r>
                      <a:r>
                        <a:rPr lang="ja-JP" altLang="en-US" sz="1800" dirty="0"/>
                        <a:t>日生　</a:t>
                      </a:r>
                      <a:r>
                        <a:rPr lang="en-US" altLang="ja-JP" sz="1800" dirty="0"/>
                        <a:t>35</a:t>
                      </a:r>
                      <a:r>
                        <a:rPr lang="ja-JP" altLang="en-US" sz="1800" dirty="0"/>
                        <a:t>歳</a:t>
                      </a:r>
                      <a:endParaRPr kumimoji="1" lang="en-US" altLang="ja-JP" sz="1800" dirty="0"/>
                    </a:p>
                    <a:p>
                      <a:r>
                        <a:rPr lang="ja-JP" altLang="en-US" sz="1800" dirty="0"/>
                        <a:t>・趣味：模型製作、野球観戦</a:t>
                      </a:r>
                      <a:endParaRPr lang="en-US" altLang="ja-JP" sz="1800" dirty="0"/>
                    </a:p>
                    <a:p>
                      <a:r>
                        <a:rPr kumimoji="1" lang="ja-JP" altLang="en-US" sz="1800" dirty="0"/>
                        <a:t>・大切なもの：娘と過ごす時間</a:t>
                      </a:r>
                      <a:endParaRPr kumimoji="1" lang="en-US" altLang="ja-JP" sz="1800" dirty="0"/>
                    </a:p>
                    <a:p>
                      <a:r>
                        <a:rPr kumimoji="1" lang="ja-JP" altLang="en-US" sz="1800" dirty="0"/>
                        <a:t>・最終学歴：日本工学院専門学校</a:t>
                      </a:r>
                      <a:endParaRPr kumimoji="1" lang="en-US" altLang="ja-JP" sz="1800" dirty="0"/>
                    </a:p>
                    <a:p>
                      <a:r>
                        <a:rPr kumimoji="1" lang="ja-JP" altLang="en-US" sz="1800" dirty="0"/>
                        <a:t>　蒲田校声優俳優科　</a:t>
                      </a:r>
                      <a:r>
                        <a:rPr kumimoji="1" lang="en-US" altLang="ja-JP" sz="1800" dirty="0"/>
                        <a:t>2010</a:t>
                      </a:r>
                      <a:r>
                        <a:rPr kumimoji="1" lang="ja-JP" altLang="en-US" sz="1800" dirty="0"/>
                        <a:t>年</a:t>
                      </a:r>
                      <a:r>
                        <a:rPr kumimoji="1" lang="en-US" altLang="ja-JP" sz="1800" dirty="0"/>
                        <a:t>3</a:t>
                      </a:r>
                      <a:r>
                        <a:rPr kumimoji="1" lang="ja-JP" altLang="en-US" sz="1800" dirty="0"/>
                        <a:t>月卒</a:t>
                      </a:r>
                      <a:endParaRPr kumimoji="1" lang="en-US" altLang="ja-JP" sz="1800" dirty="0"/>
                    </a:p>
                  </a:txBody>
                  <a:tcPr/>
                </a:tc>
                <a:extLst>
                  <a:ext uri="{0D108BD9-81ED-4DB2-BD59-A6C34878D82A}">
                    <a16:rowId xmlns:a16="http://schemas.microsoft.com/office/drawing/2014/main" val="4056318302"/>
                  </a:ext>
                </a:extLst>
              </a:tr>
              <a:tr h="1274583">
                <a:tc>
                  <a:txBody>
                    <a:bodyPr/>
                    <a:lstStyle/>
                    <a:p>
                      <a:pPr algn="ctr"/>
                      <a:r>
                        <a:rPr kumimoji="1" lang="ja-JP" altLang="en-US" sz="2800" b="1" dirty="0"/>
                        <a:t>前職</a:t>
                      </a:r>
                      <a:endParaRPr kumimoji="1" lang="en-US" altLang="ja-JP" sz="2800" b="1" dirty="0"/>
                    </a:p>
                  </a:txBody>
                  <a:tcPr anchor="ctr"/>
                </a:tc>
                <a:tc>
                  <a:txBody>
                    <a:bodyPr/>
                    <a:lstStyle/>
                    <a:p>
                      <a:pPr algn="ctr"/>
                      <a:r>
                        <a:rPr kumimoji="1" lang="ja-JP" altLang="en-US" sz="2400" dirty="0"/>
                        <a:t>社内システム管理</a:t>
                      </a:r>
                    </a:p>
                  </a:txBody>
                  <a:tcPr anchor="ctr"/>
                </a:tc>
                <a:tc>
                  <a:txBody>
                    <a:bodyPr/>
                    <a:lstStyle/>
                    <a:p>
                      <a:r>
                        <a:rPr lang="ja-JP" altLang="en-US" sz="1800" dirty="0"/>
                        <a:t>・在籍期間：</a:t>
                      </a:r>
                      <a:r>
                        <a:rPr lang="en-US" altLang="ja-JP" sz="1800" dirty="0"/>
                        <a:t>2014</a:t>
                      </a:r>
                      <a:r>
                        <a:rPr lang="ja-JP" altLang="en-US" sz="1800" dirty="0"/>
                        <a:t>年</a:t>
                      </a:r>
                      <a:r>
                        <a:rPr lang="en-US" altLang="ja-JP" sz="1800" dirty="0"/>
                        <a:t>9</a:t>
                      </a:r>
                      <a:r>
                        <a:rPr lang="ja-JP" altLang="en-US" sz="1800" dirty="0"/>
                        <a:t>月～</a:t>
                      </a:r>
                      <a:r>
                        <a:rPr lang="en-US" altLang="ja-JP" sz="1800" dirty="0"/>
                        <a:t>2019</a:t>
                      </a:r>
                      <a:r>
                        <a:rPr lang="ja-JP" altLang="en-US" sz="1800" dirty="0"/>
                        <a:t>年</a:t>
                      </a:r>
                      <a:r>
                        <a:rPr lang="en-US" altLang="ja-JP" sz="1800" dirty="0"/>
                        <a:t>6</a:t>
                      </a:r>
                      <a:r>
                        <a:rPr lang="ja-JP" altLang="en-US" sz="1800" dirty="0"/>
                        <a:t>月</a:t>
                      </a:r>
                      <a:endParaRPr lang="en-US" altLang="ja-JP" sz="1800" dirty="0"/>
                    </a:p>
                    <a:p>
                      <a:r>
                        <a:rPr lang="ja-JP" altLang="en-US" sz="1800" dirty="0"/>
                        <a:t>・機材調達及び管理</a:t>
                      </a:r>
                      <a:endParaRPr lang="en-US" altLang="ja-JP" sz="1800" dirty="0"/>
                    </a:p>
                    <a:p>
                      <a:r>
                        <a:rPr lang="ja-JP" altLang="en-US" sz="1800" dirty="0"/>
                        <a:t>・業務システムの保守管理</a:t>
                      </a:r>
                      <a:endParaRPr lang="en-US" altLang="ja-JP" sz="1800" dirty="0"/>
                    </a:p>
                    <a:p>
                      <a:r>
                        <a:rPr lang="ja-JP" altLang="en-US" sz="1800" dirty="0"/>
                        <a:t>・社内ヘルプデスク</a:t>
                      </a:r>
                      <a:endParaRPr lang="en-US" altLang="ja-JP" sz="1800" dirty="0"/>
                    </a:p>
                  </a:txBody>
                  <a:tcPr/>
                </a:tc>
                <a:extLst>
                  <a:ext uri="{0D108BD9-81ED-4DB2-BD59-A6C34878D82A}">
                    <a16:rowId xmlns:a16="http://schemas.microsoft.com/office/drawing/2014/main" val="1718029576"/>
                  </a:ext>
                </a:extLst>
              </a:tr>
              <a:tr h="1035599">
                <a:tc>
                  <a:txBody>
                    <a:bodyPr/>
                    <a:lstStyle/>
                    <a:p>
                      <a:pPr algn="ctr"/>
                      <a:r>
                        <a:rPr kumimoji="1" lang="ja-JP" altLang="en-US" sz="2800" b="1" dirty="0"/>
                        <a:t>障害</a:t>
                      </a:r>
                    </a:p>
                  </a:txBody>
                  <a:tcPr anchor="ctr"/>
                </a:tc>
                <a:tc>
                  <a:txBody>
                    <a:bodyPr/>
                    <a:lstStyle/>
                    <a:p>
                      <a:pPr algn="ctr"/>
                      <a:r>
                        <a:rPr kumimoji="1" lang="ja-JP" altLang="en-US" sz="2400" b="0" dirty="0"/>
                        <a:t>うつ病</a:t>
                      </a:r>
                    </a:p>
                  </a:txBody>
                  <a:tcPr anchor="ctr"/>
                </a:tc>
                <a:tc>
                  <a:txBody>
                    <a:bodyPr/>
                    <a:lstStyle/>
                    <a:p>
                      <a:r>
                        <a:rPr lang="ja-JP" altLang="en-US" sz="1800" dirty="0"/>
                        <a:t>・現在は専業主夫</a:t>
                      </a:r>
                      <a:endParaRPr lang="en-US" altLang="ja-JP" sz="1800" dirty="0"/>
                    </a:p>
                    <a:p>
                      <a:r>
                        <a:rPr lang="ja-JP" altLang="en-US" sz="1800" dirty="0"/>
                        <a:t>・育児に専念</a:t>
                      </a:r>
                      <a:endParaRPr lang="en-US" altLang="ja-JP" sz="1800" dirty="0"/>
                    </a:p>
                    <a:p>
                      <a:r>
                        <a:rPr lang="ja-JP" altLang="en-US" sz="1800" dirty="0"/>
                        <a:t>・</a:t>
                      </a:r>
                      <a:r>
                        <a:rPr lang="en-US" altLang="ja-JP" sz="1800" dirty="0"/>
                        <a:t>2024</a:t>
                      </a:r>
                      <a:r>
                        <a:rPr lang="ja-JP" altLang="en-US" sz="1800" dirty="0"/>
                        <a:t>年</a:t>
                      </a:r>
                      <a:r>
                        <a:rPr lang="en-US" altLang="ja-JP" sz="1800" dirty="0"/>
                        <a:t>7</a:t>
                      </a:r>
                      <a:r>
                        <a:rPr lang="ja-JP" altLang="en-US" sz="1800" dirty="0"/>
                        <a:t>月より</a:t>
                      </a:r>
                      <a:r>
                        <a:rPr lang="en-US" altLang="ja-JP" sz="1800" dirty="0"/>
                        <a:t>NDY</a:t>
                      </a:r>
                      <a:r>
                        <a:rPr lang="ja-JP" altLang="en-US" sz="1800" dirty="0"/>
                        <a:t>に通所。</a:t>
                      </a:r>
                      <a:endParaRPr lang="en-US" altLang="ja-JP" sz="1800" dirty="0"/>
                    </a:p>
                  </a:txBody>
                  <a:tcPr/>
                </a:tc>
                <a:extLst>
                  <a:ext uri="{0D108BD9-81ED-4DB2-BD59-A6C34878D82A}">
                    <a16:rowId xmlns:a16="http://schemas.microsoft.com/office/drawing/2014/main" val="3595635090"/>
                  </a:ext>
                </a:extLst>
              </a:tr>
            </a:tbl>
          </a:graphicData>
        </a:graphic>
      </p:graphicFrame>
      <p:pic>
        <p:nvPicPr>
          <p:cNvPr id="6" name="図 5">
            <a:extLst>
              <a:ext uri="{FF2B5EF4-FFF2-40B4-BE49-F238E27FC236}">
                <a16:creationId xmlns:a16="http://schemas.microsoft.com/office/drawing/2014/main" id="{978E85C9-BEA5-6E19-AABA-CA11B5D6527D}"/>
              </a:ext>
            </a:extLst>
          </p:cNvPr>
          <p:cNvPicPr>
            <a:picLocks noChangeAspect="1"/>
          </p:cNvPicPr>
          <p:nvPr/>
        </p:nvPicPr>
        <p:blipFill>
          <a:blip r:embed="rId3"/>
          <a:stretch>
            <a:fillRect/>
          </a:stretch>
        </p:blipFill>
        <p:spPr>
          <a:xfrm>
            <a:off x="9187784" y="2338338"/>
            <a:ext cx="2586137" cy="3707005"/>
          </a:xfrm>
          <a:prstGeom prst="rect">
            <a:avLst/>
          </a:prstGeom>
        </p:spPr>
      </p:pic>
    </p:spTree>
    <p:extLst>
      <p:ext uri="{BB962C8B-B14F-4D97-AF65-F5344CB8AC3E}">
        <p14:creationId xmlns:p14="http://schemas.microsoft.com/office/powerpoint/2010/main" val="5398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C4801-0B38-AA4E-4B45-694FD1355E9C}"/>
              </a:ext>
            </a:extLst>
          </p:cNvPr>
          <p:cNvSpPr>
            <a:spLocks noGrp="1"/>
          </p:cNvSpPr>
          <p:nvPr>
            <p:ph type="title"/>
          </p:nvPr>
        </p:nvSpPr>
        <p:spPr/>
        <p:txBody>
          <a:bodyPr>
            <a:normAutofit/>
          </a:bodyPr>
          <a:lstStyle/>
          <a:p>
            <a:r>
              <a:rPr lang="en-US" altLang="ja-JP" sz="4400" b="1" dirty="0"/>
              <a:t>4.</a:t>
            </a:r>
            <a:r>
              <a:rPr lang="ja-JP" altLang="en-US" sz="4400" b="1" dirty="0"/>
              <a:t> </a:t>
            </a:r>
            <a:r>
              <a:rPr kumimoji="1" lang="ja-JP" altLang="en-US" sz="4400" b="1" dirty="0"/>
              <a:t>分析</a:t>
            </a:r>
            <a:r>
              <a:rPr lang="ja-JP" altLang="en-US" sz="4400" b="1" dirty="0"/>
              <a:t>の概要</a:t>
            </a:r>
            <a:endParaRPr kumimoji="1" lang="ja-JP" altLang="en-US" sz="4400" b="1" dirty="0"/>
          </a:p>
        </p:txBody>
      </p:sp>
      <p:graphicFrame>
        <p:nvGraphicFramePr>
          <p:cNvPr id="6" name="コンテンツ プレースホルダー 5">
            <a:extLst>
              <a:ext uri="{FF2B5EF4-FFF2-40B4-BE49-F238E27FC236}">
                <a16:creationId xmlns:a16="http://schemas.microsoft.com/office/drawing/2014/main" id="{5405354B-0817-6B70-17CE-3477BBD32116}"/>
              </a:ext>
            </a:extLst>
          </p:cNvPr>
          <p:cNvGraphicFramePr>
            <a:graphicFrameLocks noGrp="1"/>
          </p:cNvGraphicFramePr>
          <p:nvPr>
            <p:ph idx="1"/>
            <p:extLst>
              <p:ext uri="{D42A27DB-BD31-4B8C-83A1-F6EECF244321}">
                <p14:modId xmlns:p14="http://schemas.microsoft.com/office/powerpoint/2010/main" val="1859397791"/>
              </p:ext>
            </p:extLst>
          </p:nvPr>
        </p:nvGraphicFramePr>
        <p:xfrm>
          <a:off x="1141413" y="2070620"/>
          <a:ext cx="9905998" cy="4457241"/>
        </p:xfrm>
        <a:graphic>
          <a:graphicData uri="http://schemas.openxmlformats.org/drawingml/2006/table">
            <a:tbl>
              <a:tblPr firstRow="1" bandRow="1">
                <a:tableStyleId>{21E4AEA4-8DFA-4A89-87EB-49C32662AFE0}</a:tableStyleId>
              </a:tblPr>
              <a:tblGrid>
                <a:gridCol w="2485189">
                  <a:extLst>
                    <a:ext uri="{9D8B030D-6E8A-4147-A177-3AD203B41FA5}">
                      <a16:colId xmlns:a16="http://schemas.microsoft.com/office/drawing/2014/main" val="1456417580"/>
                    </a:ext>
                  </a:extLst>
                </a:gridCol>
                <a:gridCol w="7420809">
                  <a:extLst>
                    <a:ext uri="{9D8B030D-6E8A-4147-A177-3AD203B41FA5}">
                      <a16:colId xmlns:a16="http://schemas.microsoft.com/office/drawing/2014/main" val="2522038363"/>
                    </a:ext>
                  </a:extLst>
                </a:gridCol>
              </a:tblGrid>
              <a:tr h="660608">
                <a:tc>
                  <a:txBody>
                    <a:bodyPr/>
                    <a:lstStyle/>
                    <a:p>
                      <a:pPr algn="ctr"/>
                      <a:endParaRPr kumimoji="1" lang="ja-JP" altLang="en-US" sz="4000" b="1" dirty="0">
                        <a:solidFill>
                          <a:schemeClr val="tx1"/>
                        </a:solidFill>
                      </a:endParaRPr>
                    </a:p>
                  </a:txBody>
                  <a:tcPr anchor="ctr"/>
                </a:tc>
                <a:tc>
                  <a:txBody>
                    <a:bodyPr/>
                    <a:lstStyle/>
                    <a:p>
                      <a:pPr algn="ctr"/>
                      <a:r>
                        <a:rPr kumimoji="1" lang="ja-JP" altLang="en-US" sz="2400" b="1" dirty="0">
                          <a:solidFill>
                            <a:schemeClr val="tx1"/>
                          </a:solidFill>
                        </a:rPr>
                        <a:t>内容</a:t>
                      </a:r>
                    </a:p>
                  </a:txBody>
                  <a:tcPr anchor="ctr"/>
                </a:tc>
                <a:extLst>
                  <a:ext uri="{0D108BD9-81ED-4DB2-BD59-A6C34878D82A}">
                    <a16:rowId xmlns:a16="http://schemas.microsoft.com/office/drawing/2014/main" val="1048815967"/>
                  </a:ext>
                </a:extLst>
              </a:tr>
              <a:tr h="1252067">
                <a:tc>
                  <a:txBody>
                    <a:bodyPr/>
                    <a:lstStyle/>
                    <a:p>
                      <a:pPr algn="ctr"/>
                      <a:r>
                        <a:rPr kumimoji="1" lang="ja-JP" altLang="en-US" sz="2800" b="1" dirty="0">
                          <a:solidFill>
                            <a:sysClr val="windowText" lastClr="000000"/>
                          </a:solidFill>
                        </a:rPr>
                        <a:t>目的</a:t>
                      </a:r>
                    </a:p>
                  </a:txBody>
                  <a:tcPr anchor="ctr"/>
                </a:tc>
                <a:tc>
                  <a:txBody>
                    <a:bodyPr/>
                    <a:lstStyle/>
                    <a:p>
                      <a:r>
                        <a:rPr kumimoji="1" lang="ja-JP" altLang="en-US" sz="2200" b="0" dirty="0">
                          <a:solidFill>
                            <a:sysClr val="windowText" lastClr="000000"/>
                          </a:solidFill>
                        </a:rPr>
                        <a:t>ターボエンジン（以下、エンジン）の使用状況から、</a:t>
                      </a:r>
                      <a:endParaRPr kumimoji="1" lang="en-US" altLang="ja-JP" sz="2200" b="0" dirty="0">
                        <a:solidFill>
                          <a:sysClr val="windowText" lastClr="000000"/>
                        </a:solidFill>
                      </a:endParaRPr>
                    </a:p>
                    <a:p>
                      <a:r>
                        <a:rPr kumimoji="1" lang="ja-JP" altLang="en-US" sz="2200" b="0" dirty="0">
                          <a:solidFill>
                            <a:sysClr val="windowText" lastClr="000000"/>
                          </a:solidFill>
                        </a:rPr>
                        <a:t>残存耐用時間（以下、</a:t>
                      </a:r>
                      <a:r>
                        <a:rPr kumimoji="1" lang="en-US" altLang="ja-JP" sz="2200" b="0" dirty="0">
                          <a:solidFill>
                            <a:sysClr val="windowText" lastClr="000000"/>
                          </a:solidFill>
                        </a:rPr>
                        <a:t>RUL</a:t>
                      </a:r>
                      <a:r>
                        <a:rPr kumimoji="1" lang="ja-JP" altLang="en-US" sz="2200" b="0" dirty="0">
                          <a:solidFill>
                            <a:sysClr val="windowText" lastClr="000000"/>
                          </a:solidFill>
                        </a:rPr>
                        <a:t>）の予測するモデルを構築する。</a:t>
                      </a:r>
                    </a:p>
                  </a:txBody>
                  <a:tcPr anchor="ctr"/>
                </a:tc>
                <a:extLst>
                  <a:ext uri="{0D108BD9-81ED-4DB2-BD59-A6C34878D82A}">
                    <a16:rowId xmlns:a16="http://schemas.microsoft.com/office/drawing/2014/main" val="279956427"/>
                  </a:ext>
                </a:extLst>
              </a:tr>
              <a:tr h="1252067">
                <a:tc>
                  <a:txBody>
                    <a:bodyPr/>
                    <a:lstStyle/>
                    <a:p>
                      <a:pPr algn="ctr"/>
                      <a:r>
                        <a:rPr kumimoji="1" lang="ja-JP" altLang="en-US" sz="2800" b="1" dirty="0">
                          <a:solidFill>
                            <a:sysClr val="windowText" lastClr="000000"/>
                          </a:solidFill>
                        </a:rPr>
                        <a:t>選定理由</a:t>
                      </a:r>
                    </a:p>
                  </a:txBody>
                  <a:tcPr anchor="ctr"/>
                </a:tc>
                <a:tc>
                  <a:txBody>
                    <a:bodyPr/>
                    <a:lstStyle/>
                    <a:p>
                      <a:r>
                        <a:rPr kumimoji="1" lang="ja-JP" altLang="en-US" sz="2200" b="0" dirty="0">
                          <a:solidFill>
                            <a:sysClr val="windowText" lastClr="000000"/>
                          </a:solidFill>
                        </a:rPr>
                        <a:t>実運用データから作成されたデータセットを</a:t>
                      </a:r>
                      <a:endParaRPr kumimoji="1" lang="en-US" altLang="ja-JP" sz="2200" b="0" dirty="0">
                        <a:solidFill>
                          <a:sysClr val="windowText" lastClr="000000"/>
                        </a:solidFill>
                      </a:endParaRPr>
                    </a:p>
                    <a:p>
                      <a:r>
                        <a:rPr kumimoji="1" lang="ja-JP" altLang="en-US" sz="2200" b="0" dirty="0">
                          <a:solidFill>
                            <a:sysClr val="windowText" lastClr="000000"/>
                          </a:solidFill>
                        </a:rPr>
                        <a:t>使用できるコンペが</a:t>
                      </a:r>
                      <a:r>
                        <a:rPr kumimoji="1" lang="en-US" altLang="ja-JP" sz="2200" b="0" dirty="0">
                          <a:solidFill>
                            <a:sysClr val="windowText" lastClr="000000"/>
                          </a:solidFill>
                        </a:rPr>
                        <a:t>Nishika</a:t>
                      </a:r>
                      <a:r>
                        <a:rPr kumimoji="1" lang="ja-JP" altLang="en-US" sz="2200" b="0" dirty="0">
                          <a:solidFill>
                            <a:sysClr val="windowText" lastClr="000000"/>
                          </a:solidFill>
                        </a:rPr>
                        <a:t>で公開されていたため。</a:t>
                      </a:r>
                      <a:endParaRPr kumimoji="1" lang="en-US" altLang="ja-JP" sz="2200" b="0" dirty="0">
                        <a:solidFill>
                          <a:sysClr val="windowText" lastClr="000000"/>
                        </a:solidFill>
                      </a:endParaRPr>
                    </a:p>
                  </a:txBody>
                  <a:tcPr anchor="ctr"/>
                </a:tc>
                <a:extLst>
                  <a:ext uri="{0D108BD9-81ED-4DB2-BD59-A6C34878D82A}">
                    <a16:rowId xmlns:a16="http://schemas.microsoft.com/office/drawing/2014/main" val="854223196"/>
                  </a:ext>
                </a:extLst>
              </a:tr>
              <a:tr h="1252067">
                <a:tc>
                  <a:txBody>
                    <a:bodyPr/>
                    <a:lstStyle/>
                    <a:p>
                      <a:pPr algn="ctr"/>
                      <a:r>
                        <a:rPr kumimoji="1" lang="ja-JP" altLang="en-US" sz="2800" b="1" dirty="0">
                          <a:solidFill>
                            <a:sysClr val="windowText" lastClr="000000"/>
                          </a:solidFill>
                        </a:rPr>
                        <a:t>背景</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b="0" dirty="0">
                          <a:solidFill>
                            <a:sysClr val="windowText" lastClr="000000"/>
                          </a:solidFill>
                        </a:rPr>
                        <a:t>・保守効率を高め、時間短縮やコスト削減が可能。</a:t>
                      </a:r>
                    </a:p>
                    <a:p>
                      <a:r>
                        <a:rPr kumimoji="1" lang="ja-JP" altLang="en-US" sz="2200" b="0" dirty="0">
                          <a:solidFill>
                            <a:sysClr val="windowText" lastClr="000000"/>
                          </a:solidFill>
                        </a:rPr>
                        <a:t>・エンジン以外の他の機器にも応用ができる。</a:t>
                      </a:r>
                      <a:endParaRPr kumimoji="1" lang="en-US" altLang="ja-JP" sz="2200" b="0" dirty="0">
                        <a:solidFill>
                          <a:sysClr val="windowText" lastClr="000000"/>
                        </a:solidFill>
                      </a:endParaRPr>
                    </a:p>
                  </a:txBody>
                  <a:tcPr anchor="ctr"/>
                </a:tc>
                <a:extLst>
                  <a:ext uri="{0D108BD9-81ED-4DB2-BD59-A6C34878D82A}">
                    <a16:rowId xmlns:a16="http://schemas.microsoft.com/office/drawing/2014/main" val="850364354"/>
                  </a:ext>
                </a:extLst>
              </a:tr>
            </a:tbl>
          </a:graphicData>
        </a:graphic>
      </p:graphicFrame>
    </p:spTree>
    <p:extLst>
      <p:ext uri="{BB962C8B-B14F-4D97-AF65-F5344CB8AC3E}">
        <p14:creationId xmlns:p14="http://schemas.microsoft.com/office/powerpoint/2010/main" val="144514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A67D90-5C7C-553B-6376-AFBD0C53623D}"/>
              </a:ext>
            </a:extLst>
          </p:cNvPr>
          <p:cNvSpPr>
            <a:spLocks noGrp="1"/>
          </p:cNvSpPr>
          <p:nvPr>
            <p:ph type="title"/>
          </p:nvPr>
        </p:nvSpPr>
        <p:spPr/>
        <p:txBody>
          <a:bodyPr>
            <a:normAutofit/>
          </a:bodyPr>
          <a:lstStyle/>
          <a:p>
            <a:r>
              <a:rPr lang="en-US" altLang="ja-JP" sz="4400" b="1" dirty="0">
                <a:latin typeface="+mj-ea"/>
              </a:rPr>
              <a:t>5.</a:t>
            </a:r>
            <a:r>
              <a:rPr lang="ja-JP" altLang="en-US" sz="4400" b="1" dirty="0">
                <a:latin typeface="+mj-ea"/>
              </a:rPr>
              <a:t> </a:t>
            </a:r>
            <a:r>
              <a:rPr kumimoji="1" lang="ja-JP" altLang="en-US" sz="4400" b="1" dirty="0">
                <a:latin typeface="+mj-ea"/>
              </a:rPr>
              <a:t>データセット</a:t>
            </a:r>
          </a:p>
        </p:txBody>
      </p:sp>
      <p:graphicFrame>
        <p:nvGraphicFramePr>
          <p:cNvPr id="4" name="コンテンツ プレースホルダー 3">
            <a:extLst>
              <a:ext uri="{FF2B5EF4-FFF2-40B4-BE49-F238E27FC236}">
                <a16:creationId xmlns:a16="http://schemas.microsoft.com/office/drawing/2014/main" id="{037FAA21-43AA-6D49-332D-68F8E98BCD9B}"/>
              </a:ext>
            </a:extLst>
          </p:cNvPr>
          <p:cNvGraphicFramePr>
            <a:graphicFrameLocks noGrp="1"/>
          </p:cNvGraphicFramePr>
          <p:nvPr>
            <p:ph idx="1"/>
            <p:extLst>
              <p:ext uri="{D42A27DB-BD31-4B8C-83A1-F6EECF244321}">
                <p14:modId xmlns:p14="http://schemas.microsoft.com/office/powerpoint/2010/main" val="2955235167"/>
              </p:ext>
            </p:extLst>
          </p:nvPr>
        </p:nvGraphicFramePr>
        <p:xfrm>
          <a:off x="1141413" y="1921790"/>
          <a:ext cx="10445162" cy="4604269"/>
        </p:xfrm>
        <a:graphic>
          <a:graphicData uri="http://schemas.openxmlformats.org/drawingml/2006/table">
            <a:tbl>
              <a:tblPr firstRow="1" bandRow="1">
                <a:tableStyleId>{21E4AEA4-8DFA-4A89-87EB-49C32662AFE0}</a:tableStyleId>
              </a:tblPr>
              <a:tblGrid>
                <a:gridCol w="3167540">
                  <a:extLst>
                    <a:ext uri="{9D8B030D-6E8A-4147-A177-3AD203B41FA5}">
                      <a16:colId xmlns:a16="http://schemas.microsoft.com/office/drawing/2014/main" val="2979816794"/>
                    </a:ext>
                  </a:extLst>
                </a:gridCol>
                <a:gridCol w="3702930">
                  <a:extLst>
                    <a:ext uri="{9D8B030D-6E8A-4147-A177-3AD203B41FA5}">
                      <a16:colId xmlns:a16="http://schemas.microsoft.com/office/drawing/2014/main" val="2531258877"/>
                    </a:ext>
                  </a:extLst>
                </a:gridCol>
                <a:gridCol w="3574692">
                  <a:extLst>
                    <a:ext uri="{9D8B030D-6E8A-4147-A177-3AD203B41FA5}">
                      <a16:colId xmlns:a16="http://schemas.microsoft.com/office/drawing/2014/main" val="3549495012"/>
                    </a:ext>
                  </a:extLst>
                </a:gridCol>
              </a:tblGrid>
              <a:tr h="916809">
                <a:tc>
                  <a:txBody>
                    <a:bodyPr/>
                    <a:lstStyle/>
                    <a:p>
                      <a:pPr algn="ctr"/>
                      <a:endParaRPr kumimoji="1" lang="ja-JP" altLang="en-US" sz="2400" dirty="0">
                        <a:latin typeface="+mn-ea"/>
                        <a:ea typeface="+mn-ea"/>
                      </a:endParaRPr>
                    </a:p>
                  </a:txBody>
                  <a:tcPr anchor="ctr"/>
                </a:tc>
                <a:tc>
                  <a:txBody>
                    <a:bodyPr/>
                    <a:lstStyle/>
                    <a:p>
                      <a:pPr algn="ctr"/>
                      <a:r>
                        <a:rPr kumimoji="1" lang="ja-JP" altLang="en-US" sz="2400" b="1" dirty="0">
                          <a:latin typeface="+mn-ea"/>
                          <a:ea typeface="+mn-ea"/>
                        </a:rPr>
                        <a:t>元データ</a:t>
                      </a:r>
                    </a:p>
                  </a:txBody>
                  <a:tcPr anchor="ctr"/>
                </a:tc>
                <a:tc>
                  <a:txBody>
                    <a:bodyPr/>
                    <a:lstStyle/>
                    <a:p>
                      <a:pPr algn="ctr"/>
                      <a:r>
                        <a:rPr kumimoji="1" lang="ja-JP" altLang="en-US" sz="2400" b="1" dirty="0">
                          <a:latin typeface="+mn-ea"/>
                          <a:ea typeface="+mn-ea"/>
                        </a:rPr>
                        <a:t>統計データ</a:t>
                      </a:r>
                    </a:p>
                  </a:txBody>
                  <a:tcPr anchor="ctr"/>
                </a:tc>
                <a:extLst>
                  <a:ext uri="{0D108BD9-81ED-4DB2-BD59-A6C34878D82A}">
                    <a16:rowId xmlns:a16="http://schemas.microsoft.com/office/drawing/2014/main" val="2966137333"/>
                  </a:ext>
                </a:extLst>
              </a:tr>
              <a:tr h="769698">
                <a:tc>
                  <a:txBody>
                    <a:bodyPr/>
                    <a:lstStyle/>
                    <a:p>
                      <a:pPr algn="ctr"/>
                      <a:r>
                        <a:rPr kumimoji="1" lang="ja-JP" altLang="en-US" sz="2800" b="1" dirty="0">
                          <a:latin typeface="+mn-ea"/>
                          <a:ea typeface="+mn-ea"/>
                        </a:rPr>
                        <a:t>概要</a:t>
                      </a:r>
                      <a:endParaRPr kumimoji="1" lang="en-US" altLang="ja-JP" sz="2800" b="1" dirty="0">
                        <a:latin typeface="+mn-ea"/>
                        <a:ea typeface="+mn-ea"/>
                      </a:endParaRPr>
                    </a:p>
                  </a:txBody>
                  <a:tcPr anchor="ctr"/>
                </a:tc>
                <a:tc>
                  <a:txBody>
                    <a:bodyPr/>
                    <a:lstStyle/>
                    <a:p>
                      <a:r>
                        <a:rPr kumimoji="1" lang="ja-JP" altLang="en-US" sz="2200" b="0" dirty="0">
                          <a:latin typeface="+mn-ea"/>
                          <a:ea typeface="+mn-ea"/>
                        </a:rPr>
                        <a:t>エンジンの使用状況のデータ</a:t>
                      </a:r>
                    </a:p>
                  </a:txBody>
                  <a:tcPr anchor="ctr"/>
                </a:tc>
                <a:tc>
                  <a:txBody>
                    <a:bodyPr/>
                    <a:lstStyle/>
                    <a:p>
                      <a:r>
                        <a:rPr kumimoji="1" lang="ja-JP" altLang="en-US" sz="2200" b="0" dirty="0">
                          <a:latin typeface="+mn-ea"/>
                          <a:ea typeface="+mn-ea"/>
                        </a:rPr>
                        <a:t>元データを統計的に</a:t>
                      </a:r>
                      <a:endParaRPr kumimoji="1" lang="en-US" altLang="ja-JP" sz="2200" b="0" dirty="0">
                        <a:latin typeface="+mn-ea"/>
                        <a:ea typeface="+mn-ea"/>
                      </a:endParaRPr>
                    </a:p>
                    <a:p>
                      <a:r>
                        <a:rPr kumimoji="1" lang="ja-JP" altLang="en-US" sz="2200" b="0" dirty="0">
                          <a:latin typeface="+mn-ea"/>
                          <a:ea typeface="+mn-ea"/>
                        </a:rPr>
                        <a:t>まとめたもの</a:t>
                      </a:r>
                    </a:p>
                  </a:txBody>
                  <a:tcPr anchor="ctr"/>
                </a:tc>
                <a:extLst>
                  <a:ext uri="{0D108BD9-81ED-4DB2-BD59-A6C34878D82A}">
                    <a16:rowId xmlns:a16="http://schemas.microsoft.com/office/drawing/2014/main" val="1649947143"/>
                  </a:ext>
                </a:extLst>
              </a:tr>
              <a:tr h="940233">
                <a:tc>
                  <a:txBody>
                    <a:bodyPr/>
                    <a:lstStyle/>
                    <a:p>
                      <a:pPr algn="ctr"/>
                      <a:r>
                        <a:rPr kumimoji="1" lang="ja-JP" altLang="en-US" sz="2800" b="1" dirty="0">
                          <a:latin typeface="+mn-ea"/>
                          <a:ea typeface="+mn-ea"/>
                        </a:rPr>
                        <a:t>件数</a:t>
                      </a:r>
                      <a:endParaRPr kumimoji="1" lang="en-US" altLang="ja-JP" sz="2800" b="1" dirty="0">
                        <a:latin typeface="+mn-ea"/>
                        <a:ea typeface="+mn-ea"/>
                      </a:endParaRPr>
                    </a:p>
                    <a:p>
                      <a:pPr algn="ctr"/>
                      <a:r>
                        <a:rPr kumimoji="1" lang="ja-JP" altLang="en-US" sz="2400" b="1" dirty="0">
                          <a:latin typeface="+mn-ea"/>
                          <a:ea typeface="+mn-ea"/>
                        </a:rPr>
                        <a:t>（カラム数</a:t>
                      </a:r>
                      <a:r>
                        <a:rPr kumimoji="1" lang="en-US" altLang="ja-JP" sz="2400" b="1" dirty="0">
                          <a:latin typeface="+mn-ea"/>
                          <a:ea typeface="+mn-ea"/>
                        </a:rPr>
                        <a:t>/</a:t>
                      </a:r>
                      <a:r>
                        <a:rPr kumimoji="1" lang="ja-JP" altLang="en-US" sz="2400" b="1" dirty="0">
                          <a:latin typeface="+mn-ea"/>
                          <a:ea typeface="+mn-ea"/>
                        </a:rPr>
                        <a:t>レコード数）</a:t>
                      </a:r>
                    </a:p>
                  </a:txBody>
                  <a:tcPr anchor="ctr"/>
                </a:tc>
                <a:tc>
                  <a:txBody>
                    <a:bodyPr/>
                    <a:lstStyle/>
                    <a:p>
                      <a:r>
                        <a:rPr kumimoji="1" lang="en-US" altLang="ja-JP" sz="2200" b="0" dirty="0">
                          <a:latin typeface="+mn-ea"/>
                          <a:ea typeface="+mn-ea"/>
                        </a:rPr>
                        <a:t>46/</a:t>
                      </a:r>
                      <a:r>
                        <a:rPr kumimoji="1" lang="ja-JP" altLang="en-US" sz="2200" b="0" dirty="0">
                          <a:latin typeface="+mn-ea"/>
                          <a:ea typeface="+mn-ea"/>
                        </a:rPr>
                        <a:t>数百万</a:t>
                      </a:r>
                    </a:p>
                  </a:txBody>
                  <a:tcPr anchor="ctr"/>
                </a:tc>
                <a:tc>
                  <a:txBody>
                    <a:bodyPr/>
                    <a:lstStyle/>
                    <a:p>
                      <a:r>
                        <a:rPr kumimoji="1" lang="en-US" altLang="ja-JP" sz="2200" b="0" dirty="0">
                          <a:latin typeface="+mn-ea"/>
                          <a:ea typeface="+mn-ea"/>
                        </a:rPr>
                        <a:t>284/5000</a:t>
                      </a:r>
                      <a:endParaRPr kumimoji="1" lang="ja-JP" altLang="en-US" sz="2200" b="0" dirty="0">
                        <a:latin typeface="+mn-ea"/>
                        <a:ea typeface="+mn-ea"/>
                      </a:endParaRPr>
                    </a:p>
                  </a:txBody>
                  <a:tcPr anchor="ctr"/>
                </a:tc>
                <a:extLst>
                  <a:ext uri="{0D108BD9-81ED-4DB2-BD59-A6C34878D82A}">
                    <a16:rowId xmlns:a16="http://schemas.microsoft.com/office/drawing/2014/main" val="3905553143"/>
                  </a:ext>
                </a:extLst>
              </a:tr>
              <a:tr h="778022">
                <a:tc>
                  <a:txBody>
                    <a:bodyPr/>
                    <a:lstStyle/>
                    <a:p>
                      <a:pPr algn="ctr"/>
                      <a:r>
                        <a:rPr kumimoji="1" lang="ja-JP" altLang="en-US" sz="2800" b="1" dirty="0">
                          <a:latin typeface="+mn-ea"/>
                          <a:ea typeface="+mn-ea"/>
                        </a:rPr>
                        <a:t>目的変数</a:t>
                      </a:r>
                    </a:p>
                  </a:txBody>
                  <a:tcPr anchor="ctr"/>
                </a:tc>
                <a:tc gridSpan="2">
                  <a:txBody>
                    <a:bodyPr/>
                    <a:lstStyle/>
                    <a:p>
                      <a:r>
                        <a:rPr kumimoji="1" lang="ja-JP" altLang="en-US" sz="2200" b="0" dirty="0">
                          <a:latin typeface="+mn-ea"/>
                          <a:ea typeface="+mn-ea"/>
                        </a:rPr>
                        <a:t>目的変数</a:t>
                      </a:r>
                      <a:r>
                        <a:rPr kumimoji="1" lang="en-US" altLang="ja-JP" sz="2200" b="0" dirty="0">
                          <a:latin typeface="+mn-ea"/>
                          <a:ea typeface="+mn-ea"/>
                        </a:rPr>
                        <a:t>Y</a:t>
                      </a:r>
                      <a:r>
                        <a:rPr kumimoji="1" lang="ja-JP" altLang="en-US" sz="2200" b="0" dirty="0">
                          <a:latin typeface="+mn-ea"/>
                          <a:ea typeface="+mn-ea"/>
                        </a:rPr>
                        <a:t>＝</a:t>
                      </a:r>
                      <a:r>
                        <a:rPr kumimoji="1" lang="en-US" altLang="ja-JP" sz="2200" b="0" dirty="0">
                          <a:latin typeface="+mn-ea"/>
                          <a:ea typeface="+mn-ea"/>
                        </a:rPr>
                        <a:t>RUL</a:t>
                      </a:r>
                      <a:endParaRPr kumimoji="1" lang="ja-JP" altLang="en-US" sz="2200" b="0" dirty="0">
                        <a:latin typeface="+mn-ea"/>
                        <a:ea typeface="+mn-ea"/>
                      </a:endParaRPr>
                    </a:p>
                  </a:txBody>
                  <a:tcPr anchor="ctr"/>
                </a:tc>
                <a:tc hMerge="1">
                  <a:txBody>
                    <a:bodyPr/>
                    <a:lstStyle/>
                    <a:p>
                      <a:endParaRPr kumimoji="1" lang="ja-JP" altLang="en-US" dirty="0"/>
                    </a:p>
                  </a:txBody>
                  <a:tcPr/>
                </a:tc>
                <a:extLst>
                  <a:ext uri="{0D108BD9-81ED-4DB2-BD59-A6C34878D82A}">
                    <a16:rowId xmlns:a16="http://schemas.microsoft.com/office/drawing/2014/main" val="2213219286"/>
                  </a:ext>
                </a:extLst>
              </a:tr>
              <a:tr h="1199507">
                <a:tc>
                  <a:txBody>
                    <a:bodyPr/>
                    <a:lstStyle/>
                    <a:p>
                      <a:pPr algn="ctr"/>
                      <a:r>
                        <a:rPr kumimoji="1" lang="ja-JP" altLang="en-US" sz="2800" b="1" dirty="0">
                          <a:latin typeface="+mn-ea"/>
                          <a:ea typeface="+mn-ea"/>
                        </a:rPr>
                        <a:t>備考</a:t>
                      </a:r>
                    </a:p>
                  </a:txBody>
                  <a:tcPr anchor="ctr"/>
                </a:tc>
                <a:tc gridSpan="2">
                  <a:txBody>
                    <a:bodyPr/>
                    <a:lstStyle/>
                    <a:p>
                      <a:r>
                        <a:rPr kumimoji="1" lang="ja-JP" altLang="en-US" sz="2200" b="0" dirty="0">
                          <a:latin typeface="+mn-ea"/>
                          <a:ea typeface="+mn-ea"/>
                        </a:rPr>
                        <a:t>・エンジン名ごとにファイルが分かれている。</a:t>
                      </a:r>
                      <a:endParaRPr kumimoji="1" lang="en-US" altLang="ja-JP" sz="2200" b="0" dirty="0">
                        <a:latin typeface="+mn-ea"/>
                        <a:ea typeface="+mn-ea"/>
                      </a:endParaRPr>
                    </a:p>
                    <a:p>
                      <a:r>
                        <a:rPr kumimoji="1" lang="ja-JP" altLang="en-US" sz="2200" b="0" dirty="0">
                          <a:latin typeface="+mn-ea"/>
                          <a:ea typeface="+mn-ea"/>
                        </a:rPr>
                        <a:t>・</a:t>
                      </a:r>
                      <a:r>
                        <a:rPr kumimoji="1" lang="en-US" altLang="ja-JP" sz="2200" b="0" dirty="0">
                          <a:latin typeface="+mn-ea"/>
                          <a:ea typeface="+mn-ea"/>
                        </a:rPr>
                        <a:t>unit</a:t>
                      </a:r>
                      <a:r>
                        <a:rPr kumimoji="1" lang="ja-JP" altLang="en-US" sz="2200" b="0" dirty="0">
                          <a:latin typeface="+mn-ea"/>
                          <a:ea typeface="+mn-ea"/>
                        </a:rPr>
                        <a:t>と</a:t>
                      </a:r>
                      <a:r>
                        <a:rPr kumimoji="1" lang="en-US" altLang="ja-JP" sz="2200" b="0" dirty="0">
                          <a:latin typeface="+mn-ea"/>
                          <a:ea typeface="+mn-ea"/>
                        </a:rPr>
                        <a:t>cycle</a:t>
                      </a:r>
                      <a:r>
                        <a:rPr kumimoji="1" lang="ja-JP" altLang="en-US" sz="2200" b="0" dirty="0">
                          <a:latin typeface="+mn-ea"/>
                          <a:ea typeface="+mn-ea"/>
                        </a:rPr>
                        <a:t>というカラムが存在する。</a:t>
                      </a:r>
                      <a:endParaRPr kumimoji="1" lang="en-US" altLang="ja-JP" sz="2200" b="0" dirty="0">
                        <a:latin typeface="+mn-ea"/>
                        <a:ea typeface="+mn-ea"/>
                      </a:endParaRPr>
                    </a:p>
                    <a:p>
                      <a:r>
                        <a:rPr kumimoji="1" lang="ja-JP" altLang="en-US" sz="2200" b="0" dirty="0">
                          <a:latin typeface="+mn-ea"/>
                          <a:ea typeface="+mn-ea"/>
                        </a:rPr>
                        <a:t>・エンジン名＋</a:t>
                      </a:r>
                      <a:r>
                        <a:rPr kumimoji="1" lang="en-US" altLang="ja-JP" sz="2200" b="0" dirty="0">
                          <a:latin typeface="+mn-ea"/>
                          <a:ea typeface="+mn-ea"/>
                        </a:rPr>
                        <a:t>unit</a:t>
                      </a:r>
                      <a:r>
                        <a:rPr kumimoji="1" lang="ja-JP" altLang="en-US" sz="2200" b="0" dirty="0">
                          <a:latin typeface="+mn-ea"/>
                          <a:ea typeface="+mn-ea"/>
                        </a:rPr>
                        <a:t>で</a:t>
                      </a:r>
                      <a:r>
                        <a:rPr kumimoji="1" lang="en-US" altLang="ja-JP" sz="2200" b="0" dirty="0">
                          <a:latin typeface="+mn-ea"/>
                          <a:ea typeface="+mn-ea"/>
                        </a:rPr>
                        <a:t>RUL</a:t>
                      </a:r>
                      <a:r>
                        <a:rPr kumimoji="1" lang="ja-JP" altLang="en-US" sz="2200" b="0" dirty="0">
                          <a:latin typeface="+mn-ea"/>
                          <a:ea typeface="+mn-ea"/>
                        </a:rPr>
                        <a:t>の予測をする。</a:t>
                      </a:r>
                    </a:p>
                  </a:txBody>
                  <a:tcPr anchor="ctr"/>
                </a:tc>
                <a:tc hMerge="1">
                  <a:txBody>
                    <a:bodyPr/>
                    <a:lstStyle/>
                    <a:p>
                      <a:endParaRPr kumimoji="1" lang="ja-JP" altLang="en-US" dirty="0"/>
                    </a:p>
                  </a:txBody>
                  <a:tcPr/>
                </a:tc>
                <a:extLst>
                  <a:ext uri="{0D108BD9-81ED-4DB2-BD59-A6C34878D82A}">
                    <a16:rowId xmlns:a16="http://schemas.microsoft.com/office/drawing/2014/main" val="2638250289"/>
                  </a:ext>
                </a:extLst>
              </a:tr>
            </a:tbl>
          </a:graphicData>
        </a:graphic>
      </p:graphicFrame>
    </p:spTree>
    <p:extLst>
      <p:ext uri="{BB962C8B-B14F-4D97-AF65-F5344CB8AC3E}">
        <p14:creationId xmlns:p14="http://schemas.microsoft.com/office/powerpoint/2010/main" val="334881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E6ACD0-01FC-CB3B-3118-C57390D04B5F}"/>
              </a:ext>
            </a:extLst>
          </p:cNvPr>
          <p:cNvSpPr>
            <a:spLocks noGrp="1"/>
          </p:cNvSpPr>
          <p:nvPr>
            <p:ph type="title"/>
          </p:nvPr>
        </p:nvSpPr>
        <p:spPr/>
        <p:txBody>
          <a:bodyPr>
            <a:normAutofit/>
          </a:bodyPr>
          <a:lstStyle/>
          <a:p>
            <a:r>
              <a:rPr lang="en-US" altLang="ja-JP" sz="4400" b="1" dirty="0">
                <a:latin typeface="+mj-ea"/>
              </a:rPr>
              <a:t>6. </a:t>
            </a:r>
            <a:r>
              <a:rPr lang="ja-JP" altLang="en-US" sz="4400" b="1" dirty="0">
                <a:latin typeface="+mj-ea"/>
              </a:rPr>
              <a:t>実行</a:t>
            </a:r>
            <a:r>
              <a:rPr kumimoji="1" lang="ja-JP" altLang="en-US" sz="4400" b="1" dirty="0">
                <a:latin typeface="+mj-ea"/>
              </a:rPr>
              <a:t>環境・言語</a:t>
            </a:r>
          </a:p>
        </p:txBody>
      </p:sp>
      <p:graphicFrame>
        <p:nvGraphicFramePr>
          <p:cNvPr id="4" name="コンテンツ プレースホルダー 3">
            <a:extLst>
              <a:ext uri="{FF2B5EF4-FFF2-40B4-BE49-F238E27FC236}">
                <a16:creationId xmlns:a16="http://schemas.microsoft.com/office/drawing/2014/main" id="{37B8CE7A-AC3A-F8DF-5AD8-580FF4B4F9F1}"/>
              </a:ext>
            </a:extLst>
          </p:cNvPr>
          <p:cNvGraphicFramePr>
            <a:graphicFrameLocks noGrp="1"/>
          </p:cNvGraphicFramePr>
          <p:nvPr>
            <p:ph idx="1"/>
            <p:extLst>
              <p:ext uri="{D42A27DB-BD31-4B8C-83A1-F6EECF244321}">
                <p14:modId xmlns:p14="http://schemas.microsoft.com/office/powerpoint/2010/main" val="3344739236"/>
              </p:ext>
            </p:extLst>
          </p:nvPr>
        </p:nvGraphicFramePr>
        <p:xfrm>
          <a:off x="1141413" y="2097089"/>
          <a:ext cx="9906000" cy="4243016"/>
        </p:xfrm>
        <a:graphic>
          <a:graphicData uri="http://schemas.openxmlformats.org/drawingml/2006/table">
            <a:tbl>
              <a:tblPr firstRow="1" bandRow="1">
                <a:tableStyleId>{21E4AEA4-8DFA-4A89-87EB-49C32662AFE0}</a:tableStyleId>
              </a:tblPr>
              <a:tblGrid>
                <a:gridCol w="2718318">
                  <a:extLst>
                    <a:ext uri="{9D8B030D-6E8A-4147-A177-3AD203B41FA5}">
                      <a16:colId xmlns:a16="http://schemas.microsoft.com/office/drawing/2014/main" val="2273007596"/>
                    </a:ext>
                  </a:extLst>
                </a:gridCol>
                <a:gridCol w="7187682">
                  <a:extLst>
                    <a:ext uri="{9D8B030D-6E8A-4147-A177-3AD203B41FA5}">
                      <a16:colId xmlns:a16="http://schemas.microsoft.com/office/drawing/2014/main" val="110826035"/>
                    </a:ext>
                  </a:extLst>
                </a:gridCol>
              </a:tblGrid>
              <a:tr h="464288">
                <a:tc>
                  <a:txBody>
                    <a:bodyPr/>
                    <a:lstStyle/>
                    <a:p>
                      <a:endParaRPr kumimoji="1" lang="ja-JP" altLang="en-US" dirty="0">
                        <a:latin typeface="+mn-ea"/>
                        <a:ea typeface="+mn-ea"/>
                      </a:endParaRPr>
                    </a:p>
                  </a:txBody>
                  <a:tcPr/>
                </a:tc>
                <a:tc>
                  <a:txBody>
                    <a:bodyPr/>
                    <a:lstStyle/>
                    <a:p>
                      <a:endParaRPr kumimoji="1" lang="ja-JP" altLang="en-US" dirty="0">
                        <a:latin typeface="+mn-ea"/>
                        <a:ea typeface="+mn-ea"/>
                      </a:endParaRPr>
                    </a:p>
                  </a:txBody>
                  <a:tcPr/>
                </a:tc>
                <a:extLst>
                  <a:ext uri="{0D108BD9-81ED-4DB2-BD59-A6C34878D82A}">
                    <a16:rowId xmlns:a16="http://schemas.microsoft.com/office/drawing/2014/main" val="1310825858"/>
                  </a:ext>
                </a:extLst>
              </a:tr>
              <a:tr h="944616">
                <a:tc>
                  <a:txBody>
                    <a:bodyPr/>
                    <a:lstStyle/>
                    <a:p>
                      <a:pPr algn="ctr"/>
                      <a:r>
                        <a:rPr kumimoji="1" lang="ja-JP" altLang="en-US" sz="2800" b="1" dirty="0">
                          <a:latin typeface="+mn-ea"/>
                          <a:ea typeface="+mn-ea"/>
                        </a:rPr>
                        <a:t>使用言語</a:t>
                      </a:r>
                    </a:p>
                  </a:txBody>
                  <a:tcPr anchor="ctr"/>
                </a:tc>
                <a:tc>
                  <a:txBody>
                    <a:bodyPr/>
                    <a:lstStyle/>
                    <a:p>
                      <a:r>
                        <a:rPr kumimoji="1" lang="en-US" altLang="ja-JP" sz="2200" dirty="0">
                          <a:latin typeface="+mn-ea"/>
                          <a:ea typeface="+mn-ea"/>
                        </a:rPr>
                        <a:t>Python</a:t>
                      </a:r>
                      <a:r>
                        <a:rPr kumimoji="1" lang="ja-JP" altLang="en-US" sz="2200" dirty="0">
                          <a:latin typeface="+mn-ea"/>
                          <a:ea typeface="+mn-ea"/>
                        </a:rPr>
                        <a:t> </a:t>
                      </a:r>
                      <a:r>
                        <a:rPr kumimoji="1" lang="en-US" altLang="ja-JP" sz="2200" dirty="0">
                          <a:latin typeface="+mn-ea"/>
                          <a:ea typeface="+mn-ea"/>
                        </a:rPr>
                        <a:t>3.11.11</a:t>
                      </a:r>
                      <a:endParaRPr kumimoji="1" lang="ja-JP" altLang="en-US" sz="2200" dirty="0">
                        <a:latin typeface="+mn-ea"/>
                        <a:ea typeface="+mn-ea"/>
                      </a:endParaRPr>
                    </a:p>
                  </a:txBody>
                  <a:tcPr anchor="ctr"/>
                </a:tc>
                <a:extLst>
                  <a:ext uri="{0D108BD9-81ED-4DB2-BD59-A6C34878D82A}">
                    <a16:rowId xmlns:a16="http://schemas.microsoft.com/office/drawing/2014/main" val="3836629349"/>
                  </a:ext>
                </a:extLst>
              </a:tr>
              <a:tr h="944616">
                <a:tc>
                  <a:txBody>
                    <a:bodyPr/>
                    <a:lstStyle/>
                    <a:p>
                      <a:pPr algn="ctr"/>
                      <a:r>
                        <a:rPr kumimoji="1" lang="ja-JP" altLang="en-US" sz="2800" b="1" dirty="0">
                          <a:latin typeface="+mn-ea"/>
                          <a:ea typeface="+mn-ea"/>
                        </a:rPr>
                        <a:t>実行環境</a:t>
                      </a:r>
                    </a:p>
                  </a:txBody>
                  <a:tcPr anchor="ctr"/>
                </a:tc>
                <a:tc>
                  <a:txBody>
                    <a:bodyPr/>
                    <a:lstStyle/>
                    <a:p>
                      <a:r>
                        <a:rPr kumimoji="1" lang="en-US" altLang="ja-JP" sz="2200" dirty="0">
                          <a:latin typeface="+mn-ea"/>
                          <a:ea typeface="+mn-ea"/>
                        </a:rPr>
                        <a:t>Google </a:t>
                      </a:r>
                      <a:r>
                        <a:rPr kumimoji="1" lang="en-US" altLang="ja-JP" sz="2200" dirty="0" err="1">
                          <a:latin typeface="+mn-ea"/>
                          <a:ea typeface="+mn-ea"/>
                        </a:rPr>
                        <a:t>Colaboratory</a:t>
                      </a:r>
                      <a:endParaRPr kumimoji="1" lang="ja-JP" altLang="en-US" sz="2200" dirty="0">
                        <a:latin typeface="+mn-ea"/>
                        <a:ea typeface="+mn-ea"/>
                      </a:endParaRPr>
                    </a:p>
                  </a:txBody>
                  <a:tcPr anchor="ctr"/>
                </a:tc>
                <a:extLst>
                  <a:ext uri="{0D108BD9-81ED-4DB2-BD59-A6C34878D82A}">
                    <a16:rowId xmlns:a16="http://schemas.microsoft.com/office/drawing/2014/main" val="1657480540"/>
                  </a:ext>
                </a:extLst>
              </a:tr>
              <a:tr h="944616">
                <a:tc>
                  <a:txBody>
                    <a:bodyPr/>
                    <a:lstStyle/>
                    <a:p>
                      <a:pPr algn="ctr"/>
                      <a:r>
                        <a:rPr kumimoji="1" lang="ja-JP" altLang="en-US" sz="2800" b="1" dirty="0">
                          <a:latin typeface="+mn-ea"/>
                          <a:ea typeface="+mn-ea"/>
                        </a:rPr>
                        <a:t>使用した</a:t>
                      </a:r>
                      <a:endParaRPr kumimoji="1" lang="en-US" altLang="ja-JP" sz="2800" b="1" dirty="0">
                        <a:latin typeface="+mn-ea"/>
                        <a:ea typeface="+mn-ea"/>
                      </a:endParaRPr>
                    </a:p>
                    <a:p>
                      <a:pPr algn="ctr"/>
                      <a:r>
                        <a:rPr kumimoji="1" lang="ja-JP" altLang="en-US" sz="2800" b="1" dirty="0">
                          <a:latin typeface="+mn-ea"/>
                          <a:ea typeface="+mn-ea"/>
                        </a:rPr>
                        <a:t>学習モデル</a:t>
                      </a:r>
                    </a:p>
                  </a:txBody>
                  <a:tcPr anchor="ctr"/>
                </a:tc>
                <a:tc>
                  <a:txBody>
                    <a:bodyPr/>
                    <a:lstStyle/>
                    <a:p>
                      <a:r>
                        <a:rPr kumimoji="1" lang="en-US" altLang="ja-JP" sz="2200" dirty="0" err="1">
                          <a:latin typeface="+mn-ea"/>
                          <a:ea typeface="+mn-ea"/>
                        </a:rPr>
                        <a:t>LightGBM</a:t>
                      </a:r>
                      <a:r>
                        <a:rPr kumimoji="1" lang="ja-JP" altLang="en-US" sz="2200" dirty="0">
                          <a:latin typeface="+mn-ea"/>
                          <a:ea typeface="+mn-ea"/>
                        </a:rPr>
                        <a:t>、</a:t>
                      </a:r>
                      <a:r>
                        <a:rPr kumimoji="1" lang="en-US" altLang="ja-JP" sz="2200" dirty="0" err="1">
                          <a:latin typeface="+mn-ea"/>
                          <a:ea typeface="+mn-ea"/>
                        </a:rPr>
                        <a:t>XGBoost</a:t>
                      </a:r>
                      <a:r>
                        <a:rPr kumimoji="1" lang="ja-JP" altLang="en-US" sz="2200" dirty="0">
                          <a:latin typeface="+mn-ea"/>
                          <a:ea typeface="+mn-ea"/>
                        </a:rPr>
                        <a:t>、</a:t>
                      </a:r>
                      <a:r>
                        <a:rPr kumimoji="1" lang="en-US" altLang="ja-JP" sz="2200" dirty="0" err="1">
                          <a:latin typeface="+mn-ea"/>
                          <a:ea typeface="+mn-ea"/>
                        </a:rPr>
                        <a:t>CatBoost</a:t>
                      </a:r>
                      <a:r>
                        <a:rPr kumimoji="1" lang="ja-JP" altLang="en-US" sz="2200" dirty="0">
                          <a:latin typeface="+mn-ea"/>
                          <a:ea typeface="+mn-ea"/>
                        </a:rPr>
                        <a:t>、ランダムフォレスト</a:t>
                      </a:r>
                    </a:p>
                  </a:txBody>
                  <a:tcPr anchor="ctr"/>
                </a:tc>
                <a:extLst>
                  <a:ext uri="{0D108BD9-81ED-4DB2-BD59-A6C34878D82A}">
                    <a16:rowId xmlns:a16="http://schemas.microsoft.com/office/drawing/2014/main" val="3173311702"/>
                  </a:ext>
                </a:extLst>
              </a:tr>
              <a:tr h="944616">
                <a:tc>
                  <a:txBody>
                    <a:bodyPr/>
                    <a:lstStyle/>
                    <a:p>
                      <a:pPr algn="ctr"/>
                      <a:r>
                        <a:rPr kumimoji="1" lang="ja-JP" altLang="en-US" sz="2800" b="1" dirty="0">
                          <a:latin typeface="+mn-ea"/>
                          <a:ea typeface="+mn-ea"/>
                        </a:rPr>
                        <a:t>作業日数</a:t>
                      </a:r>
                    </a:p>
                  </a:txBody>
                  <a:tcPr anchor="ctr"/>
                </a:tc>
                <a:tc>
                  <a:txBody>
                    <a:bodyPr/>
                    <a:lstStyle/>
                    <a:p>
                      <a:r>
                        <a:rPr kumimoji="1" lang="en-US" altLang="ja-JP" sz="2200" dirty="0">
                          <a:latin typeface="+mn-ea"/>
                          <a:ea typeface="+mn-ea"/>
                        </a:rPr>
                        <a:t>30</a:t>
                      </a:r>
                      <a:r>
                        <a:rPr kumimoji="1" lang="ja-JP" altLang="en-US" sz="2200" dirty="0">
                          <a:latin typeface="+mn-ea"/>
                          <a:ea typeface="+mn-ea"/>
                        </a:rPr>
                        <a:t>日間</a:t>
                      </a:r>
                      <a:endParaRPr kumimoji="1" lang="en-US" altLang="ja-JP" sz="2200" dirty="0">
                        <a:latin typeface="+mn-ea"/>
                        <a:ea typeface="+mn-ea"/>
                      </a:endParaRPr>
                    </a:p>
                    <a:p>
                      <a:r>
                        <a:rPr kumimoji="1" lang="ja-JP" altLang="en-US" sz="2200" dirty="0">
                          <a:latin typeface="+mn-ea"/>
                          <a:ea typeface="+mn-ea"/>
                        </a:rPr>
                        <a:t>（データ理解</a:t>
                      </a:r>
                      <a:r>
                        <a:rPr kumimoji="1" lang="en-US" altLang="ja-JP" sz="2200" dirty="0">
                          <a:latin typeface="+mn-ea"/>
                          <a:ea typeface="+mn-ea"/>
                        </a:rPr>
                        <a:t>5</a:t>
                      </a:r>
                      <a:r>
                        <a:rPr kumimoji="1" lang="ja-JP" altLang="en-US" sz="2200" dirty="0">
                          <a:latin typeface="+mn-ea"/>
                          <a:ea typeface="+mn-ea"/>
                        </a:rPr>
                        <a:t>日、分析</a:t>
                      </a:r>
                      <a:r>
                        <a:rPr kumimoji="1" lang="en-US" altLang="ja-JP" sz="2200" dirty="0">
                          <a:latin typeface="+mn-ea"/>
                          <a:ea typeface="+mn-ea"/>
                        </a:rPr>
                        <a:t>20</a:t>
                      </a:r>
                      <a:r>
                        <a:rPr kumimoji="1" lang="ja-JP" altLang="en-US" sz="2200" dirty="0">
                          <a:latin typeface="+mn-ea"/>
                          <a:ea typeface="+mn-ea"/>
                        </a:rPr>
                        <a:t>日、スライド制作</a:t>
                      </a:r>
                      <a:r>
                        <a:rPr kumimoji="1" lang="en-US" altLang="ja-JP" sz="2200" dirty="0">
                          <a:latin typeface="+mn-ea"/>
                          <a:ea typeface="+mn-ea"/>
                        </a:rPr>
                        <a:t>5</a:t>
                      </a:r>
                      <a:r>
                        <a:rPr kumimoji="1" lang="ja-JP" altLang="en-US" sz="2200" dirty="0">
                          <a:latin typeface="+mn-ea"/>
                          <a:ea typeface="+mn-ea"/>
                        </a:rPr>
                        <a:t>日）</a:t>
                      </a:r>
                    </a:p>
                  </a:txBody>
                  <a:tcPr anchor="ctr"/>
                </a:tc>
                <a:extLst>
                  <a:ext uri="{0D108BD9-81ED-4DB2-BD59-A6C34878D82A}">
                    <a16:rowId xmlns:a16="http://schemas.microsoft.com/office/drawing/2014/main" val="4070313111"/>
                  </a:ext>
                </a:extLst>
              </a:tr>
            </a:tbl>
          </a:graphicData>
        </a:graphic>
      </p:graphicFrame>
    </p:spTree>
    <p:extLst>
      <p:ext uri="{BB962C8B-B14F-4D97-AF65-F5344CB8AC3E}">
        <p14:creationId xmlns:p14="http://schemas.microsoft.com/office/powerpoint/2010/main" val="2138082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タイトル 14">
            <a:extLst>
              <a:ext uri="{FF2B5EF4-FFF2-40B4-BE49-F238E27FC236}">
                <a16:creationId xmlns:a16="http://schemas.microsoft.com/office/drawing/2014/main" id="{8D84DBAA-7073-A0E0-60CC-05AC40062D5E}"/>
              </a:ext>
            </a:extLst>
          </p:cNvPr>
          <p:cNvSpPr>
            <a:spLocks noGrp="1"/>
          </p:cNvSpPr>
          <p:nvPr>
            <p:ph type="title"/>
          </p:nvPr>
        </p:nvSpPr>
        <p:spPr/>
        <p:txBody>
          <a:bodyPr>
            <a:normAutofit/>
          </a:bodyPr>
          <a:lstStyle/>
          <a:p>
            <a:r>
              <a:rPr lang="en-US" altLang="ja-JP" sz="4400" b="1" dirty="0">
                <a:latin typeface="+mj-ea"/>
              </a:rPr>
              <a:t>7. </a:t>
            </a:r>
            <a:r>
              <a:rPr lang="ja-JP" altLang="en-US" sz="4400" b="1" dirty="0">
                <a:latin typeface="+mj-ea"/>
              </a:rPr>
              <a:t>作業フロー</a:t>
            </a:r>
          </a:p>
        </p:txBody>
      </p:sp>
      <p:graphicFrame>
        <p:nvGraphicFramePr>
          <p:cNvPr id="19" name="コンテンツ プレースホルダー 18">
            <a:extLst>
              <a:ext uri="{FF2B5EF4-FFF2-40B4-BE49-F238E27FC236}">
                <a16:creationId xmlns:a16="http://schemas.microsoft.com/office/drawing/2014/main" id="{A2C78CFC-449C-EF4B-A711-D5BC7C9F7CB3}"/>
              </a:ext>
            </a:extLst>
          </p:cNvPr>
          <p:cNvGraphicFramePr>
            <a:graphicFrameLocks noGrp="1"/>
          </p:cNvGraphicFramePr>
          <p:nvPr>
            <p:ph idx="1"/>
            <p:extLst>
              <p:ext uri="{D42A27DB-BD31-4B8C-83A1-F6EECF244321}">
                <p14:modId xmlns:p14="http://schemas.microsoft.com/office/powerpoint/2010/main" val="1024831071"/>
              </p:ext>
            </p:extLst>
          </p:nvPr>
        </p:nvGraphicFramePr>
        <p:xfrm>
          <a:off x="1141411" y="3164405"/>
          <a:ext cx="9906000" cy="22936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3" name="グラフィックス 22" descr="ツール">
            <a:extLst>
              <a:ext uri="{FF2B5EF4-FFF2-40B4-BE49-F238E27FC236}">
                <a16:creationId xmlns:a16="http://schemas.microsoft.com/office/drawing/2014/main" id="{2C521434-EAF4-5AA1-7155-73204BFA14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01550" y="2097088"/>
            <a:ext cx="914399" cy="914400"/>
          </a:xfrm>
          <a:prstGeom prst="rect">
            <a:avLst/>
          </a:prstGeom>
        </p:spPr>
      </p:pic>
      <p:pic>
        <p:nvPicPr>
          <p:cNvPr id="25" name="グラフィックス 24" descr="ハンマー">
            <a:extLst>
              <a:ext uri="{FF2B5EF4-FFF2-40B4-BE49-F238E27FC236}">
                <a16:creationId xmlns:a16="http://schemas.microsoft.com/office/drawing/2014/main" id="{9EE0A4E5-6A14-69CA-140B-F9D5F7BEDE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50130" y="2097088"/>
            <a:ext cx="914400" cy="914400"/>
          </a:xfrm>
          <a:prstGeom prst="rect">
            <a:avLst/>
          </a:prstGeom>
        </p:spPr>
      </p:pic>
      <p:pic>
        <p:nvPicPr>
          <p:cNvPr id="27" name="グラフィックス 26" descr="目">
            <a:extLst>
              <a:ext uri="{FF2B5EF4-FFF2-40B4-BE49-F238E27FC236}">
                <a16:creationId xmlns:a16="http://schemas.microsoft.com/office/drawing/2014/main" id="{ED8A8B7A-51ED-B4D6-906C-F946361E67C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627586" y="2110916"/>
            <a:ext cx="914400" cy="914400"/>
          </a:xfrm>
          <a:prstGeom prst="rect">
            <a:avLst/>
          </a:prstGeom>
        </p:spPr>
      </p:pic>
      <p:pic>
        <p:nvPicPr>
          <p:cNvPr id="29" name="グラフィックス 28" descr="本">
            <a:extLst>
              <a:ext uri="{FF2B5EF4-FFF2-40B4-BE49-F238E27FC236}">
                <a16:creationId xmlns:a16="http://schemas.microsoft.com/office/drawing/2014/main" id="{9F630C13-1351-FCFC-A05D-0541B3BE154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724292" y="2124745"/>
            <a:ext cx="914400" cy="914400"/>
          </a:xfrm>
          <a:prstGeom prst="rect">
            <a:avLst/>
          </a:prstGeom>
        </p:spPr>
      </p:pic>
      <p:pic>
        <p:nvPicPr>
          <p:cNvPr id="31" name="グラフィックス 30" descr="送信">
            <a:extLst>
              <a:ext uri="{FF2B5EF4-FFF2-40B4-BE49-F238E27FC236}">
                <a16:creationId xmlns:a16="http://schemas.microsoft.com/office/drawing/2014/main" id="{6C9A61F7-DE59-7761-47DB-2A24F715F6A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816178" y="2097088"/>
            <a:ext cx="914400" cy="914400"/>
          </a:xfrm>
          <a:prstGeom prst="rect">
            <a:avLst/>
          </a:prstGeom>
        </p:spPr>
      </p:pic>
    </p:spTree>
    <p:extLst>
      <p:ext uri="{BB962C8B-B14F-4D97-AF65-F5344CB8AC3E}">
        <p14:creationId xmlns:p14="http://schemas.microsoft.com/office/powerpoint/2010/main" val="3492162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F97F3C-26D0-A5EA-F590-B70DE50B67EA}"/>
              </a:ext>
            </a:extLst>
          </p:cNvPr>
          <p:cNvSpPr>
            <a:spLocks noGrp="1"/>
          </p:cNvSpPr>
          <p:nvPr>
            <p:ph type="title"/>
          </p:nvPr>
        </p:nvSpPr>
        <p:spPr/>
        <p:txBody>
          <a:bodyPr>
            <a:normAutofit/>
          </a:bodyPr>
          <a:lstStyle/>
          <a:p>
            <a:r>
              <a:rPr lang="en-US" altLang="ja-JP" sz="4400" b="1" dirty="0">
                <a:latin typeface="+mj-ea"/>
              </a:rPr>
              <a:t>8.</a:t>
            </a:r>
            <a:r>
              <a:rPr lang="ja-JP" altLang="en-US" sz="4400" b="1" dirty="0">
                <a:latin typeface="+mj-ea"/>
              </a:rPr>
              <a:t> </a:t>
            </a:r>
            <a:r>
              <a:rPr kumimoji="1" lang="ja-JP" altLang="en-US" sz="4400" b="1" dirty="0">
                <a:latin typeface="+mj-ea"/>
              </a:rPr>
              <a:t>結果</a:t>
            </a:r>
          </a:p>
        </p:txBody>
      </p:sp>
      <p:graphicFrame>
        <p:nvGraphicFramePr>
          <p:cNvPr id="4" name="コンテンツ プレースホルダー 3">
            <a:extLst>
              <a:ext uri="{FF2B5EF4-FFF2-40B4-BE49-F238E27FC236}">
                <a16:creationId xmlns:a16="http://schemas.microsoft.com/office/drawing/2014/main" id="{D4F3C6F3-6A2D-A3EF-AFE0-15846266D4F4}"/>
              </a:ext>
            </a:extLst>
          </p:cNvPr>
          <p:cNvGraphicFramePr>
            <a:graphicFrameLocks noGrp="1"/>
          </p:cNvGraphicFramePr>
          <p:nvPr>
            <p:ph idx="1"/>
            <p:extLst>
              <p:ext uri="{D42A27DB-BD31-4B8C-83A1-F6EECF244321}">
                <p14:modId xmlns:p14="http://schemas.microsoft.com/office/powerpoint/2010/main" val="4191889848"/>
              </p:ext>
            </p:extLst>
          </p:nvPr>
        </p:nvGraphicFramePr>
        <p:xfrm>
          <a:off x="1141413" y="1971040"/>
          <a:ext cx="9906000" cy="4409441"/>
        </p:xfrm>
        <a:graphic>
          <a:graphicData uri="http://schemas.openxmlformats.org/drawingml/2006/table">
            <a:tbl>
              <a:tblPr firstRow="1" bandRow="1">
                <a:tableStyleId>{21E4AEA4-8DFA-4A89-87EB-49C32662AFE0}</a:tableStyleId>
              </a:tblPr>
              <a:tblGrid>
                <a:gridCol w="2516187">
                  <a:extLst>
                    <a:ext uri="{9D8B030D-6E8A-4147-A177-3AD203B41FA5}">
                      <a16:colId xmlns:a16="http://schemas.microsoft.com/office/drawing/2014/main" val="3638562987"/>
                    </a:ext>
                  </a:extLst>
                </a:gridCol>
                <a:gridCol w="7389813">
                  <a:extLst>
                    <a:ext uri="{9D8B030D-6E8A-4147-A177-3AD203B41FA5}">
                      <a16:colId xmlns:a16="http://schemas.microsoft.com/office/drawing/2014/main" val="973846840"/>
                    </a:ext>
                  </a:extLst>
                </a:gridCol>
              </a:tblGrid>
              <a:tr h="485497">
                <a:tc>
                  <a:txBody>
                    <a:bodyPr/>
                    <a:lstStyle/>
                    <a:p>
                      <a:endParaRPr kumimoji="1" lang="ja-JP" altLang="en-US">
                        <a:latin typeface="+mn-ea"/>
                        <a:ea typeface="+mn-ea"/>
                      </a:endParaRPr>
                    </a:p>
                  </a:txBody>
                  <a:tcPr/>
                </a:tc>
                <a:tc>
                  <a:txBody>
                    <a:bodyPr/>
                    <a:lstStyle/>
                    <a:p>
                      <a:endParaRPr kumimoji="1" lang="ja-JP" altLang="en-US">
                        <a:latin typeface="+mn-ea"/>
                        <a:ea typeface="+mn-ea"/>
                      </a:endParaRPr>
                    </a:p>
                  </a:txBody>
                  <a:tcPr/>
                </a:tc>
                <a:extLst>
                  <a:ext uri="{0D108BD9-81ED-4DB2-BD59-A6C34878D82A}">
                    <a16:rowId xmlns:a16="http://schemas.microsoft.com/office/drawing/2014/main" val="1307932886"/>
                  </a:ext>
                </a:extLst>
              </a:tr>
              <a:tr h="980986">
                <a:tc>
                  <a:txBody>
                    <a:bodyPr/>
                    <a:lstStyle/>
                    <a:p>
                      <a:pPr algn="ctr"/>
                      <a:r>
                        <a:rPr kumimoji="1" lang="en-US" altLang="ja-JP" sz="2800" b="1" dirty="0">
                          <a:latin typeface="+mn-ea"/>
                          <a:ea typeface="+mn-ea"/>
                        </a:rPr>
                        <a:t>RMSE</a:t>
                      </a:r>
                      <a:endParaRPr kumimoji="1" lang="ja-JP" altLang="en-US" sz="2800" b="1" dirty="0">
                        <a:latin typeface="+mn-ea"/>
                        <a:ea typeface="+mn-ea"/>
                      </a:endParaRPr>
                    </a:p>
                  </a:txBody>
                  <a:tcPr anchor="ctr"/>
                </a:tc>
                <a:tc>
                  <a:txBody>
                    <a:bodyPr/>
                    <a:lstStyle/>
                    <a:p>
                      <a:r>
                        <a:rPr kumimoji="1" lang="en-US" altLang="ja-JP" sz="2200" dirty="0">
                          <a:latin typeface="+mn-ea"/>
                          <a:ea typeface="+mn-ea"/>
                        </a:rPr>
                        <a:t>23.64</a:t>
                      </a:r>
                      <a:endParaRPr kumimoji="1" lang="ja-JP" altLang="en-US" sz="2200" dirty="0">
                        <a:latin typeface="+mn-ea"/>
                        <a:ea typeface="+mn-ea"/>
                      </a:endParaRPr>
                    </a:p>
                  </a:txBody>
                  <a:tcPr anchor="ctr"/>
                </a:tc>
                <a:extLst>
                  <a:ext uri="{0D108BD9-81ED-4DB2-BD59-A6C34878D82A}">
                    <a16:rowId xmlns:a16="http://schemas.microsoft.com/office/drawing/2014/main" val="994290530"/>
                  </a:ext>
                </a:extLst>
              </a:tr>
              <a:tr h="980986">
                <a:tc>
                  <a:txBody>
                    <a:bodyPr/>
                    <a:lstStyle/>
                    <a:p>
                      <a:pPr algn="ctr"/>
                      <a:r>
                        <a:rPr kumimoji="1" lang="ja-JP" altLang="en-US" sz="2800" b="1" dirty="0">
                          <a:latin typeface="+mn-ea"/>
                          <a:ea typeface="+mn-ea"/>
                        </a:rPr>
                        <a:t>精度</a:t>
                      </a:r>
                    </a:p>
                  </a:txBody>
                  <a:tcPr anchor="ctr"/>
                </a:tc>
                <a:tc>
                  <a:txBody>
                    <a:bodyPr/>
                    <a:lstStyle/>
                    <a:p>
                      <a:r>
                        <a:rPr kumimoji="1" lang="ja-JP" altLang="en-US" sz="2200" dirty="0">
                          <a:latin typeface="+mn-ea"/>
                          <a:ea typeface="+mn-ea"/>
                        </a:rPr>
                        <a:t>残り使用回数に対する予測誤差</a:t>
                      </a:r>
                      <a:r>
                        <a:rPr kumimoji="1" lang="en-US" altLang="ja-JP" sz="2200" dirty="0">
                          <a:latin typeface="+mn-ea"/>
                          <a:ea typeface="+mn-ea"/>
                        </a:rPr>
                        <a:t>±</a:t>
                      </a:r>
                      <a:r>
                        <a:rPr kumimoji="1" lang="ja-JP" altLang="en-US" sz="2200" dirty="0">
                          <a:latin typeface="+mn-ea"/>
                          <a:ea typeface="+mn-ea"/>
                        </a:rPr>
                        <a:t>２３回</a:t>
                      </a:r>
                    </a:p>
                  </a:txBody>
                  <a:tcPr anchor="ctr"/>
                </a:tc>
                <a:extLst>
                  <a:ext uri="{0D108BD9-81ED-4DB2-BD59-A6C34878D82A}">
                    <a16:rowId xmlns:a16="http://schemas.microsoft.com/office/drawing/2014/main" val="1279282306"/>
                  </a:ext>
                </a:extLst>
              </a:tr>
              <a:tr h="980986">
                <a:tc>
                  <a:txBody>
                    <a:bodyPr/>
                    <a:lstStyle/>
                    <a:p>
                      <a:pPr algn="ctr"/>
                      <a:r>
                        <a:rPr kumimoji="1" lang="ja-JP" altLang="en-US" sz="2800" b="1" dirty="0">
                          <a:latin typeface="+mn-ea"/>
                          <a:ea typeface="+mn-ea"/>
                        </a:rPr>
                        <a:t>コンペ成績</a:t>
                      </a:r>
                    </a:p>
                  </a:txBody>
                  <a:tcPr anchor="ctr"/>
                </a:tc>
                <a:tc>
                  <a:txBody>
                    <a:bodyPr/>
                    <a:lstStyle/>
                    <a:p>
                      <a:r>
                        <a:rPr lang="en-US" altLang="ja-JP" sz="2200" dirty="0">
                          <a:latin typeface="+mn-ea"/>
                          <a:ea typeface="+mn-ea"/>
                        </a:rPr>
                        <a:t>51/348</a:t>
                      </a:r>
                      <a:r>
                        <a:rPr lang="ja-JP" altLang="en-US" sz="2200" dirty="0">
                          <a:latin typeface="+mn-ea"/>
                          <a:ea typeface="+mn-ea"/>
                        </a:rPr>
                        <a:t>位</a:t>
                      </a:r>
                      <a:endParaRPr kumimoji="1" lang="ja-JP" altLang="en-US" sz="2200" dirty="0">
                        <a:latin typeface="+mn-ea"/>
                        <a:ea typeface="+mn-ea"/>
                      </a:endParaRPr>
                    </a:p>
                  </a:txBody>
                  <a:tcPr anchor="ctr"/>
                </a:tc>
                <a:extLst>
                  <a:ext uri="{0D108BD9-81ED-4DB2-BD59-A6C34878D82A}">
                    <a16:rowId xmlns:a16="http://schemas.microsoft.com/office/drawing/2014/main" val="3541378320"/>
                  </a:ext>
                </a:extLst>
              </a:tr>
              <a:tr h="980986">
                <a:tc>
                  <a:txBody>
                    <a:bodyPr/>
                    <a:lstStyle/>
                    <a:p>
                      <a:pPr algn="ctr"/>
                      <a:r>
                        <a:rPr kumimoji="1" lang="ja-JP" altLang="en-US" sz="2800" b="1" dirty="0">
                          <a:latin typeface="+mn-ea"/>
                          <a:ea typeface="+mn-ea"/>
                        </a:rPr>
                        <a:t>所見</a:t>
                      </a:r>
                    </a:p>
                  </a:txBody>
                  <a:tcPr anchor="ctr"/>
                </a:tc>
                <a:tc>
                  <a:txBody>
                    <a:bodyPr/>
                    <a:lstStyle/>
                    <a:p>
                      <a:r>
                        <a:rPr kumimoji="1" lang="ja-JP" altLang="en-US" sz="2200" dirty="0">
                          <a:latin typeface="+mn-ea"/>
                          <a:ea typeface="+mn-ea"/>
                        </a:rPr>
                        <a:t>挙動予測としては妥当な数字だが、</a:t>
                      </a:r>
                      <a:endParaRPr kumimoji="1" lang="en-US" altLang="ja-JP" sz="2200" dirty="0">
                        <a:latin typeface="+mn-ea"/>
                        <a:ea typeface="+mn-ea"/>
                      </a:endParaRPr>
                    </a:p>
                    <a:p>
                      <a:r>
                        <a:rPr kumimoji="1" lang="ja-JP" altLang="en-US" sz="2200" dirty="0">
                          <a:latin typeface="+mn-ea"/>
                          <a:ea typeface="+mn-ea"/>
                        </a:rPr>
                        <a:t>個人的には満足できる精度には到達していない。</a:t>
                      </a:r>
                      <a:endParaRPr kumimoji="1" lang="en-US" altLang="ja-JP" sz="2200" dirty="0">
                        <a:latin typeface="+mn-ea"/>
                        <a:ea typeface="+mn-ea"/>
                      </a:endParaRPr>
                    </a:p>
                  </a:txBody>
                  <a:tcPr anchor="ctr"/>
                </a:tc>
                <a:extLst>
                  <a:ext uri="{0D108BD9-81ED-4DB2-BD59-A6C34878D82A}">
                    <a16:rowId xmlns:a16="http://schemas.microsoft.com/office/drawing/2014/main" val="3305159145"/>
                  </a:ext>
                </a:extLst>
              </a:tr>
            </a:tbl>
          </a:graphicData>
        </a:graphic>
      </p:graphicFrame>
    </p:spTree>
    <p:extLst>
      <p:ext uri="{BB962C8B-B14F-4D97-AF65-F5344CB8AC3E}">
        <p14:creationId xmlns:p14="http://schemas.microsoft.com/office/powerpoint/2010/main" val="1329615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B15A914-F40E-7340-415F-EEFC4872041E}"/>
              </a:ext>
            </a:extLst>
          </p:cNvPr>
          <p:cNvSpPr>
            <a:spLocks noGrp="1"/>
          </p:cNvSpPr>
          <p:nvPr>
            <p:ph type="title"/>
          </p:nvPr>
        </p:nvSpPr>
        <p:spPr>
          <a:xfrm>
            <a:off x="1141200" y="619200"/>
            <a:ext cx="4949295" cy="1479600"/>
          </a:xfrm>
        </p:spPr>
        <p:txBody>
          <a:bodyPr anchor="ctr">
            <a:normAutofit/>
          </a:bodyPr>
          <a:lstStyle/>
          <a:p>
            <a:r>
              <a:rPr lang="en-US" altLang="ja-JP" sz="4400" b="1" dirty="0">
                <a:latin typeface="+mj-ea"/>
              </a:rPr>
              <a:t>9. </a:t>
            </a:r>
            <a:r>
              <a:rPr lang="ja-JP" altLang="en-US" sz="4400" b="1" dirty="0">
                <a:latin typeface="+mj-ea"/>
              </a:rPr>
              <a:t>考察</a:t>
            </a:r>
          </a:p>
        </p:txBody>
      </p:sp>
      <p:sp>
        <p:nvSpPr>
          <p:cNvPr id="6" name="テキスト プレースホルダー 5">
            <a:extLst>
              <a:ext uri="{FF2B5EF4-FFF2-40B4-BE49-F238E27FC236}">
                <a16:creationId xmlns:a16="http://schemas.microsoft.com/office/drawing/2014/main" id="{62124DD1-78B0-E950-D8EB-3BAB1153A81B}"/>
              </a:ext>
            </a:extLst>
          </p:cNvPr>
          <p:cNvSpPr>
            <a:spLocks noGrp="1"/>
          </p:cNvSpPr>
          <p:nvPr>
            <p:ph type="body" sz="half" idx="2"/>
          </p:nvPr>
        </p:nvSpPr>
        <p:spPr>
          <a:xfrm>
            <a:off x="6403672" y="1869441"/>
            <a:ext cx="4949295" cy="4627612"/>
          </a:xfrm>
        </p:spPr>
        <p:txBody>
          <a:bodyPr/>
          <a:lstStyle/>
          <a:p>
            <a:endParaRPr lang="ja-JP" altLang="en-US" dirty="0"/>
          </a:p>
        </p:txBody>
      </p:sp>
      <p:pic>
        <p:nvPicPr>
          <p:cNvPr id="8" name="コンテンツ プレースホルダー 7">
            <a:extLst>
              <a:ext uri="{FF2B5EF4-FFF2-40B4-BE49-F238E27FC236}">
                <a16:creationId xmlns:a16="http://schemas.microsoft.com/office/drawing/2014/main" id="{42E37CAD-23E1-CE3D-60B1-E0064066E922}"/>
              </a:ext>
            </a:extLst>
          </p:cNvPr>
          <p:cNvPicPr>
            <a:picLocks noGrp="1"/>
          </p:cNvPicPr>
          <p:nvPr>
            <p:ph idx="1"/>
          </p:nvPr>
        </p:nvPicPr>
        <p:blipFill>
          <a:blip r:embed="rId3"/>
          <a:stretch>
            <a:fillRect/>
          </a:stretch>
        </p:blipFill>
        <p:spPr>
          <a:xfrm>
            <a:off x="1141200" y="2241746"/>
            <a:ext cx="3960000" cy="4142573"/>
          </a:xfrm>
        </p:spPr>
      </p:pic>
      <p:sp>
        <p:nvSpPr>
          <p:cNvPr id="9" name="四角形: 角を丸くする 8">
            <a:extLst>
              <a:ext uri="{FF2B5EF4-FFF2-40B4-BE49-F238E27FC236}">
                <a16:creationId xmlns:a16="http://schemas.microsoft.com/office/drawing/2014/main" id="{3E6DD610-7206-85DE-31B8-94C1F99A0BA4}"/>
              </a:ext>
            </a:extLst>
          </p:cNvPr>
          <p:cNvSpPr/>
          <p:nvPr/>
        </p:nvSpPr>
        <p:spPr>
          <a:xfrm>
            <a:off x="1141199" y="1869440"/>
            <a:ext cx="1705410" cy="48504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b="1" dirty="0">
                <a:latin typeface="+mn-ea"/>
              </a:rPr>
              <a:t>RUL</a:t>
            </a:r>
            <a:r>
              <a:rPr kumimoji="1" lang="ja-JP" altLang="en-US" b="1" dirty="0">
                <a:latin typeface="+mn-ea"/>
              </a:rPr>
              <a:t>（予測値）</a:t>
            </a:r>
          </a:p>
        </p:txBody>
      </p:sp>
      <p:sp>
        <p:nvSpPr>
          <p:cNvPr id="10" name="四角形: 角を丸くする 9">
            <a:extLst>
              <a:ext uri="{FF2B5EF4-FFF2-40B4-BE49-F238E27FC236}">
                <a16:creationId xmlns:a16="http://schemas.microsoft.com/office/drawing/2014/main" id="{D71A35C5-127E-61D5-E87D-093E1C962083}"/>
              </a:ext>
            </a:extLst>
          </p:cNvPr>
          <p:cNvSpPr/>
          <p:nvPr/>
        </p:nvSpPr>
        <p:spPr>
          <a:xfrm>
            <a:off x="3892160" y="6238800"/>
            <a:ext cx="1209040" cy="48670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b="1" dirty="0"/>
              <a:t>使用回数</a:t>
            </a:r>
          </a:p>
        </p:txBody>
      </p:sp>
      <p:sp>
        <p:nvSpPr>
          <p:cNvPr id="12" name="四角形: 角を丸くする 11">
            <a:extLst>
              <a:ext uri="{FF2B5EF4-FFF2-40B4-BE49-F238E27FC236}">
                <a16:creationId xmlns:a16="http://schemas.microsoft.com/office/drawing/2014/main" id="{1BAD4EED-C84F-EA26-5C90-408C5AD7D98E}"/>
              </a:ext>
            </a:extLst>
          </p:cNvPr>
          <p:cNvSpPr/>
          <p:nvPr/>
        </p:nvSpPr>
        <p:spPr>
          <a:xfrm>
            <a:off x="1861969" y="4760987"/>
            <a:ext cx="984640" cy="44065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400" b="1" dirty="0"/>
              <a:t>回帰直線</a:t>
            </a:r>
          </a:p>
        </p:txBody>
      </p:sp>
      <p:graphicFrame>
        <p:nvGraphicFramePr>
          <p:cNvPr id="13" name="表 12">
            <a:extLst>
              <a:ext uri="{FF2B5EF4-FFF2-40B4-BE49-F238E27FC236}">
                <a16:creationId xmlns:a16="http://schemas.microsoft.com/office/drawing/2014/main" id="{DF83BC2F-9F02-B092-C5C8-FEE1B3B7A206}"/>
              </a:ext>
            </a:extLst>
          </p:cNvPr>
          <p:cNvGraphicFramePr>
            <a:graphicFrameLocks noGrp="1"/>
          </p:cNvGraphicFramePr>
          <p:nvPr>
            <p:extLst>
              <p:ext uri="{D42A27DB-BD31-4B8C-83A1-F6EECF244321}">
                <p14:modId xmlns:p14="http://schemas.microsoft.com/office/powerpoint/2010/main" val="3244006247"/>
              </p:ext>
            </p:extLst>
          </p:nvPr>
        </p:nvGraphicFramePr>
        <p:xfrm>
          <a:off x="5597570" y="1869440"/>
          <a:ext cx="6227000" cy="4627612"/>
        </p:xfrm>
        <a:graphic>
          <a:graphicData uri="http://schemas.openxmlformats.org/drawingml/2006/table">
            <a:tbl>
              <a:tblPr firstRow="1" bandRow="1">
                <a:tableStyleId>{21E4AEA4-8DFA-4A89-87EB-49C32662AFE0}</a:tableStyleId>
              </a:tblPr>
              <a:tblGrid>
                <a:gridCol w="1442057">
                  <a:extLst>
                    <a:ext uri="{9D8B030D-6E8A-4147-A177-3AD203B41FA5}">
                      <a16:colId xmlns:a16="http://schemas.microsoft.com/office/drawing/2014/main" val="4184214232"/>
                    </a:ext>
                  </a:extLst>
                </a:gridCol>
                <a:gridCol w="4784943">
                  <a:extLst>
                    <a:ext uri="{9D8B030D-6E8A-4147-A177-3AD203B41FA5}">
                      <a16:colId xmlns:a16="http://schemas.microsoft.com/office/drawing/2014/main" val="3782470175"/>
                    </a:ext>
                  </a:extLst>
                </a:gridCol>
              </a:tblGrid>
              <a:tr h="384460">
                <a:tc>
                  <a:txBody>
                    <a:bodyPr/>
                    <a:lstStyle/>
                    <a:p>
                      <a:endParaRPr kumimoji="1" lang="ja-JP" altLang="en-US" b="1">
                        <a:latin typeface="+mn-ea"/>
                        <a:ea typeface="+mn-ea"/>
                      </a:endParaRPr>
                    </a:p>
                  </a:txBody>
                  <a:tcPr/>
                </a:tc>
                <a:tc>
                  <a:txBody>
                    <a:bodyPr/>
                    <a:lstStyle/>
                    <a:p>
                      <a:endParaRPr kumimoji="1" lang="ja-JP" altLang="en-US" b="1">
                        <a:latin typeface="+mn-ea"/>
                        <a:ea typeface="+mn-ea"/>
                      </a:endParaRPr>
                    </a:p>
                  </a:txBody>
                  <a:tcPr/>
                </a:tc>
                <a:extLst>
                  <a:ext uri="{0D108BD9-81ED-4DB2-BD59-A6C34878D82A}">
                    <a16:rowId xmlns:a16="http://schemas.microsoft.com/office/drawing/2014/main" val="1804775756"/>
                  </a:ext>
                </a:extLst>
              </a:tr>
              <a:tr h="1414384">
                <a:tc>
                  <a:txBody>
                    <a:bodyPr/>
                    <a:lstStyle/>
                    <a:p>
                      <a:pPr algn="ctr"/>
                      <a:r>
                        <a:rPr kumimoji="1" lang="ja-JP" altLang="en-US" sz="2800" b="1" dirty="0">
                          <a:latin typeface="+mn-ea"/>
                          <a:ea typeface="+mn-ea"/>
                        </a:rPr>
                        <a:t>傾向</a:t>
                      </a:r>
                    </a:p>
                  </a:txBody>
                  <a:tcPr anchor="ctr"/>
                </a:tc>
                <a:tc>
                  <a:txBody>
                    <a:bodyPr/>
                    <a:lstStyle/>
                    <a:p>
                      <a:r>
                        <a:rPr kumimoji="1" lang="ja-JP" altLang="en-US" sz="2200" b="0" dirty="0">
                          <a:latin typeface="+mn-ea"/>
                          <a:ea typeface="+mn-ea"/>
                        </a:rPr>
                        <a:t>・予測値は使用回数に応じて減少。</a:t>
                      </a:r>
                      <a:endParaRPr kumimoji="1" lang="en-US" altLang="ja-JP" sz="2200" b="0" dirty="0">
                        <a:latin typeface="+mn-ea"/>
                        <a:ea typeface="+mn-ea"/>
                      </a:endParaRPr>
                    </a:p>
                    <a:p>
                      <a:r>
                        <a:rPr kumimoji="1" lang="ja-JP" altLang="en-US" sz="2200" b="0" dirty="0">
                          <a:latin typeface="+mn-ea"/>
                          <a:ea typeface="+mn-ea"/>
                        </a:rPr>
                        <a:t>・劣化傾向を適切に予測している。</a:t>
                      </a:r>
                    </a:p>
                  </a:txBody>
                  <a:tcPr anchor="ctr"/>
                </a:tc>
                <a:extLst>
                  <a:ext uri="{0D108BD9-81ED-4DB2-BD59-A6C34878D82A}">
                    <a16:rowId xmlns:a16="http://schemas.microsoft.com/office/drawing/2014/main" val="4275144017"/>
                  </a:ext>
                </a:extLst>
              </a:tr>
              <a:tr h="1414384">
                <a:tc>
                  <a:txBody>
                    <a:bodyPr/>
                    <a:lstStyle/>
                    <a:p>
                      <a:pPr algn="ctr"/>
                      <a:r>
                        <a:rPr kumimoji="1" lang="ja-JP" altLang="en-US" sz="2800" b="1" dirty="0">
                          <a:latin typeface="+mn-ea"/>
                          <a:ea typeface="+mn-ea"/>
                        </a:rPr>
                        <a:t>全体</a:t>
                      </a:r>
                    </a:p>
                  </a:txBody>
                  <a:tcPr anchor="ctr"/>
                </a:tc>
                <a:tc>
                  <a:txBody>
                    <a:bodyPr/>
                    <a:lstStyle/>
                    <a:p>
                      <a:r>
                        <a:rPr kumimoji="1" lang="ja-JP" altLang="en-US" sz="2200" b="0" dirty="0">
                          <a:latin typeface="+mn-ea"/>
                          <a:ea typeface="+mn-ea"/>
                        </a:rPr>
                        <a:t>・予測範囲のばらつきがみられるものの、全体としては整合的な予測ができている。</a:t>
                      </a:r>
                    </a:p>
                  </a:txBody>
                  <a:tcPr anchor="ctr"/>
                </a:tc>
                <a:extLst>
                  <a:ext uri="{0D108BD9-81ED-4DB2-BD59-A6C34878D82A}">
                    <a16:rowId xmlns:a16="http://schemas.microsoft.com/office/drawing/2014/main" val="1900757212"/>
                  </a:ext>
                </a:extLst>
              </a:tr>
              <a:tr h="1414384">
                <a:tc>
                  <a:txBody>
                    <a:bodyPr/>
                    <a:lstStyle/>
                    <a:p>
                      <a:pPr algn="ctr"/>
                      <a:r>
                        <a:rPr kumimoji="1" lang="ja-JP" altLang="en-US" sz="2800" b="1" dirty="0">
                          <a:latin typeface="+mn-ea"/>
                          <a:ea typeface="+mn-ea"/>
                        </a:rPr>
                        <a:t>結論</a:t>
                      </a:r>
                    </a:p>
                  </a:txBody>
                  <a:tcPr anchor="ctr"/>
                </a:tc>
                <a:tc>
                  <a:txBody>
                    <a:bodyPr/>
                    <a:lstStyle/>
                    <a:p>
                      <a:r>
                        <a:rPr kumimoji="1" lang="ja-JP" altLang="en-US" sz="2200" b="0" dirty="0">
                          <a:latin typeface="+mn-ea"/>
                          <a:ea typeface="+mn-ea"/>
                        </a:rPr>
                        <a:t>・モデルは全体の劣化傾向の予測ができている。</a:t>
                      </a:r>
                      <a:endParaRPr kumimoji="1" lang="en-US" altLang="ja-JP" sz="2200" b="0" dirty="0">
                        <a:latin typeface="+mn-ea"/>
                        <a:ea typeface="+mn-ea"/>
                      </a:endParaRPr>
                    </a:p>
                    <a:p>
                      <a:r>
                        <a:rPr kumimoji="1" lang="ja-JP" altLang="en-US" sz="2200" b="0" dirty="0">
                          <a:latin typeface="+mn-ea"/>
                          <a:ea typeface="+mn-ea"/>
                        </a:rPr>
                        <a:t>・改善次第で精度向上が見込める。</a:t>
                      </a:r>
                    </a:p>
                  </a:txBody>
                  <a:tcPr anchor="ctr"/>
                </a:tc>
                <a:extLst>
                  <a:ext uri="{0D108BD9-81ED-4DB2-BD59-A6C34878D82A}">
                    <a16:rowId xmlns:a16="http://schemas.microsoft.com/office/drawing/2014/main" val="2198272923"/>
                  </a:ext>
                </a:extLst>
              </a:tr>
            </a:tbl>
          </a:graphicData>
        </a:graphic>
      </p:graphicFrame>
    </p:spTree>
    <p:extLst>
      <p:ext uri="{BB962C8B-B14F-4D97-AF65-F5344CB8AC3E}">
        <p14:creationId xmlns:p14="http://schemas.microsoft.com/office/powerpoint/2010/main" val="229698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0294FF-8EAA-9683-7685-2E8A8193CA8E}"/>
              </a:ext>
            </a:extLst>
          </p:cNvPr>
          <p:cNvSpPr>
            <a:spLocks noGrp="1"/>
          </p:cNvSpPr>
          <p:nvPr>
            <p:ph type="title"/>
          </p:nvPr>
        </p:nvSpPr>
        <p:spPr/>
        <p:txBody>
          <a:bodyPr>
            <a:normAutofit/>
          </a:bodyPr>
          <a:lstStyle/>
          <a:p>
            <a:r>
              <a:rPr lang="en-US" altLang="ja-JP" sz="4400" b="1" dirty="0">
                <a:latin typeface="+mj-ea"/>
              </a:rPr>
              <a:t>10.</a:t>
            </a:r>
            <a:r>
              <a:rPr lang="ja-JP" altLang="en-US" sz="4400" b="1" dirty="0">
                <a:latin typeface="+mj-ea"/>
              </a:rPr>
              <a:t> </a:t>
            </a:r>
            <a:r>
              <a:rPr kumimoji="1" lang="ja-JP" altLang="en-US" sz="4400" b="1" dirty="0">
                <a:latin typeface="+mj-ea"/>
              </a:rPr>
              <a:t>工夫点</a:t>
            </a:r>
          </a:p>
        </p:txBody>
      </p:sp>
      <p:graphicFrame>
        <p:nvGraphicFramePr>
          <p:cNvPr id="4" name="コンテンツ プレースホルダー 3">
            <a:extLst>
              <a:ext uri="{FF2B5EF4-FFF2-40B4-BE49-F238E27FC236}">
                <a16:creationId xmlns:a16="http://schemas.microsoft.com/office/drawing/2014/main" id="{FC8C6714-2ECB-DFF9-3B1D-6D22AC40911A}"/>
              </a:ext>
            </a:extLst>
          </p:cNvPr>
          <p:cNvGraphicFramePr>
            <a:graphicFrameLocks noGrp="1"/>
          </p:cNvGraphicFramePr>
          <p:nvPr>
            <p:ph idx="1"/>
            <p:extLst>
              <p:ext uri="{D42A27DB-BD31-4B8C-83A1-F6EECF244321}">
                <p14:modId xmlns:p14="http://schemas.microsoft.com/office/powerpoint/2010/main" val="398514355"/>
              </p:ext>
            </p:extLst>
          </p:nvPr>
        </p:nvGraphicFramePr>
        <p:xfrm>
          <a:off x="1141413" y="1892366"/>
          <a:ext cx="9906000" cy="4012616"/>
        </p:xfrm>
        <a:graphic>
          <a:graphicData uri="http://schemas.openxmlformats.org/drawingml/2006/table">
            <a:tbl>
              <a:tblPr firstRow="1" bandRow="1">
                <a:tableStyleId>{21E4AEA4-8DFA-4A89-87EB-49C32662AFE0}</a:tableStyleId>
              </a:tblPr>
              <a:tblGrid>
                <a:gridCol w="2775494">
                  <a:extLst>
                    <a:ext uri="{9D8B030D-6E8A-4147-A177-3AD203B41FA5}">
                      <a16:colId xmlns:a16="http://schemas.microsoft.com/office/drawing/2014/main" val="395847103"/>
                    </a:ext>
                  </a:extLst>
                </a:gridCol>
                <a:gridCol w="7130506">
                  <a:extLst>
                    <a:ext uri="{9D8B030D-6E8A-4147-A177-3AD203B41FA5}">
                      <a16:colId xmlns:a16="http://schemas.microsoft.com/office/drawing/2014/main" val="2897634673"/>
                    </a:ext>
                  </a:extLst>
                </a:gridCol>
              </a:tblGrid>
              <a:tr h="291276">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4136355799"/>
                  </a:ext>
                </a:extLst>
              </a:tr>
              <a:tr h="911714">
                <a:tc rowSpan="2">
                  <a:txBody>
                    <a:bodyPr/>
                    <a:lstStyle/>
                    <a:p>
                      <a:r>
                        <a:rPr kumimoji="1" lang="en-US" altLang="ja-JP" sz="2800" b="1" dirty="0"/>
                        <a:t>cycle</a:t>
                      </a:r>
                      <a:r>
                        <a:rPr kumimoji="1" lang="ja-JP" altLang="en-US" sz="2800" b="1" dirty="0"/>
                        <a:t>範囲の調整</a:t>
                      </a:r>
                    </a:p>
                  </a:txBody>
                  <a:tcPr anchor="ctr"/>
                </a:tc>
                <a:tc>
                  <a:txBody>
                    <a:bodyPr/>
                    <a:lstStyle/>
                    <a:p>
                      <a:r>
                        <a:rPr kumimoji="1" lang="ja-JP" altLang="en-US" sz="2200" dirty="0"/>
                        <a:t>学習データの</a:t>
                      </a:r>
                      <a:r>
                        <a:rPr kumimoji="1" lang="en-US" altLang="ja-JP" sz="2200" dirty="0"/>
                        <a:t>cycle</a:t>
                      </a:r>
                      <a:r>
                        <a:rPr kumimoji="1" lang="ja-JP" altLang="en-US" sz="2200" dirty="0"/>
                        <a:t>範囲：０～１００</a:t>
                      </a:r>
                      <a:endParaRPr kumimoji="1" lang="en-US" altLang="ja-JP" sz="2200" dirty="0"/>
                    </a:p>
                    <a:p>
                      <a:r>
                        <a:rPr kumimoji="1" lang="ja-JP" altLang="en-US" sz="2200" dirty="0"/>
                        <a:t>評価データの</a:t>
                      </a:r>
                      <a:r>
                        <a:rPr kumimoji="1" lang="en-US" altLang="ja-JP" sz="2200" dirty="0"/>
                        <a:t>cycle</a:t>
                      </a:r>
                      <a:r>
                        <a:rPr kumimoji="1" lang="ja-JP" altLang="en-US" sz="2200" dirty="0"/>
                        <a:t>範囲：０～４０</a:t>
                      </a:r>
                    </a:p>
                  </a:txBody>
                  <a:tcPr anchor="ctr"/>
                </a:tc>
                <a:extLst>
                  <a:ext uri="{0D108BD9-81ED-4DB2-BD59-A6C34878D82A}">
                    <a16:rowId xmlns:a16="http://schemas.microsoft.com/office/drawing/2014/main" val="4136276614"/>
                  </a:ext>
                </a:extLst>
              </a:tr>
              <a:tr h="911714">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t>学習データの</a:t>
                      </a:r>
                      <a:r>
                        <a:rPr kumimoji="1" lang="en-US" altLang="ja-JP" sz="2200" dirty="0"/>
                        <a:t>cycle</a:t>
                      </a:r>
                      <a:r>
                        <a:rPr kumimoji="1" lang="ja-JP" altLang="en-US" sz="2200" dirty="0"/>
                        <a:t>４１～１００が予測に大きな影響を与えないよう、範囲の調整を実施。</a:t>
                      </a:r>
                    </a:p>
                  </a:txBody>
                  <a:tcPr anchor="ctr"/>
                </a:tc>
                <a:extLst>
                  <a:ext uri="{0D108BD9-81ED-4DB2-BD59-A6C34878D82A}">
                    <a16:rowId xmlns:a16="http://schemas.microsoft.com/office/drawing/2014/main" val="1379879392"/>
                  </a:ext>
                </a:extLst>
              </a:tr>
              <a:tr h="911714">
                <a:tc rowSpan="2">
                  <a:txBody>
                    <a:bodyPr/>
                    <a:lstStyle/>
                    <a:p>
                      <a:r>
                        <a:rPr kumimoji="1" lang="ja-JP" altLang="en-US" sz="2800" b="1" dirty="0"/>
                        <a:t>特徴量追加</a:t>
                      </a:r>
                    </a:p>
                  </a:txBody>
                  <a:tcPr anchor="ctr"/>
                </a:tc>
                <a:tc>
                  <a:txBody>
                    <a:bodyPr/>
                    <a:lstStyle/>
                    <a:p>
                      <a:r>
                        <a:rPr kumimoji="1" lang="ja-JP" altLang="en-US" sz="2200" dirty="0"/>
                        <a:t>使用回数を示す</a:t>
                      </a:r>
                      <a:r>
                        <a:rPr kumimoji="1" lang="en-US" altLang="ja-JP" sz="2200" dirty="0"/>
                        <a:t>cycle</a:t>
                      </a:r>
                      <a:r>
                        <a:rPr kumimoji="1" lang="ja-JP" altLang="en-US" sz="2200" dirty="0"/>
                        <a:t>と残りの使用可能回数を示す目的変数</a:t>
                      </a:r>
                      <a:r>
                        <a:rPr kumimoji="1" lang="en-US" altLang="ja-JP" sz="2200" dirty="0"/>
                        <a:t>Y</a:t>
                      </a:r>
                      <a:r>
                        <a:rPr kumimoji="1" lang="ja-JP" altLang="en-US" sz="2200" dirty="0"/>
                        <a:t>に強い負の相関があった。</a:t>
                      </a:r>
                    </a:p>
                  </a:txBody>
                  <a:tcPr anchor="ctr"/>
                </a:tc>
                <a:extLst>
                  <a:ext uri="{0D108BD9-81ED-4DB2-BD59-A6C34878D82A}">
                    <a16:rowId xmlns:a16="http://schemas.microsoft.com/office/drawing/2014/main" val="40263225"/>
                  </a:ext>
                </a:extLst>
              </a:tr>
              <a:tr h="911714">
                <a:tc vMerge="1">
                  <a:txBody>
                    <a:bodyPr/>
                    <a:lstStyle/>
                    <a:p>
                      <a:endParaRPr kumimoji="1" lang="ja-JP" altLang="en-US" dirty="0"/>
                    </a:p>
                  </a:txBody>
                  <a:tcPr/>
                </a:tc>
                <a:tc>
                  <a:txBody>
                    <a:bodyPr/>
                    <a:lstStyle/>
                    <a:p>
                      <a:r>
                        <a:rPr kumimoji="1" lang="en-US" altLang="ja-JP" sz="2200" dirty="0"/>
                        <a:t>cycle</a:t>
                      </a:r>
                      <a:r>
                        <a:rPr kumimoji="1" lang="ja-JP" altLang="en-US" sz="2200" dirty="0"/>
                        <a:t>をベースに新しい特徴量を追加し、効果を計測。</a:t>
                      </a:r>
                      <a:endParaRPr kumimoji="1" lang="en-US" altLang="ja-JP" sz="2200" dirty="0"/>
                    </a:p>
                    <a:p>
                      <a:r>
                        <a:rPr kumimoji="1" lang="ja-JP" altLang="en-US" sz="2200" dirty="0"/>
                        <a:t>予測精度にほとんど貢献しなかったため削除。</a:t>
                      </a:r>
                    </a:p>
                  </a:txBody>
                  <a:tcPr anchor="ctr"/>
                </a:tc>
                <a:extLst>
                  <a:ext uri="{0D108BD9-81ED-4DB2-BD59-A6C34878D82A}">
                    <a16:rowId xmlns:a16="http://schemas.microsoft.com/office/drawing/2014/main" val="843340813"/>
                  </a:ext>
                </a:extLst>
              </a:tr>
            </a:tbl>
          </a:graphicData>
        </a:graphic>
      </p:graphicFrame>
    </p:spTree>
    <p:extLst>
      <p:ext uri="{BB962C8B-B14F-4D97-AF65-F5344CB8AC3E}">
        <p14:creationId xmlns:p14="http://schemas.microsoft.com/office/powerpoint/2010/main" val="1949470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C809B-7A5D-3408-396B-E6511F8E5F66}"/>
              </a:ext>
            </a:extLst>
          </p:cNvPr>
          <p:cNvSpPr>
            <a:spLocks noGrp="1"/>
          </p:cNvSpPr>
          <p:nvPr>
            <p:ph type="title"/>
          </p:nvPr>
        </p:nvSpPr>
        <p:spPr/>
        <p:txBody>
          <a:bodyPr>
            <a:normAutofit/>
          </a:bodyPr>
          <a:lstStyle/>
          <a:p>
            <a:r>
              <a:rPr kumimoji="1" lang="en-US" altLang="ja-JP" sz="4400" b="1" dirty="0">
                <a:latin typeface="+mj-ea"/>
              </a:rPr>
              <a:t>11. </a:t>
            </a:r>
            <a:r>
              <a:rPr kumimoji="1" lang="ja-JP" altLang="en-US" sz="4400" b="1" dirty="0">
                <a:latin typeface="+mj-ea"/>
              </a:rPr>
              <a:t>苦労点①　</a:t>
            </a:r>
            <a:r>
              <a:rPr lang="ja-JP" altLang="en-US" sz="4400" b="1" dirty="0">
                <a:latin typeface="+mj-ea"/>
              </a:rPr>
              <a:t>ドメイン知識の獲得</a:t>
            </a:r>
            <a:endParaRPr kumimoji="1" lang="ja-JP" altLang="en-US" sz="4400" b="1" dirty="0">
              <a:latin typeface="+mj-ea"/>
            </a:endParaRPr>
          </a:p>
        </p:txBody>
      </p:sp>
      <p:sp>
        <p:nvSpPr>
          <p:cNvPr id="4" name="四角形: 角を丸くする 3">
            <a:extLst>
              <a:ext uri="{FF2B5EF4-FFF2-40B4-BE49-F238E27FC236}">
                <a16:creationId xmlns:a16="http://schemas.microsoft.com/office/drawing/2014/main" id="{BD89512A-8F69-9A50-C1CD-C1ACD6E02B1E}"/>
              </a:ext>
            </a:extLst>
          </p:cNvPr>
          <p:cNvSpPr/>
          <p:nvPr/>
        </p:nvSpPr>
        <p:spPr>
          <a:xfrm>
            <a:off x="1141412" y="1930020"/>
            <a:ext cx="9905999" cy="1296538"/>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r>
              <a:rPr kumimoji="1" lang="ja-JP" altLang="en-US" sz="2200" dirty="0">
                <a:latin typeface="+mn-ea"/>
              </a:rPr>
              <a:t>エンジンの構造に関する知識がなく、</a:t>
            </a:r>
            <a:endParaRPr kumimoji="1" lang="en-US" altLang="ja-JP" sz="2200" dirty="0">
              <a:latin typeface="+mn-ea"/>
            </a:endParaRPr>
          </a:p>
          <a:p>
            <a:r>
              <a:rPr kumimoji="1" lang="ja-JP" altLang="en-US" sz="2200" dirty="0">
                <a:latin typeface="+mn-ea"/>
              </a:rPr>
              <a:t>分析に必要な知識を得るのに時間がかかってしまった。</a:t>
            </a:r>
          </a:p>
        </p:txBody>
      </p:sp>
      <p:sp>
        <p:nvSpPr>
          <p:cNvPr id="5" name="四角形: 角を丸くする 4">
            <a:extLst>
              <a:ext uri="{FF2B5EF4-FFF2-40B4-BE49-F238E27FC236}">
                <a16:creationId xmlns:a16="http://schemas.microsoft.com/office/drawing/2014/main" id="{EC6D0363-8FF8-3501-9EDD-D04FD14DDCB6}"/>
              </a:ext>
            </a:extLst>
          </p:cNvPr>
          <p:cNvSpPr/>
          <p:nvPr/>
        </p:nvSpPr>
        <p:spPr>
          <a:xfrm>
            <a:off x="1141412" y="4724400"/>
            <a:ext cx="9905999" cy="1296538"/>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r>
              <a:rPr kumimoji="1" lang="ja-JP" altLang="en-US" sz="2200" dirty="0"/>
              <a:t>・特徴量などのエンジンに関する用語を学習。</a:t>
            </a:r>
            <a:endParaRPr kumimoji="1" lang="en-US" altLang="ja-JP" sz="2200" dirty="0"/>
          </a:p>
          <a:p>
            <a:r>
              <a:rPr kumimoji="1" lang="ja-JP" altLang="en-US" sz="2200" dirty="0"/>
              <a:t>・実際に故障予知に対しどのような取り組みが行われているのか調査。</a:t>
            </a:r>
            <a:endParaRPr kumimoji="1" lang="en-US" altLang="ja-JP" sz="2200" dirty="0"/>
          </a:p>
        </p:txBody>
      </p:sp>
      <p:sp>
        <p:nvSpPr>
          <p:cNvPr id="6" name="フローチャート: 組合せ 5">
            <a:extLst>
              <a:ext uri="{FF2B5EF4-FFF2-40B4-BE49-F238E27FC236}">
                <a16:creationId xmlns:a16="http://schemas.microsoft.com/office/drawing/2014/main" id="{23ACCCAA-BD70-1275-7AD0-B8DD9FB8A43E}"/>
              </a:ext>
            </a:extLst>
          </p:cNvPr>
          <p:cNvSpPr/>
          <p:nvPr/>
        </p:nvSpPr>
        <p:spPr>
          <a:xfrm>
            <a:off x="5640544" y="3782860"/>
            <a:ext cx="910911" cy="393183"/>
          </a:xfrm>
          <a:prstGeom prst="flowChartMerge">
            <a:avLst/>
          </a:prstGeom>
          <a:solidFill>
            <a:schemeClr val="bg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02669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FFEE-26F4-1981-943A-19F0E62C88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1ACFEA-8DA6-B68F-B42F-6F497995E633}"/>
              </a:ext>
            </a:extLst>
          </p:cNvPr>
          <p:cNvSpPr>
            <a:spLocks noGrp="1"/>
          </p:cNvSpPr>
          <p:nvPr>
            <p:ph type="title"/>
          </p:nvPr>
        </p:nvSpPr>
        <p:spPr/>
        <p:txBody>
          <a:bodyPr>
            <a:normAutofit/>
          </a:bodyPr>
          <a:lstStyle/>
          <a:p>
            <a:r>
              <a:rPr kumimoji="1" lang="en-US" altLang="ja-JP" sz="4400" b="1" dirty="0">
                <a:latin typeface="+mj-ea"/>
              </a:rPr>
              <a:t>12. </a:t>
            </a:r>
            <a:r>
              <a:rPr kumimoji="1" lang="ja-JP" altLang="en-US" sz="4400" b="1" dirty="0">
                <a:latin typeface="+mj-ea"/>
              </a:rPr>
              <a:t>苦労点②　</a:t>
            </a:r>
            <a:r>
              <a:rPr lang="ja-JP" altLang="en-US" sz="4400" b="1" dirty="0">
                <a:latin typeface="+mj-ea"/>
              </a:rPr>
              <a:t>データの前処理</a:t>
            </a:r>
            <a:endParaRPr kumimoji="1" lang="ja-JP" altLang="en-US" sz="4400" b="1" dirty="0">
              <a:latin typeface="+mj-ea"/>
            </a:endParaRPr>
          </a:p>
        </p:txBody>
      </p:sp>
      <p:sp>
        <p:nvSpPr>
          <p:cNvPr id="4" name="四角形: 角を丸くする 3">
            <a:extLst>
              <a:ext uri="{FF2B5EF4-FFF2-40B4-BE49-F238E27FC236}">
                <a16:creationId xmlns:a16="http://schemas.microsoft.com/office/drawing/2014/main" id="{2239EB49-BA50-7772-2FC0-BC233C159097}"/>
              </a:ext>
            </a:extLst>
          </p:cNvPr>
          <p:cNvSpPr/>
          <p:nvPr/>
        </p:nvSpPr>
        <p:spPr>
          <a:xfrm>
            <a:off x="1141412" y="1930020"/>
            <a:ext cx="9905999" cy="1296538"/>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kumimoji="1" lang="ja-JP" altLang="en-US" sz="2200" dirty="0"/>
              <a:t>各特徴量に対する事前調査が甘く、作業途中で不必要な特徴量がいくつも発見された。</a:t>
            </a:r>
          </a:p>
        </p:txBody>
      </p:sp>
      <p:sp>
        <p:nvSpPr>
          <p:cNvPr id="5" name="四角形: 角を丸くする 4">
            <a:extLst>
              <a:ext uri="{FF2B5EF4-FFF2-40B4-BE49-F238E27FC236}">
                <a16:creationId xmlns:a16="http://schemas.microsoft.com/office/drawing/2014/main" id="{EF8DD5BC-FE3E-9EFE-CBCE-F06A96F1BBBE}"/>
              </a:ext>
            </a:extLst>
          </p:cNvPr>
          <p:cNvSpPr/>
          <p:nvPr/>
        </p:nvSpPr>
        <p:spPr>
          <a:xfrm>
            <a:off x="1141412" y="4724400"/>
            <a:ext cx="9905999" cy="1296538"/>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kumimoji="1" lang="ja-JP" altLang="en-US" sz="2200" dirty="0"/>
              <a:t>・すべてのレコード内で同じ値を持つ複数の特徴量を削除</a:t>
            </a:r>
            <a:endParaRPr kumimoji="1" lang="en-US" altLang="ja-JP" sz="2200" dirty="0"/>
          </a:p>
          <a:p>
            <a:pPr marL="0" indent="0">
              <a:buNone/>
            </a:pPr>
            <a:r>
              <a:rPr kumimoji="1" lang="ja-JP" altLang="en-US" sz="2200" dirty="0"/>
              <a:t>・すべての値が</a:t>
            </a:r>
            <a:r>
              <a:rPr kumimoji="1" lang="en-US" altLang="ja-JP" sz="2200" dirty="0"/>
              <a:t>0</a:t>
            </a:r>
            <a:r>
              <a:rPr kumimoji="1" lang="ja-JP" altLang="en-US" sz="2200" dirty="0"/>
              <a:t>しかない特徴量を削除</a:t>
            </a:r>
            <a:endParaRPr kumimoji="1" lang="en-US" altLang="ja-JP" sz="2200" dirty="0"/>
          </a:p>
        </p:txBody>
      </p:sp>
      <p:sp>
        <p:nvSpPr>
          <p:cNvPr id="3" name="フローチャート: 組合せ 2">
            <a:extLst>
              <a:ext uri="{FF2B5EF4-FFF2-40B4-BE49-F238E27FC236}">
                <a16:creationId xmlns:a16="http://schemas.microsoft.com/office/drawing/2014/main" id="{029E68E3-ACA3-27ED-5616-C4EECAF5AEB8}"/>
              </a:ext>
            </a:extLst>
          </p:cNvPr>
          <p:cNvSpPr/>
          <p:nvPr/>
        </p:nvSpPr>
        <p:spPr>
          <a:xfrm>
            <a:off x="5640544" y="3782860"/>
            <a:ext cx="910911" cy="393183"/>
          </a:xfrm>
          <a:prstGeom prst="flowChartMerge">
            <a:avLst/>
          </a:prstGeom>
          <a:solidFill>
            <a:schemeClr val="bg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6936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7F509F-1E56-10E6-8DA2-5E6EF136F44A}"/>
              </a:ext>
            </a:extLst>
          </p:cNvPr>
          <p:cNvSpPr>
            <a:spLocks noGrp="1"/>
          </p:cNvSpPr>
          <p:nvPr>
            <p:ph type="title"/>
          </p:nvPr>
        </p:nvSpPr>
        <p:spPr/>
        <p:txBody>
          <a:bodyPr>
            <a:normAutofit/>
          </a:bodyPr>
          <a:lstStyle/>
          <a:p>
            <a:r>
              <a:rPr kumimoji="1" lang="en-US" altLang="ja-JP" sz="4400" b="1" dirty="0">
                <a:latin typeface="+mj-ea"/>
              </a:rPr>
              <a:t>13. </a:t>
            </a:r>
            <a:r>
              <a:rPr kumimoji="1" lang="ja-JP" altLang="en-US" sz="4400" b="1" dirty="0">
                <a:latin typeface="+mj-ea"/>
              </a:rPr>
              <a:t>応用案</a:t>
            </a:r>
          </a:p>
        </p:txBody>
      </p:sp>
      <p:graphicFrame>
        <p:nvGraphicFramePr>
          <p:cNvPr id="4" name="コンテンツ プレースホルダー 3">
            <a:extLst>
              <a:ext uri="{FF2B5EF4-FFF2-40B4-BE49-F238E27FC236}">
                <a16:creationId xmlns:a16="http://schemas.microsoft.com/office/drawing/2014/main" id="{E8180A8F-0DE6-11FE-7F8B-6E032CDAAB78}"/>
              </a:ext>
            </a:extLst>
          </p:cNvPr>
          <p:cNvGraphicFramePr>
            <a:graphicFrameLocks noGrp="1"/>
          </p:cNvGraphicFramePr>
          <p:nvPr>
            <p:ph idx="1"/>
            <p:extLst>
              <p:ext uri="{D42A27DB-BD31-4B8C-83A1-F6EECF244321}">
                <p14:modId xmlns:p14="http://schemas.microsoft.com/office/powerpoint/2010/main" val="2802975864"/>
              </p:ext>
            </p:extLst>
          </p:nvPr>
        </p:nvGraphicFramePr>
        <p:xfrm>
          <a:off x="1141413" y="1876926"/>
          <a:ext cx="9906000" cy="4489461"/>
        </p:xfrm>
        <a:graphic>
          <a:graphicData uri="http://schemas.openxmlformats.org/drawingml/2006/table">
            <a:tbl>
              <a:tblPr firstRow="1" bandRow="1">
                <a:tableStyleId>{21E4AEA4-8DFA-4A89-87EB-49C32662AFE0}</a:tableStyleId>
              </a:tblPr>
              <a:tblGrid>
                <a:gridCol w="764389">
                  <a:extLst>
                    <a:ext uri="{9D8B030D-6E8A-4147-A177-3AD203B41FA5}">
                      <a16:colId xmlns:a16="http://schemas.microsoft.com/office/drawing/2014/main" val="1110316670"/>
                    </a:ext>
                  </a:extLst>
                </a:gridCol>
                <a:gridCol w="3843645">
                  <a:extLst>
                    <a:ext uri="{9D8B030D-6E8A-4147-A177-3AD203B41FA5}">
                      <a16:colId xmlns:a16="http://schemas.microsoft.com/office/drawing/2014/main" val="2538308921"/>
                    </a:ext>
                  </a:extLst>
                </a:gridCol>
                <a:gridCol w="5297966">
                  <a:extLst>
                    <a:ext uri="{9D8B030D-6E8A-4147-A177-3AD203B41FA5}">
                      <a16:colId xmlns:a16="http://schemas.microsoft.com/office/drawing/2014/main" val="143157609"/>
                    </a:ext>
                  </a:extLst>
                </a:gridCol>
              </a:tblGrid>
              <a:tr h="664143">
                <a:tc>
                  <a:txBody>
                    <a:bodyPr/>
                    <a:lstStyle/>
                    <a:p>
                      <a:pPr algn="ctr"/>
                      <a:endParaRPr kumimoji="1" lang="ja-JP" altLang="en-US" sz="2400" dirty="0"/>
                    </a:p>
                  </a:txBody>
                  <a:tcPr/>
                </a:tc>
                <a:tc>
                  <a:txBody>
                    <a:bodyPr/>
                    <a:lstStyle/>
                    <a:p>
                      <a:pPr algn="ctr"/>
                      <a:r>
                        <a:rPr kumimoji="1" lang="ja-JP" altLang="en-US" sz="2400" dirty="0"/>
                        <a:t>改善点と応用案</a:t>
                      </a:r>
                    </a:p>
                  </a:txBody>
                  <a:tcPr/>
                </a:tc>
                <a:tc>
                  <a:txBody>
                    <a:bodyPr/>
                    <a:lstStyle/>
                    <a:p>
                      <a:pPr algn="ctr"/>
                      <a:r>
                        <a:rPr kumimoji="1" lang="ja-JP" altLang="en-US" sz="2400" dirty="0"/>
                        <a:t>ポイント</a:t>
                      </a:r>
                    </a:p>
                  </a:txBody>
                  <a:tcPr/>
                </a:tc>
                <a:extLst>
                  <a:ext uri="{0D108BD9-81ED-4DB2-BD59-A6C34878D82A}">
                    <a16:rowId xmlns:a16="http://schemas.microsoft.com/office/drawing/2014/main" val="4150142642"/>
                  </a:ext>
                </a:extLst>
              </a:tr>
              <a:tr h="1275106">
                <a:tc>
                  <a:txBody>
                    <a:bodyPr/>
                    <a:lstStyle/>
                    <a:p>
                      <a:pPr algn="ctr"/>
                      <a:r>
                        <a:rPr kumimoji="1" lang="ja-JP" altLang="en-US" sz="2800" b="1" dirty="0"/>
                        <a:t>①</a:t>
                      </a:r>
                      <a:endParaRPr kumimoji="1" lang="en-US" altLang="ja-JP" sz="2800" b="1" dirty="0"/>
                    </a:p>
                  </a:txBody>
                  <a:tcPr anchor="ctr"/>
                </a:tc>
                <a:tc>
                  <a:txBody>
                    <a:bodyPr/>
                    <a:lstStyle/>
                    <a:p>
                      <a:r>
                        <a:rPr kumimoji="1" lang="ja-JP" altLang="en-US" sz="2800" b="1" dirty="0"/>
                        <a:t>修理効率化</a:t>
                      </a:r>
                    </a:p>
                  </a:txBody>
                  <a:tcPr anchor="ctr"/>
                </a:tc>
                <a:tc>
                  <a:txBody>
                    <a:bodyPr/>
                    <a:lstStyle/>
                    <a:p>
                      <a:r>
                        <a:rPr kumimoji="1" lang="ja-JP" altLang="en-US" sz="2200" dirty="0"/>
                        <a:t>・運用データのモニタリング、共有</a:t>
                      </a:r>
                      <a:endParaRPr kumimoji="1" lang="en-US" altLang="ja-JP" sz="2200" dirty="0"/>
                    </a:p>
                    <a:p>
                      <a:r>
                        <a:rPr kumimoji="1" lang="ja-JP" altLang="en-US" sz="2200" dirty="0"/>
                        <a:t>・予測型保守の実現</a:t>
                      </a:r>
                    </a:p>
                  </a:txBody>
                  <a:tcPr anchor="ctr"/>
                </a:tc>
                <a:extLst>
                  <a:ext uri="{0D108BD9-81ED-4DB2-BD59-A6C34878D82A}">
                    <a16:rowId xmlns:a16="http://schemas.microsoft.com/office/drawing/2014/main" val="905142843"/>
                  </a:ext>
                </a:extLst>
              </a:tr>
              <a:tr h="1275106">
                <a:tc>
                  <a:txBody>
                    <a:bodyPr/>
                    <a:lstStyle/>
                    <a:p>
                      <a:pPr algn="ctr"/>
                      <a:r>
                        <a:rPr kumimoji="1" lang="ja-JP" altLang="en-US" sz="2800" b="1" dirty="0"/>
                        <a:t>②</a:t>
                      </a:r>
                    </a:p>
                  </a:txBody>
                  <a:tcPr anchor="ctr"/>
                </a:tc>
                <a:tc>
                  <a:txBody>
                    <a:bodyPr/>
                    <a:lstStyle/>
                    <a:p>
                      <a:r>
                        <a:rPr kumimoji="1" lang="ja-JP" altLang="en-US" sz="2800" b="1" dirty="0"/>
                        <a:t>他業種への応用</a:t>
                      </a:r>
                    </a:p>
                  </a:txBody>
                  <a:tcPr anchor="ctr"/>
                </a:tc>
                <a:tc>
                  <a:txBody>
                    <a:bodyPr/>
                    <a:lstStyle/>
                    <a:p>
                      <a:r>
                        <a:rPr kumimoji="1" lang="ja-JP" altLang="en-US" sz="2200" dirty="0"/>
                        <a:t>・他業種への横展開</a:t>
                      </a:r>
                      <a:endParaRPr kumimoji="1" lang="en-US" altLang="ja-JP" sz="2200" dirty="0"/>
                    </a:p>
                    <a:p>
                      <a:r>
                        <a:rPr kumimoji="1" lang="ja-JP" altLang="en-US" sz="2200" dirty="0"/>
                        <a:t>・蓄積データの活用</a:t>
                      </a:r>
                      <a:endParaRPr kumimoji="1" lang="en-US" altLang="ja-JP" sz="2200" dirty="0"/>
                    </a:p>
                  </a:txBody>
                  <a:tcPr anchor="ctr"/>
                </a:tc>
                <a:extLst>
                  <a:ext uri="{0D108BD9-81ED-4DB2-BD59-A6C34878D82A}">
                    <a16:rowId xmlns:a16="http://schemas.microsoft.com/office/drawing/2014/main" val="1618284676"/>
                  </a:ext>
                </a:extLst>
              </a:tr>
              <a:tr h="1275106">
                <a:tc>
                  <a:txBody>
                    <a:bodyPr/>
                    <a:lstStyle/>
                    <a:p>
                      <a:pPr algn="ctr"/>
                      <a:r>
                        <a:rPr kumimoji="1" lang="ja-JP" altLang="en-US" sz="2800" b="1" dirty="0"/>
                        <a:t>③</a:t>
                      </a:r>
                    </a:p>
                  </a:txBody>
                  <a:tcPr anchor="ctr"/>
                </a:tc>
                <a:tc>
                  <a:txBody>
                    <a:bodyPr/>
                    <a:lstStyle/>
                    <a:p>
                      <a:r>
                        <a:rPr kumimoji="1" lang="ja-JP" altLang="en-US" sz="2800" b="1" dirty="0"/>
                        <a:t>家庭用機器への展開</a:t>
                      </a:r>
                    </a:p>
                  </a:txBody>
                  <a:tcPr anchor="ctr"/>
                </a:tc>
                <a:tc>
                  <a:txBody>
                    <a:bodyPr/>
                    <a:lstStyle/>
                    <a:p>
                      <a:r>
                        <a:rPr kumimoji="1" lang="ja-JP" altLang="en-US" sz="2200" dirty="0"/>
                        <a:t>・メーカーによるモニタリング</a:t>
                      </a:r>
                      <a:endParaRPr kumimoji="1" lang="en-US" altLang="ja-JP" sz="2200" dirty="0"/>
                    </a:p>
                    <a:p>
                      <a:r>
                        <a:rPr kumimoji="1" lang="ja-JP" altLang="en-US" sz="2200" dirty="0"/>
                        <a:t>・ユーザー誘導型メンテ</a:t>
                      </a:r>
                    </a:p>
                  </a:txBody>
                  <a:tcPr anchor="ctr"/>
                </a:tc>
                <a:extLst>
                  <a:ext uri="{0D108BD9-81ED-4DB2-BD59-A6C34878D82A}">
                    <a16:rowId xmlns:a16="http://schemas.microsoft.com/office/drawing/2014/main" val="2465788846"/>
                  </a:ext>
                </a:extLst>
              </a:tr>
            </a:tbl>
          </a:graphicData>
        </a:graphic>
      </p:graphicFrame>
    </p:spTree>
    <p:extLst>
      <p:ext uri="{BB962C8B-B14F-4D97-AF65-F5344CB8AC3E}">
        <p14:creationId xmlns:p14="http://schemas.microsoft.com/office/powerpoint/2010/main" val="196362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288E01-0A7E-F6B9-374B-1EB925680C7F}"/>
              </a:ext>
            </a:extLst>
          </p:cNvPr>
          <p:cNvSpPr>
            <a:spLocks noGrp="1"/>
          </p:cNvSpPr>
          <p:nvPr>
            <p:ph type="title"/>
          </p:nvPr>
        </p:nvSpPr>
        <p:spPr>
          <a:xfrm>
            <a:off x="1141412" y="618518"/>
            <a:ext cx="9905998" cy="1478570"/>
          </a:xfrm>
        </p:spPr>
        <p:txBody>
          <a:bodyPr>
            <a:normAutofit/>
          </a:bodyPr>
          <a:lstStyle/>
          <a:p>
            <a:r>
              <a:rPr lang="en-US" altLang="ja-JP" sz="4400" b="1" dirty="0">
                <a:latin typeface="+mj-ea"/>
              </a:rPr>
              <a:t>14. </a:t>
            </a:r>
            <a:r>
              <a:rPr lang="ja-JP" altLang="en-US" sz="4400" b="1" dirty="0">
                <a:latin typeface="+mj-ea"/>
              </a:rPr>
              <a:t>本分析を通じての学び</a:t>
            </a:r>
            <a:endParaRPr kumimoji="1" lang="ja-JP" altLang="en-US" sz="4400" b="1" dirty="0">
              <a:latin typeface="+mj-ea"/>
            </a:endParaRPr>
          </a:p>
        </p:txBody>
      </p:sp>
      <p:graphicFrame>
        <p:nvGraphicFramePr>
          <p:cNvPr id="4" name="コンテンツ プレースホルダー 3">
            <a:extLst>
              <a:ext uri="{FF2B5EF4-FFF2-40B4-BE49-F238E27FC236}">
                <a16:creationId xmlns:a16="http://schemas.microsoft.com/office/drawing/2014/main" id="{934A2462-7598-EDEB-CF22-ACF912F92601}"/>
              </a:ext>
            </a:extLst>
          </p:cNvPr>
          <p:cNvGraphicFramePr>
            <a:graphicFrameLocks noGrp="1"/>
          </p:cNvGraphicFramePr>
          <p:nvPr>
            <p:ph idx="1"/>
            <p:extLst>
              <p:ext uri="{D42A27DB-BD31-4B8C-83A1-F6EECF244321}">
                <p14:modId xmlns:p14="http://schemas.microsoft.com/office/powerpoint/2010/main" val="3287115341"/>
              </p:ext>
            </p:extLst>
          </p:nvPr>
        </p:nvGraphicFramePr>
        <p:xfrm>
          <a:off x="1141412" y="1742304"/>
          <a:ext cx="10132013" cy="4986914"/>
        </p:xfrm>
        <a:graphic>
          <a:graphicData uri="http://schemas.openxmlformats.org/drawingml/2006/table">
            <a:tbl>
              <a:tblPr firstRow="1" bandRow="1">
                <a:tableStyleId>{21E4AEA4-8DFA-4A89-87EB-49C32662AFE0}</a:tableStyleId>
              </a:tblPr>
              <a:tblGrid>
                <a:gridCol w="2651872">
                  <a:extLst>
                    <a:ext uri="{9D8B030D-6E8A-4147-A177-3AD203B41FA5}">
                      <a16:colId xmlns:a16="http://schemas.microsoft.com/office/drawing/2014/main" val="2015793499"/>
                    </a:ext>
                  </a:extLst>
                </a:gridCol>
                <a:gridCol w="7480141">
                  <a:extLst>
                    <a:ext uri="{9D8B030D-6E8A-4147-A177-3AD203B41FA5}">
                      <a16:colId xmlns:a16="http://schemas.microsoft.com/office/drawing/2014/main" val="2608710843"/>
                    </a:ext>
                  </a:extLst>
                </a:gridCol>
              </a:tblGrid>
              <a:tr h="609831">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003044738"/>
                  </a:ext>
                </a:extLst>
              </a:tr>
              <a:tr h="1323304">
                <a:tc>
                  <a:txBody>
                    <a:bodyPr/>
                    <a:lstStyle/>
                    <a:p>
                      <a:pPr algn="ctr"/>
                      <a:r>
                        <a:rPr kumimoji="1" lang="ja-JP" altLang="en-US" sz="2800" b="1" dirty="0"/>
                        <a:t>データ理解の</a:t>
                      </a:r>
                      <a:endParaRPr kumimoji="1" lang="en-US" altLang="ja-JP" sz="2800" b="1" dirty="0"/>
                    </a:p>
                    <a:p>
                      <a:pPr algn="ctr"/>
                      <a:r>
                        <a:rPr kumimoji="1" lang="ja-JP" altLang="en-US" sz="2800" b="1" dirty="0"/>
                        <a:t>重要性</a:t>
                      </a:r>
                    </a:p>
                  </a:txBody>
                  <a:tcPr anchor="ctr"/>
                </a:tc>
                <a:tc>
                  <a:txBody>
                    <a:bodyPr/>
                    <a:lstStyle/>
                    <a:p>
                      <a:r>
                        <a:rPr kumimoji="1" lang="ja-JP" altLang="en-US" sz="2200" dirty="0"/>
                        <a:t>・ドメイン知識や特徴量の意味をまず学び、</a:t>
                      </a:r>
                      <a:endParaRPr kumimoji="1" lang="en-US" altLang="ja-JP" sz="2200" dirty="0"/>
                    </a:p>
                    <a:p>
                      <a:r>
                        <a:rPr kumimoji="1" lang="ja-JP" altLang="en-US" sz="2200" dirty="0"/>
                        <a:t>それから作業に入る重要性を痛感。</a:t>
                      </a:r>
                      <a:endParaRPr kumimoji="1" lang="en-US" altLang="ja-JP" sz="2200" dirty="0"/>
                    </a:p>
                    <a:p>
                      <a:r>
                        <a:rPr kumimoji="1" lang="ja-JP" altLang="en-US" sz="2200" dirty="0"/>
                        <a:t>・事前調査がモデル精度向上につながる。</a:t>
                      </a:r>
                    </a:p>
                  </a:txBody>
                  <a:tcPr anchor="ctr"/>
                </a:tc>
                <a:extLst>
                  <a:ext uri="{0D108BD9-81ED-4DB2-BD59-A6C34878D82A}">
                    <a16:rowId xmlns:a16="http://schemas.microsoft.com/office/drawing/2014/main" val="2093159803"/>
                  </a:ext>
                </a:extLst>
              </a:tr>
              <a:tr h="1323304">
                <a:tc>
                  <a:txBody>
                    <a:bodyPr/>
                    <a:lstStyle/>
                    <a:p>
                      <a:pPr algn="ctr"/>
                      <a:r>
                        <a:rPr kumimoji="1" lang="ja-JP" altLang="en-US" sz="2800" b="1" dirty="0"/>
                        <a:t>作業内容保存</a:t>
                      </a:r>
                    </a:p>
                  </a:txBody>
                  <a:tcPr anchor="ctr"/>
                </a:tc>
                <a:tc>
                  <a:txBody>
                    <a:bodyPr/>
                    <a:lstStyle/>
                    <a:p>
                      <a:r>
                        <a:rPr kumimoji="1" lang="ja-JP" altLang="en-US" sz="2200" dirty="0"/>
                        <a:t>・日々の分析・モデル構築での作業ログを適切に保管し、</a:t>
                      </a:r>
                      <a:endParaRPr kumimoji="1" lang="en-US" altLang="ja-JP" sz="2200" dirty="0"/>
                    </a:p>
                    <a:p>
                      <a:r>
                        <a:rPr kumimoji="1" lang="ja-JP" altLang="en-US" sz="2200" dirty="0"/>
                        <a:t>再現性を高め、効率的な振り返りができるようになると実感。</a:t>
                      </a:r>
                    </a:p>
                  </a:txBody>
                  <a:tcPr anchor="ctr"/>
                </a:tc>
                <a:extLst>
                  <a:ext uri="{0D108BD9-81ED-4DB2-BD59-A6C34878D82A}">
                    <a16:rowId xmlns:a16="http://schemas.microsoft.com/office/drawing/2014/main" val="3122986398"/>
                  </a:ext>
                </a:extLst>
              </a:tr>
              <a:tr h="1730475">
                <a:tc>
                  <a:txBody>
                    <a:bodyPr/>
                    <a:lstStyle/>
                    <a:p>
                      <a:pPr algn="ctr"/>
                      <a:r>
                        <a:rPr kumimoji="1" lang="ja-JP" altLang="en-US" sz="2800" b="1" dirty="0"/>
                        <a:t>業務的視点</a:t>
                      </a:r>
                    </a:p>
                  </a:txBody>
                  <a:tcPr anchor="ctr"/>
                </a:tc>
                <a:tc>
                  <a:txBody>
                    <a:bodyPr/>
                    <a:lstStyle/>
                    <a:p>
                      <a:r>
                        <a:rPr kumimoji="1" lang="ja-JP" altLang="en-US" sz="2200" dirty="0"/>
                        <a:t>・予測結果を業務改善にどう活用するのかの視点が芽生えた。</a:t>
                      </a:r>
                      <a:endParaRPr kumimoji="1" lang="en-US" altLang="ja-JP" sz="2200" dirty="0"/>
                    </a:p>
                    <a:p>
                      <a:r>
                        <a:rPr kumimoji="1" lang="ja-JP" altLang="en-US" sz="2200" dirty="0"/>
                        <a:t>・目的を見据え、適切な手法を選択する経験を積んだ。</a:t>
                      </a:r>
                      <a:endParaRPr kumimoji="1" lang="en-US" altLang="ja-JP" sz="2200" dirty="0"/>
                    </a:p>
                  </a:txBody>
                  <a:tcPr anchor="ctr"/>
                </a:tc>
                <a:extLst>
                  <a:ext uri="{0D108BD9-81ED-4DB2-BD59-A6C34878D82A}">
                    <a16:rowId xmlns:a16="http://schemas.microsoft.com/office/drawing/2014/main" val="1838278047"/>
                  </a:ext>
                </a:extLst>
              </a:tr>
            </a:tbl>
          </a:graphicData>
        </a:graphic>
      </p:graphicFrame>
    </p:spTree>
    <p:extLst>
      <p:ext uri="{BB962C8B-B14F-4D97-AF65-F5344CB8AC3E}">
        <p14:creationId xmlns:p14="http://schemas.microsoft.com/office/powerpoint/2010/main" val="306727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87A3-40FF-83D9-F533-55A3CC824434}"/>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CCE567EB-DA03-613F-5143-9C93EB209B40}"/>
              </a:ext>
            </a:extLst>
          </p:cNvPr>
          <p:cNvSpPr>
            <a:spLocks noGrp="1"/>
          </p:cNvSpPr>
          <p:nvPr>
            <p:ph type="title"/>
          </p:nvPr>
        </p:nvSpPr>
        <p:spPr>
          <a:xfrm>
            <a:off x="1143001" y="640600"/>
            <a:ext cx="9905998" cy="2120529"/>
          </a:xfrm>
        </p:spPr>
        <p:txBody>
          <a:bodyPr>
            <a:normAutofit/>
          </a:bodyPr>
          <a:lstStyle/>
          <a:p>
            <a:pPr algn="ctr"/>
            <a:r>
              <a:rPr kumimoji="1" lang="ja-JP" altLang="en-US" sz="4800" b="1" dirty="0"/>
              <a:t>ご清聴ありがとうございました</a:t>
            </a:r>
            <a:r>
              <a:rPr lang="ja-JP" altLang="en-US" sz="4800" b="1" dirty="0"/>
              <a:t>！</a:t>
            </a:r>
            <a:endParaRPr kumimoji="1" lang="ja-JP" altLang="en-US" sz="4800" b="1" dirty="0"/>
          </a:p>
        </p:txBody>
      </p:sp>
      <p:pic>
        <p:nvPicPr>
          <p:cNvPr id="6" name="図 5">
            <a:extLst>
              <a:ext uri="{FF2B5EF4-FFF2-40B4-BE49-F238E27FC236}">
                <a16:creationId xmlns:a16="http://schemas.microsoft.com/office/drawing/2014/main" id="{5DAB45CB-7E61-EF56-B698-DED400063C97}"/>
              </a:ext>
            </a:extLst>
          </p:cNvPr>
          <p:cNvPicPr>
            <a:picLocks noChangeAspect="1"/>
          </p:cNvPicPr>
          <p:nvPr/>
        </p:nvPicPr>
        <p:blipFill>
          <a:blip r:embed="rId3"/>
          <a:stretch>
            <a:fillRect/>
          </a:stretch>
        </p:blipFill>
        <p:spPr>
          <a:xfrm>
            <a:off x="3543739" y="2761129"/>
            <a:ext cx="5104522" cy="3818965"/>
          </a:xfrm>
          <a:prstGeom prst="rect">
            <a:avLst/>
          </a:prstGeom>
          <a:ln>
            <a:noFill/>
          </a:ln>
          <a:effectLst/>
        </p:spPr>
      </p:pic>
    </p:spTree>
    <p:extLst>
      <p:ext uri="{BB962C8B-B14F-4D97-AF65-F5344CB8AC3E}">
        <p14:creationId xmlns:p14="http://schemas.microsoft.com/office/powerpoint/2010/main" val="151448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C72BD7-9B38-63A8-911E-20B0B0EB0785}"/>
              </a:ext>
            </a:extLst>
          </p:cNvPr>
          <p:cNvSpPr>
            <a:spLocks noGrp="1"/>
          </p:cNvSpPr>
          <p:nvPr>
            <p:ph type="title"/>
          </p:nvPr>
        </p:nvSpPr>
        <p:spPr>
          <a:xfrm>
            <a:off x="1146705" y="957560"/>
            <a:ext cx="3856037" cy="564523"/>
          </a:xfrm>
        </p:spPr>
        <p:txBody>
          <a:bodyPr>
            <a:noAutofit/>
          </a:bodyPr>
          <a:lstStyle/>
          <a:p>
            <a:r>
              <a:rPr kumimoji="1" lang="en-US" altLang="ja-JP" sz="4000" b="1" dirty="0"/>
              <a:t>3.</a:t>
            </a:r>
            <a:r>
              <a:rPr kumimoji="1" lang="ja-JP" altLang="en-US" sz="4000" b="1" dirty="0"/>
              <a:t>発表者紹介</a:t>
            </a:r>
          </a:p>
        </p:txBody>
      </p:sp>
      <p:pic>
        <p:nvPicPr>
          <p:cNvPr id="6" name="コンテンツ プレースホルダー 5">
            <a:extLst>
              <a:ext uri="{FF2B5EF4-FFF2-40B4-BE49-F238E27FC236}">
                <a16:creationId xmlns:a16="http://schemas.microsoft.com/office/drawing/2014/main" id="{9BEB288C-E2BF-73AF-8B92-01C44CF1E00C}"/>
              </a:ext>
            </a:extLst>
          </p:cNvPr>
          <p:cNvPicPr>
            <a:picLocks noGrp="1" noChangeAspect="1"/>
          </p:cNvPicPr>
          <p:nvPr>
            <p:ph idx="1"/>
          </p:nvPr>
        </p:nvPicPr>
        <p:blipFill>
          <a:blip r:embed="rId3"/>
          <a:stretch>
            <a:fillRect/>
          </a:stretch>
        </p:blipFill>
        <p:spPr>
          <a:xfrm>
            <a:off x="9015941" y="1522083"/>
            <a:ext cx="2398648" cy="4269117"/>
          </a:xfrm>
        </p:spPr>
      </p:pic>
      <p:sp>
        <p:nvSpPr>
          <p:cNvPr id="4" name="テキスト プレースホルダー 3">
            <a:extLst>
              <a:ext uri="{FF2B5EF4-FFF2-40B4-BE49-F238E27FC236}">
                <a16:creationId xmlns:a16="http://schemas.microsoft.com/office/drawing/2014/main" id="{8F209010-2993-BDC9-B5EF-B4741A69E10D}"/>
              </a:ext>
            </a:extLst>
          </p:cNvPr>
          <p:cNvSpPr>
            <a:spLocks noGrp="1"/>
          </p:cNvSpPr>
          <p:nvPr>
            <p:ph type="body" sz="half" idx="2"/>
          </p:nvPr>
        </p:nvSpPr>
        <p:spPr>
          <a:xfrm>
            <a:off x="1146705" y="1522083"/>
            <a:ext cx="7869236" cy="5186942"/>
          </a:xfrm>
        </p:spPr>
        <p:txBody>
          <a:bodyPr numCol="2">
            <a:normAutofit lnSpcReduction="10000"/>
          </a:bodyPr>
          <a:lstStyle/>
          <a:p>
            <a:r>
              <a:rPr kumimoji="1" lang="ja-JP" altLang="en-US" sz="2400" b="1" dirty="0"/>
              <a:t>発表者</a:t>
            </a:r>
            <a:r>
              <a:rPr lang="ja-JP" altLang="en-US" sz="2400" b="1" dirty="0"/>
              <a:t>：</a:t>
            </a:r>
            <a:r>
              <a:rPr kumimoji="1" lang="ja-JP" altLang="en-US" sz="2400" b="1" dirty="0"/>
              <a:t>仲村　翔</a:t>
            </a:r>
            <a:endParaRPr kumimoji="1" lang="en-US" altLang="ja-JP" sz="2400" b="1" dirty="0"/>
          </a:p>
          <a:p>
            <a:r>
              <a:rPr lang="ja-JP" altLang="en-US" sz="2000" dirty="0"/>
              <a:t>・</a:t>
            </a:r>
            <a:r>
              <a:rPr lang="en-US" altLang="ja-JP" sz="2000" dirty="0"/>
              <a:t>1990</a:t>
            </a:r>
            <a:r>
              <a:rPr lang="ja-JP" altLang="en-US" sz="2000" dirty="0"/>
              <a:t>年</a:t>
            </a:r>
            <a:r>
              <a:rPr lang="en-US" altLang="ja-JP" sz="2000" dirty="0"/>
              <a:t>1</a:t>
            </a:r>
            <a:r>
              <a:rPr lang="ja-JP" altLang="en-US" sz="2000" dirty="0"/>
              <a:t>月</a:t>
            </a:r>
            <a:r>
              <a:rPr lang="en-US" altLang="ja-JP" sz="2000" dirty="0"/>
              <a:t>16</a:t>
            </a:r>
            <a:r>
              <a:rPr lang="ja-JP" altLang="en-US" sz="2000" dirty="0"/>
              <a:t>日生（</a:t>
            </a:r>
            <a:r>
              <a:rPr lang="en-US" altLang="ja-JP" sz="2000" dirty="0"/>
              <a:t>35</a:t>
            </a:r>
            <a:r>
              <a:rPr lang="ja-JP" altLang="en-US" sz="2000" dirty="0"/>
              <a:t>歳）</a:t>
            </a:r>
            <a:endParaRPr kumimoji="1" lang="en-US" altLang="ja-JP" sz="2000" dirty="0"/>
          </a:p>
          <a:p>
            <a:r>
              <a:rPr lang="ja-JP" altLang="en-US" sz="2000" dirty="0"/>
              <a:t>・趣味：模型製作、野球観戦、</a:t>
            </a:r>
            <a:endParaRPr lang="en-US" altLang="ja-JP" sz="2000" dirty="0"/>
          </a:p>
          <a:p>
            <a:r>
              <a:rPr kumimoji="1" lang="ja-JP" altLang="en-US" sz="2000" dirty="0"/>
              <a:t>・大切なもの：娘と過ごす時間</a:t>
            </a:r>
            <a:endParaRPr kumimoji="1" lang="en-US" altLang="ja-JP" sz="2000" dirty="0"/>
          </a:p>
          <a:p>
            <a:r>
              <a:rPr kumimoji="1" lang="ja-JP" altLang="en-US" sz="2000" dirty="0"/>
              <a:t>・日本工学院専門学校蒲田校</a:t>
            </a:r>
            <a:endParaRPr kumimoji="1" lang="en-US" altLang="ja-JP" sz="2000" dirty="0"/>
          </a:p>
          <a:p>
            <a:r>
              <a:rPr kumimoji="1" lang="ja-JP" altLang="en-US" sz="2000" dirty="0"/>
              <a:t>　声優俳優科、</a:t>
            </a:r>
            <a:r>
              <a:rPr kumimoji="1" lang="en-US" altLang="ja-JP" sz="2000" dirty="0"/>
              <a:t>2010</a:t>
            </a:r>
            <a:r>
              <a:rPr kumimoji="1" lang="ja-JP" altLang="en-US" sz="2000" dirty="0"/>
              <a:t>年</a:t>
            </a:r>
            <a:r>
              <a:rPr kumimoji="1" lang="en-US" altLang="ja-JP" sz="2000" dirty="0"/>
              <a:t>3</a:t>
            </a:r>
            <a:r>
              <a:rPr kumimoji="1" lang="ja-JP" altLang="en-US" sz="2000" dirty="0"/>
              <a:t>月卒業</a:t>
            </a:r>
            <a:endParaRPr kumimoji="1" lang="en-US" altLang="ja-JP" sz="2000" dirty="0"/>
          </a:p>
          <a:p>
            <a:endParaRPr lang="en-US" altLang="ja-JP" sz="2400" b="1" dirty="0"/>
          </a:p>
          <a:p>
            <a:endParaRPr lang="en-US" altLang="ja-JP" sz="2400" b="1" dirty="0"/>
          </a:p>
          <a:p>
            <a:endParaRPr lang="en-US" altLang="ja-JP" sz="2400" b="1" dirty="0"/>
          </a:p>
          <a:p>
            <a:endParaRPr lang="en-US" altLang="ja-JP" sz="2400" b="1" dirty="0"/>
          </a:p>
          <a:p>
            <a:r>
              <a:rPr lang="ja-JP" altLang="en-US" sz="2400" b="1" dirty="0"/>
              <a:t>前職：社内システム管理</a:t>
            </a:r>
            <a:endParaRPr lang="en-US" altLang="ja-JP" sz="2400" b="1" dirty="0"/>
          </a:p>
          <a:p>
            <a:r>
              <a:rPr lang="ja-JP" altLang="en-US" sz="2000" dirty="0"/>
              <a:t>・</a:t>
            </a:r>
            <a:r>
              <a:rPr lang="en-US" altLang="ja-JP" sz="2000" dirty="0"/>
              <a:t>2014</a:t>
            </a:r>
            <a:r>
              <a:rPr lang="ja-JP" altLang="en-US" sz="2000" dirty="0"/>
              <a:t>年</a:t>
            </a:r>
            <a:r>
              <a:rPr lang="en-US" altLang="ja-JP" sz="2000" dirty="0"/>
              <a:t>9</a:t>
            </a:r>
            <a:r>
              <a:rPr lang="ja-JP" altLang="en-US" sz="2000" dirty="0"/>
              <a:t>月～</a:t>
            </a:r>
            <a:r>
              <a:rPr lang="en-US" altLang="ja-JP" sz="2000" dirty="0"/>
              <a:t>2019</a:t>
            </a:r>
            <a:r>
              <a:rPr lang="ja-JP" altLang="en-US" sz="2000" dirty="0"/>
              <a:t>年</a:t>
            </a:r>
            <a:r>
              <a:rPr lang="en-US" altLang="ja-JP" sz="2000" dirty="0"/>
              <a:t>6</a:t>
            </a:r>
            <a:r>
              <a:rPr lang="ja-JP" altLang="en-US" sz="2000" dirty="0"/>
              <a:t>月まで在籍</a:t>
            </a:r>
            <a:endParaRPr lang="en-US" altLang="ja-JP" sz="2000" dirty="0"/>
          </a:p>
          <a:p>
            <a:r>
              <a:rPr lang="ja-JP" altLang="en-US" sz="2000" dirty="0"/>
              <a:t>・機材調達及び管理</a:t>
            </a:r>
            <a:endParaRPr lang="en-US" altLang="ja-JP" sz="2000" dirty="0"/>
          </a:p>
          <a:p>
            <a:r>
              <a:rPr lang="ja-JP" altLang="en-US" sz="2000" dirty="0"/>
              <a:t>・業務システムの保守管理</a:t>
            </a:r>
            <a:endParaRPr lang="en-US" altLang="ja-JP" sz="2000" dirty="0"/>
          </a:p>
          <a:p>
            <a:r>
              <a:rPr lang="ja-JP" altLang="en-US" sz="2000" dirty="0"/>
              <a:t>・社内ヘルプデスク</a:t>
            </a:r>
            <a:endParaRPr lang="en-US" altLang="ja-JP" sz="2000" dirty="0"/>
          </a:p>
          <a:p>
            <a:r>
              <a:rPr lang="ja-JP" altLang="en-US" sz="2400" b="1" dirty="0"/>
              <a:t>障害：うつ病</a:t>
            </a:r>
            <a:endParaRPr lang="en-US" altLang="ja-JP" sz="2400" dirty="0"/>
          </a:p>
          <a:p>
            <a:r>
              <a:rPr lang="ja-JP" altLang="en-US" sz="2000" dirty="0"/>
              <a:t>・前職を退職後、専業主夫として子育てに専念。</a:t>
            </a:r>
            <a:endParaRPr lang="en-US" altLang="ja-JP" sz="2000" dirty="0"/>
          </a:p>
          <a:p>
            <a:r>
              <a:rPr lang="ja-JP" altLang="en-US" sz="2000" dirty="0"/>
              <a:t>・</a:t>
            </a:r>
            <a:r>
              <a:rPr lang="en-US" altLang="ja-JP" sz="2000" dirty="0"/>
              <a:t>2024</a:t>
            </a:r>
            <a:r>
              <a:rPr lang="ja-JP" altLang="en-US" sz="2000" dirty="0"/>
              <a:t>年</a:t>
            </a:r>
            <a:r>
              <a:rPr lang="en-US" altLang="ja-JP" sz="2000" dirty="0"/>
              <a:t>7</a:t>
            </a:r>
            <a:r>
              <a:rPr lang="ja-JP" altLang="en-US" sz="2000" dirty="0"/>
              <a:t>月より</a:t>
            </a:r>
            <a:r>
              <a:rPr lang="en-US" altLang="ja-JP" sz="2000" dirty="0"/>
              <a:t>NDY</a:t>
            </a:r>
            <a:r>
              <a:rPr lang="ja-JP" altLang="en-US" sz="2000" dirty="0"/>
              <a:t>にて復職を目指し訓練中。</a:t>
            </a:r>
            <a:endParaRPr lang="en-US" altLang="ja-JP" sz="2000" dirty="0"/>
          </a:p>
          <a:p>
            <a:endParaRPr lang="en-US" altLang="ja-JP" sz="2000" dirty="0"/>
          </a:p>
        </p:txBody>
      </p:sp>
    </p:spTree>
    <p:extLst>
      <p:ext uri="{BB962C8B-B14F-4D97-AF65-F5344CB8AC3E}">
        <p14:creationId xmlns:p14="http://schemas.microsoft.com/office/powerpoint/2010/main" val="106110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9AA3C7-6BDE-C91E-C4F0-6A24DB3D1736}"/>
              </a:ext>
            </a:extLst>
          </p:cNvPr>
          <p:cNvSpPr>
            <a:spLocks noGrp="1"/>
          </p:cNvSpPr>
          <p:nvPr>
            <p:ph type="title"/>
          </p:nvPr>
        </p:nvSpPr>
        <p:spPr>
          <a:xfrm>
            <a:off x="1141413" y="618518"/>
            <a:ext cx="9905998" cy="809590"/>
          </a:xfrm>
        </p:spPr>
        <p:txBody>
          <a:bodyPr>
            <a:normAutofit/>
          </a:bodyPr>
          <a:lstStyle/>
          <a:p>
            <a:r>
              <a:rPr kumimoji="1" lang="en-US" altLang="ja-JP" sz="4000" b="1" dirty="0"/>
              <a:t>4.</a:t>
            </a:r>
            <a:r>
              <a:rPr kumimoji="1" lang="ja-JP" altLang="en-US" sz="4000" b="1" dirty="0"/>
              <a:t>テーマ概要</a:t>
            </a:r>
          </a:p>
        </p:txBody>
      </p:sp>
      <p:sp>
        <p:nvSpPr>
          <p:cNvPr id="3" name="コンテンツ プレースホルダー 2">
            <a:extLst>
              <a:ext uri="{FF2B5EF4-FFF2-40B4-BE49-F238E27FC236}">
                <a16:creationId xmlns:a16="http://schemas.microsoft.com/office/drawing/2014/main" id="{BA88050A-2571-7FCF-72A1-947B92AA5827}"/>
              </a:ext>
            </a:extLst>
          </p:cNvPr>
          <p:cNvSpPr>
            <a:spLocks noGrp="1"/>
          </p:cNvSpPr>
          <p:nvPr>
            <p:ph idx="1"/>
          </p:nvPr>
        </p:nvSpPr>
        <p:spPr>
          <a:xfrm>
            <a:off x="1141412" y="1428108"/>
            <a:ext cx="9905999" cy="5239820"/>
          </a:xfrm>
        </p:spPr>
        <p:txBody>
          <a:bodyPr>
            <a:normAutofit/>
          </a:bodyPr>
          <a:lstStyle/>
          <a:p>
            <a:pPr marL="0" indent="0">
              <a:buNone/>
            </a:pPr>
            <a:r>
              <a:rPr kumimoji="1" lang="en-US" altLang="ja-JP" sz="2800" dirty="0"/>
              <a:t>【</a:t>
            </a:r>
            <a:r>
              <a:rPr kumimoji="1" lang="ja-JP" altLang="en-US" sz="2800" dirty="0"/>
              <a:t>テーマ</a:t>
            </a:r>
            <a:r>
              <a:rPr kumimoji="1" lang="en-US" altLang="ja-JP" sz="2800" dirty="0"/>
              <a:t>】</a:t>
            </a:r>
            <a:r>
              <a:rPr kumimoji="1" lang="ja-JP" altLang="en-US" sz="2800" dirty="0"/>
              <a:t>ターボエンジンの残存耐用時間予測について</a:t>
            </a:r>
            <a:endParaRPr kumimoji="1" lang="en-US" altLang="ja-JP" sz="2800" dirty="0"/>
          </a:p>
          <a:p>
            <a:pPr marL="0" indent="0">
              <a:buNone/>
            </a:pPr>
            <a:r>
              <a:rPr lang="ja-JP" altLang="en-US" dirty="0"/>
              <a:t>・航空機ターボエンジンの使用状況から残存耐用時間（</a:t>
            </a:r>
            <a:r>
              <a:rPr lang="en-US" altLang="ja-JP" dirty="0"/>
              <a:t>RUL</a:t>
            </a:r>
            <a:r>
              <a:rPr lang="ja-JP" altLang="en-US" dirty="0"/>
              <a:t>）を予測する。</a:t>
            </a:r>
            <a:endParaRPr lang="en-US" altLang="ja-JP" dirty="0"/>
          </a:p>
          <a:p>
            <a:pPr marL="0" indent="0">
              <a:buNone/>
            </a:pPr>
            <a:r>
              <a:rPr lang="ja-JP" altLang="en-US" dirty="0"/>
              <a:t>・</a:t>
            </a:r>
            <a:r>
              <a:rPr lang="en-US" altLang="ja-JP" dirty="0" err="1"/>
              <a:t>Nishika</a:t>
            </a:r>
            <a:r>
              <a:rPr lang="ja-JP" altLang="en-US" dirty="0"/>
              <a:t>の終了済みコンペを利用。</a:t>
            </a:r>
            <a:endParaRPr lang="en-US" altLang="ja-JP" dirty="0"/>
          </a:p>
          <a:p>
            <a:pPr marL="0" indent="0">
              <a:buNone/>
            </a:pPr>
            <a:r>
              <a:rPr lang="en-US" altLang="ja-JP" sz="2800" dirty="0"/>
              <a:t>【</a:t>
            </a:r>
            <a:r>
              <a:rPr lang="ja-JP" altLang="en-US" sz="2800" dirty="0"/>
              <a:t>テーマの選定理由</a:t>
            </a:r>
            <a:r>
              <a:rPr lang="en-US" altLang="ja-JP" sz="2800" dirty="0"/>
              <a:t>】</a:t>
            </a:r>
          </a:p>
          <a:p>
            <a:pPr marL="0" indent="0">
              <a:buNone/>
            </a:pPr>
            <a:r>
              <a:rPr kumimoji="1" lang="ja-JP" altLang="en-US" dirty="0"/>
              <a:t>・航空機ターボエンジンの使用状況のデータは非公開のことが多く、実際に触れることができる機会が貴重だと思ったため。</a:t>
            </a:r>
          </a:p>
          <a:p>
            <a:pPr marL="0" indent="0">
              <a:buNone/>
            </a:pPr>
            <a:r>
              <a:rPr kumimoji="1" lang="ja-JP" altLang="en-US" dirty="0"/>
              <a:t>・ターボエンジンの残存耐用時間の予測ができれば、様々な機器に転用できると思ったため。</a:t>
            </a:r>
          </a:p>
        </p:txBody>
      </p:sp>
    </p:spTree>
    <p:extLst>
      <p:ext uri="{BB962C8B-B14F-4D97-AF65-F5344CB8AC3E}">
        <p14:creationId xmlns:p14="http://schemas.microsoft.com/office/powerpoint/2010/main" val="199818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16ED13-104E-495B-177D-757EB8DDAEAA}"/>
              </a:ext>
            </a:extLst>
          </p:cNvPr>
          <p:cNvSpPr>
            <a:spLocks noGrp="1"/>
          </p:cNvSpPr>
          <p:nvPr>
            <p:ph type="title"/>
          </p:nvPr>
        </p:nvSpPr>
        <p:spPr>
          <a:xfrm>
            <a:off x="1141413" y="618518"/>
            <a:ext cx="9905998" cy="912331"/>
          </a:xfrm>
        </p:spPr>
        <p:txBody>
          <a:bodyPr>
            <a:normAutofit/>
          </a:bodyPr>
          <a:lstStyle/>
          <a:p>
            <a:r>
              <a:rPr kumimoji="1" lang="en-US" altLang="ja-JP" sz="4000" b="1" dirty="0"/>
              <a:t>5.</a:t>
            </a:r>
            <a:r>
              <a:rPr lang="ja-JP" altLang="en-US" sz="4000" b="1" dirty="0"/>
              <a:t>背景</a:t>
            </a:r>
            <a:endParaRPr kumimoji="1" lang="ja-JP" altLang="en-US" sz="4000" b="1" dirty="0"/>
          </a:p>
        </p:txBody>
      </p:sp>
      <p:sp>
        <p:nvSpPr>
          <p:cNvPr id="3" name="コンテンツ プレースホルダー 2">
            <a:extLst>
              <a:ext uri="{FF2B5EF4-FFF2-40B4-BE49-F238E27FC236}">
                <a16:creationId xmlns:a16="http://schemas.microsoft.com/office/drawing/2014/main" id="{85BEDF20-5D49-CB21-E766-88A81C102F91}"/>
              </a:ext>
            </a:extLst>
          </p:cNvPr>
          <p:cNvSpPr>
            <a:spLocks noGrp="1"/>
          </p:cNvSpPr>
          <p:nvPr>
            <p:ph idx="1"/>
          </p:nvPr>
        </p:nvSpPr>
        <p:spPr>
          <a:xfrm>
            <a:off x="1141412" y="1530849"/>
            <a:ext cx="9905999" cy="4260352"/>
          </a:xfrm>
        </p:spPr>
        <p:txBody>
          <a:bodyPr/>
          <a:lstStyle/>
          <a:p>
            <a:pPr marL="0" indent="0">
              <a:buNone/>
            </a:pPr>
            <a:r>
              <a:rPr kumimoji="1" lang="en-US" altLang="ja-JP" sz="2800" dirty="0"/>
              <a:t>【</a:t>
            </a:r>
            <a:r>
              <a:rPr kumimoji="1" lang="ja-JP" altLang="en-US" sz="2800" dirty="0"/>
              <a:t>背景</a:t>
            </a:r>
            <a:r>
              <a:rPr kumimoji="1" lang="en-US" altLang="ja-JP" sz="2800" dirty="0"/>
              <a:t>】</a:t>
            </a:r>
          </a:p>
          <a:p>
            <a:pPr marL="0" indent="0">
              <a:buNone/>
            </a:pPr>
            <a:r>
              <a:rPr kumimoji="1" lang="ja-JP" altLang="en-US" dirty="0"/>
              <a:t>・様々な産業において、機器の故障予知や異常検知を機械学習を用いて、</a:t>
            </a:r>
            <a:endParaRPr kumimoji="1" lang="en-US" altLang="ja-JP" dirty="0"/>
          </a:p>
          <a:p>
            <a:pPr marL="0" indent="0">
              <a:buNone/>
            </a:pPr>
            <a:r>
              <a:rPr kumimoji="1" lang="ja-JP" altLang="en-US" dirty="0"/>
              <a:t>より正確に行うための取組が行われている。</a:t>
            </a:r>
          </a:p>
          <a:p>
            <a:pPr marL="0" indent="0">
              <a:buNone/>
            </a:pPr>
            <a:r>
              <a:rPr kumimoji="1" lang="ja-JP" altLang="en-US" dirty="0"/>
              <a:t>・特に多くの乗客の生命を預かる航空機においては、可能な限り早く正確に故障の余地を検知し、的確なメンテナンスを行うことが必要である。</a:t>
            </a:r>
          </a:p>
          <a:p>
            <a:endParaRPr kumimoji="1" lang="ja-JP" altLang="en-US" dirty="0"/>
          </a:p>
        </p:txBody>
      </p:sp>
    </p:spTree>
    <p:extLst>
      <p:ext uri="{BB962C8B-B14F-4D97-AF65-F5344CB8AC3E}">
        <p14:creationId xmlns:p14="http://schemas.microsoft.com/office/powerpoint/2010/main" val="1039103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80124C-705A-5C7A-6FC0-C1403EB283D1}"/>
              </a:ext>
            </a:extLst>
          </p:cNvPr>
          <p:cNvSpPr>
            <a:spLocks noGrp="1"/>
          </p:cNvSpPr>
          <p:nvPr>
            <p:ph type="title"/>
          </p:nvPr>
        </p:nvSpPr>
        <p:spPr>
          <a:xfrm>
            <a:off x="1141413" y="618518"/>
            <a:ext cx="9905998" cy="747945"/>
          </a:xfrm>
        </p:spPr>
        <p:txBody>
          <a:bodyPr/>
          <a:lstStyle/>
          <a:p>
            <a:r>
              <a:rPr kumimoji="1" lang="en-US" altLang="ja-JP" b="1" dirty="0"/>
              <a:t>6.</a:t>
            </a:r>
            <a:r>
              <a:rPr kumimoji="1" lang="ja-JP" altLang="en-US" b="1" dirty="0"/>
              <a:t>結果</a:t>
            </a:r>
          </a:p>
        </p:txBody>
      </p:sp>
      <p:sp>
        <p:nvSpPr>
          <p:cNvPr id="3" name="コンテンツ プレースホルダー 2">
            <a:extLst>
              <a:ext uri="{FF2B5EF4-FFF2-40B4-BE49-F238E27FC236}">
                <a16:creationId xmlns:a16="http://schemas.microsoft.com/office/drawing/2014/main" id="{F288C32B-6D2E-008C-9F4E-8E9B0C2E9BFD}"/>
              </a:ext>
            </a:extLst>
          </p:cNvPr>
          <p:cNvSpPr>
            <a:spLocks noGrp="1"/>
          </p:cNvSpPr>
          <p:nvPr>
            <p:ph idx="1"/>
          </p:nvPr>
        </p:nvSpPr>
        <p:spPr>
          <a:xfrm>
            <a:off x="1141412" y="1479480"/>
            <a:ext cx="9905999" cy="4311722"/>
          </a:xfrm>
        </p:spPr>
        <p:txBody>
          <a:bodyPr/>
          <a:lstStyle/>
          <a:p>
            <a:pPr marL="0" indent="0">
              <a:buNone/>
            </a:pPr>
            <a:r>
              <a:rPr lang="en-US" altLang="ja-JP" sz="3200" dirty="0"/>
              <a:t>【</a:t>
            </a:r>
            <a:r>
              <a:rPr lang="ja-JP" altLang="en-US" sz="3200" dirty="0"/>
              <a:t>結果</a:t>
            </a:r>
            <a:r>
              <a:rPr lang="en-US" altLang="ja-JP" sz="3200" dirty="0"/>
              <a:t>】RMSE</a:t>
            </a:r>
            <a:r>
              <a:rPr lang="ja-JP" altLang="en-US" sz="3200" dirty="0"/>
              <a:t>　</a:t>
            </a:r>
            <a:r>
              <a:rPr lang="en-US" altLang="ja-JP" sz="3200" b="0" i="0" dirty="0">
                <a:effectLst/>
                <a:latin typeface="__Noto_Sans_JP_cbf3a4"/>
              </a:rPr>
              <a:t>23.647268</a:t>
            </a:r>
          </a:p>
          <a:p>
            <a:pPr marL="0" indent="0">
              <a:buNone/>
            </a:pPr>
            <a:r>
              <a:rPr lang="ja-JP" altLang="en-US" dirty="0">
                <a:latin typeface="__Noto_Sans_JP_cbf3a4"/>
              </a:rPr>
              <a:t>・</a:t>
            </a:r>
            <a:r>
              <a:rPr kumimoji="1" lang="ja-JP" altLang="en-US" dirty="0">
                <a:latin typeface="__Noto_Sans_JP_cbf3a4"/>
              </a:rPr>
              <a:t>残りの使用回数予測が０～１００回以上の範囲で、</a:t>
            </a:r>
            <a:endParaRPr kumimoji="1" lang="en-US" altLang="ja-JP" dirty="0">
              <a:latin typeface="__Noto_Sans_JP_cbf3a4"/>
            </a:endParaRPr>
          </a:p>
          <a:p>
            <a:pPr marL="0" indent="0">
              <a:buNone/>
            </a:pPr>
            <a:r>
              <a:rPr kumimoji="1" lang="ja-JP" altLang="en-US" dirty="0">
                <a:latin typeface="__Noto_Sans_JP_cbf3a4"/>
              </a:rPr>
              <a:t>予測誤差</a:t>
            </a:r>
            <a:r>
              <a:rPr kumimoji="1" lang="en-US" altLang="ja-JP" dirty="0">
                <a:latin typeface="__Noto_Sans_JP_cbf3a4"/>
              </a:rPr>
              <a:t>23</a:t>
            </a:r>
            <a:r>
              <a:rPr kumimoji="1" lang="ja-JP" altLang="en-US" dirty="0">
                <a:latin typeface="__Noto_Sans_JP_cbf3a4"/>
              </a:rPr>
              <a:t>回ほどの精度。</a:t>
            </a:r>
            <a:endParaRPr kumimoji="1" lang="en-US" altLang="ja-JP" dirty="0">
              <a:latin typeface="__Noto_Sans_JP_cbf3a4"/>
            </a:endParaRPr>
          </a:p>
          <a:p>
            <a:pPr marL="0" indent="0">
              <a:buNone/>
            </a:pPr>
            <a:r>
              <a:rPr kumimoji="1" lang="ja-JP" altLang="en-US" dirty="0"/>
              <a:t>・必要十分な精度とは言い難い。</a:t>
            </a:r>
            <a:endParaRPr kumimoji="1" lang="en-US" altLang="ja-JP" dirty="0"/>
          </a:p>
          <a:p>
            <a:pPr marL="0" indent="0">
              <a:buNone/>
            </a:pPr>
            <a:r>
              <a:rPr lang="ja-JP" altLang="en-US" dirty="0"/>
              <a:t>・</a:t>
            </a:r>
            <a:r>
              <a:rPr lang="en-US" altLang="ja-JP" dirty="0" err="1"/>
              <a:t>Nishika</a:t>
            </a:r>
            <a:r>
              <a:rPr lang="ja-JP" altLang="en-US" dirty="0"/>
              <a:t>のランキングとしては</a:t>
            </a:r>
            <a:r>
              <a:rPr lang="en-US" altLang="ja-JP" dirty="0"/>
              <a:t>51/348</a:t>
            </a:r>
            <a:r>
              <a:rPr lang="ja-JP" altLang="en-US" dirty="0"/>
              <a:t>位。</a:t>
            </a:r>
            <a:endParaRPr kumimoji="1" lang="ja-JP" altLang="en-US" dirty="0"/>
          </a:p>
        </p:txBody>
      </p:sp>
    </p:spTree>
    <p:extLst>
      <p:ext uri="{BB962C8B-B14F-4D97-AF65-F5344CB8AC3E}">
        <p14:creationId xmlns:p14="http://schemas.microsoft.com/office/powerpoint/2010/main" val="542344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6527CC-C758-2A99-2D68-53F3A654FFBE}"/>
              </a:ext>
            </a:extLst>
          </p:cNvPr>
          <p:cNvSpPr>
            <a:spLocks noGrp="1"/>
          </p:cNvSpPr>
          <p:nvPr>
            <p:ph type="title"/>
          </p:nvPr>
        </p:nvSpPr>
        <p:spPr>
          <a:xfrm>
            <a:off x="1141413" y="618518"/>
            <a:ext cx="9905998" cy="871235"/>
          </a:xfrm>
        </p:spPr>
        <p:txBody>
          <a:bodyPr/>
          <a:lstStyle/>
          <a:p>
            <a:r>
              <a:rPr kumimoji="1" lang="en-US" altLang="ja-JP" b="1" dirty="0"/>
              <a:t>7.</a:t>
            </a:r>
            <a:r>
              <a:rPr kumimoji="1" lang="ja-JP" altLang="en-US" b="1" dirty="0"/>
              <a:t>作業</a:t>
            </a:r>
            <a:r>
              <a:rPr lang="ja-JP" altLang="en-US" b="1" dirty="0"/>
              <a:t>内容</a:t>
            </a:r>
            <a:endParaRPr kumimoji="1" lang="ja-JP" altLang="en-US" b="1" dirty="0"/>
          </a:p>
        </p:txBody>
      </p:sp>
      <p:sp>
        <p:nvSpPr>
          <p:cNvPr id="3" name="コンテンツ プレースホルダー 2">
            <a:extLst>
              <a:ext uri="{FF2B5EF4-FFF2-40B4-BE49-F238E27FC236}">
                <a16:creationId xmlns:a16="http://schemas.microsoft.com/office/drawing/2014/main" id="{9A38CE2D-86AA-C68E-5A24-A38D3B5D116E}"/>
              </a:ext>
            </a:extLst>
          </p:cNvPr>
          <p:cNvSpPr>
            <a:spLocks noGrp="1"/>
          </p:cNvSpPr>
          <p:nvPr>
            <p:ph idx="1"/>
          </p:nvPr>
        </p:nvSpPr>
        <p:spPr>
          <a:xfrm>
            <a:off x="1141412" y="1376737"/>
            <a:ext cx="9905999" cy="4613097"/>
          </a:xfrm>
        </p:spPr>
        <p:txBody>
          <a:bodyPr>
            <a:normAutofit fontScale="85000" lnSpcReduction="20000"/>
          </a:bodyPr>
          <a:lstStyle/>
          <a:p>
            <a:pPr marL="0" indent="0">
              <a:buNone/>
            </a:pPr>
            <a:r>
              <a:rPr lang="en-US" altLang="ja-JP" sz="2800" dirty="0">
                <a:latin typeface="+mn-ea"/>
              </a:rPr>
              <a:t>7.1.</a:t>
            </a:r>
            <a:r>
              <a:rPr lang="ja-JP" altLang="en-US" sz="2800" dirty="0">
                <a:latin typeface="+mn-ea"/>
              </a:rPr>
              <a:t>データセットの概要</a:t>
            </a:r>
            <a:endParaRPr lang="en-US" altLang="ja-JP" sz="2800" dirty="0">
              <a:latin typeface="+mn-ea"/>
            </a:endParaRPr>
          </a:p>
          <a:p>
            <a:pPr marL="0" indent="0">
              <a:buNone/>
            </a:pPr>
            <a:r>
              <a:rPr kumimoji="1" lang="ja-JP" altLang="en-US" sz="2600" dirty="0">
                <a:latin typeface="+mn-ea"/>
              </a:rPr>
              <a:t>・本コンペでは</a:t>
            </a:r>
            <a:r>
              <a:rPr kumimoji="1" lang="en-US" altLang="ja-JP" sz="2600" dirty="0">
                <a:latin typeface="+mn-ea"/>
              </a:rPr>
              <a:t>2</a:t>
            </a:r>
            <a:r>
              <a:rPr kumimoji="1" lang="ja-JP" altLang="en-US" sz="2600" dirty="0">
                <a:latin typeface="+mn-ea"/>
              </a:rPr>
              <a:t>種類のデータセットが用意されていた。</a:t>
            </a:r>
          </a:p>
          <a:p>
            <a:pPr marL="0" indent="0">
              <a:buNone/>
            </a:pPr>
            <a:r>
              <a:rPr kumimoji="1" lang="ja-JP" altLang="en-US" sz="2800" dirty="0">
                <a:latin typeface="+mn-ea"/>
              </a:rPr>
              <a:t>①元データ</a:t>
            </a:r>
          </a:p>
          <a:p>
            <a:pPr marL="0" indent="0">
              <a:buNone/>
            </a:pPr>
            <a:r>
              <a:rPr kumimoji="1" lang="ja-JP" altLang="en-US" sz="2600" dirty="0">
                <a:latin typeface="+mn-ea"/>
              </a:rPr>
              <a:t>・エンジンの使用状況に関するデータ。使用回数や高度や速度、各種タービンの調整状況など。</a:t>
            </a:r>
          </a:p>
          <a:p>
            <a:pPr marL="0" indent="0">
              <a:buNone/>
            </a:pPr>
            <a:r>
              <a:rPr kumimoji="1" lang="ja-JP" altLang="en-US" sz="2600" dirty="0">
                <a:latin typeface="+mn-ea"/>
              </a:rPr>
              <a:t>・カラム</a:t>
            </a:r>
            <a:r>
              <a:rPr kumimoji="1" lang="en-US" altLang="ja-JP" sz="2600" dirty="0">
                <a:latin typeface="+mn-ea"/>
              </a:rPr>
              <a:t>46</a:t>
            </a:r>
            <a:r>
              <a:rPr kumimoji="1" lang="ja-JP" altLang="en-US" sz="2600" dirty="0">
                <a:latin typeface="+mn-ea"/>
              </a:rPr>
              <a:t>個、データは数百万件ほど。</a:t>
            </a:r>
          </a:p>
          <a:p>
            <a:pPr marL="0" indent="0">
              <a:buNone/>
            </a:pPr>
            <a:r>
              <a:rPr kumimoji="1" lang="ja-JP" altLang="en-US" sz="2800" dirty="0">
                <a:latin typeface="+mn-ea"/>
              </a:rPr>
              <a:t>②統計データ</a:t>
            </a:r>
          </a:p>
          <a:p>
            <a:pPr marL="0" indent="0">
              <a:buNone/>
            </a:pPr>
            <a:r>
              <a:rPr kumimoji="1" lang="ja-JP" altLang="en-US" sz="2600" dirty="0">
                <a:latin typeface="+mn-ea"/>
              </a:rPr>
              <a:t>・元データをいくつかの統計量にまとめたもの。（最小、中央、最大値、平均値、初期値、最終値、標準偏差）</a:t>
            </a:r>
          </a:p>
          <a:p>
            <a:pPr marL="0" indent="0">
              <a:buNone/>
            </a:pPr>
            <a:r>
              <a:rPr kumimoji="1" lang="ja-JP" altLang="en-US" sz="2600" dirty="0">
                <a:latin typeface="+mn-ea"/>
              </a:rPr>
              <a:t>・カラム</a:t>
            </a:r>
            <a:r>
              <a:rPr kumimoji="1" lang="en-US" altLang="ja-JP" sz="2600" dirty="0">
                <a:latin typeface="+mn-ea"/>
              </a:rPr>
              <a:t>284</a:t>
            </a:r>
            <a:r>
              <a:rPr kumimoji="1" lang="ja-JP" altLang="en-US" sz="2600" dirty="0">
                <a:latin typeface="+mn-ea"/>
              </a:rPr>
              <a:t>個データは</a:t>
            </a:r>
            <a:r>
              <a:rPr kumimoji="1" lang="en-US" altLang="ja-JP" sz="2600" dirty="0">
                <a:latin typeface="+mn-ea"/>
              </a:rPr>
              <a:t>5</a:t>
            </a:r>
            <a:r>
              <a:rPr kumimoji="1" lang="ja-JP" altLang="en-US" sz="2600" dirty="0">
                <a:latin typeface="+mn-ea"/>
              </a:rPr>
              <a:t>千件ほど。</a:t>
            </a:r>
          </a:p>
        </p:txBody>
      </p:sp>
    </p:spTree>
    <p:extLst>
      <p:ext uri="{BB962C8B-B14F-4D97-AF65-F5344CB8AC3E}">
        <p14:creationId xmlns:p14="http://schemas.microsoft.com/office/powerpoint/2010/main" val="2997545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D89968A-45E9-0E0D-345B-8873692A204E}"/>
              </a:ext>
            </a:extLst>
          </p:cNvPr>
          <p:cNvSpPr>
            <a:spLocks noGrp="1"/>
          </p:cNvSpPr>
          <p:nvPr>
            <p:ph idx="1"/>
          </p:nvPr>
        </p:nvSpPr>
        <p:spPr>
          <a:xfrm>
            <a:off x="1141412" y="1489753"/>
            <a:ext cx="9905999" cy="4301448"/>
          </a:xfrm>
        </p:spPr>
        <p:txBody>
          <a:bodyPr>
            <a:normAutofit/>
          </a:bodyPr>
          <a:lstStyle/>
          <a:p>
            <a:pPr marL="0" indent="0">
              <a:buNone/>
            </a:pPr>
            <a:r>
              <a:rPr kumimoji="1" lang="en-US" altLang="ja-JP" dirty="0"/>
              <a:t>7.2.</a:t>
            </a:r>
            <a:r>
              <a:rPr kumimoji="1" lang="en-US" altLang="ja-JP" dirty="0">
                <a:latin typeface="+mn-ea"/>
              </a:rPr>
              <a:t> 【</a:t>
            </a:r>
            <a:r>
              <a:rPr kumimoji="1" lang="ja-JP" altLang="en-US" dirty="0">
                <a:latin typeface="+mn-ea"/>
              </a:rPr>
              <a:t>データセットについての補足</a:t>
            </a:r>
            <a:r>
              <a:rPr kumimoji="1" lang="en-US" altLang="ja-JP" dirty="0">
                <a:latin typeface="+mn-ea"/>
              </a:rPr>
              <a:t>】</a:t>
            </a:r>
          </a:p>
          <a:p>
            <a:pPr marL="0" indent="0">
              <a:buNone/>
            </a:pPr>
            <a:r>
              <a:rPr kumimoji="1" lang="ja-JP" altLang="en-US" sz="2000" dirty="0">
                <a:latin typeface="+mn-ea"/>
              </a:rPr>
              <a:t>・元データも統計データも学習用評価用、２種類のデータセットが用意されていた。</a:t>
            </a:r>
          </a:p>
          <a:p>
            <a:pPr marL="0" indent="0">
              <a:buNone/>
            </a:pPr>
            <a:r>
              <a:rPr kumimoji="1" lang="ja-JP" altLang="en-US" sz="2000" dirty="0">
                <a:latin typeface="+mn-ea"/>
              </a:rPr>
              <a:t>・これらのデータはエンジンの名前ごとに</a:t>
            </a:r>
            <a:r>
              <a:rPr kumimoji="1" lang="en-US" altLang="ja-JP" sz="2000" dirty="0">
                <a:latin typeface="+mn-ea"/>
              </a:rPr>
              <a:t>file</a:t>
            </a:r>
            <a:r>
              <a:rPr kumimoji="1" lang="ja-JP" altLang="en-US" sz="2000" dirty="0">
                <a:latin typeface="+mn-ea"/>
              </a:rPr>
              <a:t>が分かれており、データ内ではエンジンの</a:t>
            </a:r>
            <a:r>
              <a:rPr kumimoji="1" lang="en-US" altLang="ja-JP" sz="2000" dirty="0">
                <a:latin typeface="+mn-ea"/>
              </a:rPr>
              <a:t>unit</a:t>
            </a:r>
            <a:r>
              <a:rPr kumimoji="1" lang="ja-JP" altLang="en-US" sz="2000" dirty="0">
                <a:latin typeface="+mn-ea"/>
              </a:rPr>
              <a:t>とその使用回数（</a:t>
            </a:r>
            <a:r>
              <a:rPr kumimoji="1" lang="en-US" altLang="ja-JP" sz="2000" dirty="0">
                <a:latin typeface="+mn-ea"/>
              </a:rPr>
              <a:t>cycle</a:t>
            </a:r>
            <a:r>
              <a:rPr kumimoji="1" lang="ja-JP" altLang="en-US" sz="2000" dirty="0">
                <a:latin typeface="+mn-ea"/>
              </a:rPr>
              <a:t>）のカラムが存在している。</a:t>
            </a:r>
          </a:p>
          <a:p>
            <a:pPr marL="0" indent="0">
              <a:buNone/>
            </a:pPr>
            <a:r>
              <a:rPr kumimoji="1" lang="ja-JP" altLang="en-US" sz="2000" dirty="0">
                <a:latin typeface="+mn-ea"/>
              </a:rPr>
              <a:t>・目的変数</a:t>
            </a:r>
            <a:r>
              <a:rPr kumimoji="1" lang="en-US" altLang="ja-JP" sz="2000" dirty="0">
                <a:latin typeface="+mn-ea"/>
              </a:rPr>
              <a:t>Y</a:t>
            </a:r>
            <a:r>
              <a:rPr kumimoji="1" lang="ja-JP" altLang="en-US" sz="2000" dirty="0">
                <a:latin typeface="+mn-ea"/>
              </a:rPr>
              <a:t>は</a:t>
            </a:r>
            <a:r>
              <a:rPr kumimoji="1" lang="en-US" altLang="ja-JP" sz="2000" dirty="0">
                <a:latin typeface="+mn-ea"/>
              </a:rPr>
              <a:t>RUL</a:t>
            </a:r>
            <a:r>
              <a:rPr kumimoji="1" lang="ja-JP" altLang="en-US" sz="2000" dirty="0">
                <a:latin typeface="+mn-ea"/>
              </a:rPr>
              <a:t>、残存耐用時間。最終的にはエンジン名とユニット名の組み合わせに対し予測結果をまとめる必要があった。</a:t>
            </a:r>
          </a:p>
          <a:p>
            <a:pPr marL="0" indent="0">
              <a:buNone/>
            </a:pPr>
            <a:r>
              <a:rPr kumimoji="1" lang="ja-JP" altLang="en-US" sz="2000" dirty="0">
                <a:latin typeface="+mn-ea"/>
              </a:rPr>
              <a:t>・元データの方が様々な分析に挑戦できそうだったが、データサイズの関係で自分の環境では満足な分析ができず、統計データを使用することにした。</a:t>
            </a:r>
          </a:p>
          <a:p>
            <a:pPr marL="0" indent="0">
              <a:buNone/>
            </a:pPr>
            <a:endParaRPr kumimoji="1" lang="ja-JP" altLang="en-US" dirty="0"/>
          </a:p>
        </p:txBody>
      </p:sp>
      <p:sp>
        <p:nvSpPr>
          <p:cNvPr id="4" name="タイトル 1">
            <a:extLst>
              <a:ext uri="{FF2B5EF4-FFF2-40B4-BE49-F238E27FC236}">
                <a16:creationId xmlns:a16="http://schemas.microsoft.com/office/drawing/2014/main" id="{2D5AB9DE-D505-79A1-0415-6D68B74EB256}"/>
              </a:ext>
            </a:extLst>
          </p:cNvPr>
          <p:cNvSpPr>
            <a:spLocks noGrp="1"/>
          </p:cNvSpPr>
          <p:nvPr>
            <p:ph type="title"/>
          </p:nvPr>
        </p:nvSpPr>
        <p:spPr>
          <a:xfrm>
            <a:off x="1141413" y="618518"/>
            <a:ext cx="9905998" cy="871235"/>
          </a:xfrm>
        </p:spPr>
        <p:txBody>
          <a:bodyPr/>
          <a:lstStyle/>
          <a:p>
            <a:r>
              <a:rPr kumimoji="1" lang="en-US" altLang="ja-JP" b="1" dirty="0"/>
              <a:t>7.</a:t>
            </a:r>
            <a:r>
              <a:rPr kumimoji="1" lang="ja-JP" altLang="en-US" b="1" dirty="0"/>
              <a:t>作業</a:t>
            </a:r>
            <a:r>
              <a:rPr lang="ja-JP" altLang="en-US" b="1" dirty="0"/>
              <a:t>内容</a:t>
            </a:r>
            <a:endParaRPr kumimoji="1" lang="ja-JP" altLang="en-US" b="1" dirty="0"/>
          </a:p>
        </p:txBody>
      </p:sp>
    </p:spTree>
    <p:extLst>
      <p:ext uri="{BB962C8B-B14F-4D97-AF65-F5344CB8AC3E}">
        <p14:creationId xmlns:p14="http://schemas.microsoft.com/office/powerpoint/2010/main" val="1648793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5AF59-265A-BA4F-346C-8994FEDCC460}"/>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09B9D78-8FC5-5EF6-0538-B36A13498E4D}"/>
              </a:ext>
            </a:extLst>
          </p:cNvPr>
          <p:cNvSpPr>
            <a:spLocks noGrp="1"/>
          </p:cNvSpPr>
          <p:nvPr>
            <p:ph idx="1"/>
          </p:nvPr>
        </p:nvSpPr>
        <p:spPr>
          <a:xfrm>
            <a:off x="1141412" y="1489753"/>
            <a:ext cx="9905999" cy="4301448"/>
          </a:xfrm>
        </p:spPr>
        <p:txBody>
          <a:bodyPr>
            <a:normAutofit/>
          </a:bodyPr>
          <a:lstStyle/>
          <a:p>
            <a:pPr marL="0" indent="0">
              <a:buNone/>
            </a:pPr>
            <a:r>
              <a:rPr kumimoji="1" lang="en-US" altLang="ja-JP" dirty="0"/>
              <a:t>7.3.</a:t>
            </a:r>
            <a:r>
              <a:rPr kumimoji="1" lang="en-US" altLang="ja-JP" dirty="0">
                <a:latin typeface="+mn-ea"/>
              </a:rPr>
              <a:t> 【</a:t>
            </a:r>
            <a:r>
              <a:rPr kumimoji="1" lang="ja-JP" altLang="en-US" dirty="0">
                <a:latin typeface="+mn-ea"/>
              </a:rPr>
              <a:t>最終的な作業フロー</a:t>
            </a:r>
            <a:r>
              <a:rPr kumimoji="1" lang="en-US" altLang="ja-JP" dirty="0">
                <a:latin typeface="+mn-ea"/>
              </a:rPr>
              <a:t>】</a:t>
            </a:r>
          </a:p>
          <a:p>
            <a:pPr marL="0" indent="0">
              <a:buNone/>
            </a:pPr>
            <a:r>
              <a:rPr kumimoji="1" lang="ja-JP" altLang="en-US" sz="2000" dirty="0">
                <a:latin typeface="+mn-ea"/>
              </a:rPr>
              <a:t>①同一の値を持つ特徴量が多く発見されたため、削除。</a:t>
            </a:r>
          </a:p>
          <a:p>
            <a:pPr marL="0" indent="0">
              <a:buNone/>
            </a:pPr>
            <a:r>
              <a:rPr kumimoji="1" lang="ja-JP" altLang="en-US" sz="2000" dirty="0">
                <a:latin typeface="+mn-ea"/>
              </a:rPr>
              <a:t>②学習データと評価データで使用回数の範囲が異なっていたため、範囲を統一。</a:t>
            </a:r>
          </a:p>
          <a:p>
            <a:pPr marL="0" indent="0">
              <a:buNone/>
            </a:pPr>
            <a:r>
              <a:rPr kumimoji="1" lang="ja-JP" altLang="en-US" sz="2000" dirty="0">
                <a:latin typeface="+mn-ea"/>
              </a:rPr>
              <a:t>③ランダムフォレストと</a:t>
            </a:r>
            <a:r>
              <a:rPr kumimoji="1" lang="en-US" altLang="ja-JP" sz="2000" dirty="0" err="1">
                <a:latin typeface="+mn-ea"/>
              </a:rPr>
              <a:t>Lightgbm</a:t>
            </a:r>
            <a:r>
              <a:rPr kumimoji="1" lang="ja-JP" altLang="en-US" sz="2000" dirty="0">
                <a:latin typeface="+mn-ea"/>
              </a:rPr>
              <a:t>で特徴量重要度を調査し、特徴量を削減。</a:t>
            </a:r>
          </a:p>
          <a:p>
            <a:pPr marL="0" indent="0">
              <a:buNone/>
            </a:pPr>
            <a:r>
              <a:rPr kumimoji="1" lang="ja-JP" altLang="en-US" sz="2000" dirty="0">
                <a:latin typeface="+mn-ea"/>
              </a:rPr>
              <a:t>④重要な特徴量を使用し、</a:t>
            </a:r>
            <a:r>
              <a:rPr kumimoji="1" lang="en-US" altLang="ja-JP" sz="2000" dirty="0" err="1">
                <a:latin typeface="+mn-ea"/>
              </a:rPr>
              <a:t>Lightgbm</a:t>
            </a:r>
            <a:r>
              <a:rPr kumimoji="1" lang="ja-JP" altLang="en-US" sz="2000" dirty="0">
                <a:latin typeface="+mn-ea"/>
              </a:rPr>
              <a:t>をメタモデルとしたアンサンブル学習を実施。アンサンブル対象として</a:t>
            </a:r>
            <a:r>
              <a:rPr kumimoji="1" lang="en-US" altLang="ja-JP" sz="2000" dirty="0" err="1">
                <a:latin typeface="+mn-ea"/>
              </a:rPr>
              <a:t>CatBoost</a:t>
            </a:r>
            <a:r>
              <a:rPr kumimoji="1" lang="ja-JP" altLang="en-US" sz="2000" dirty="0">
                <a:latin typeface="+mn-ea"/>
              </a:rPr>
              <a:t>、ランダムフォレスト、</a:t>
            </a:r>
            <a:r>
              <a:rPr kumimoji="1" lang="en-US" altLang="ja-JP" sz="2000" dirty="0" err="1">
                <a:latin typeface="+mn-ea"/>
              </a:rPr>
              <a:t>XGBoost</a:t>
            </a:r>
            <a:r>
              <a:rPr kumimoji="1" lang="ja-JP" altLang="en-US" sz="2000" dirty="0">
                <a:latin typeface="+mn-ea"/>
              </a:rPr>
              <a:t>を採用。</a:t>
            </a:r>
          </a:p>
          <a:p>
            <a:pPr marL="0" indent="0">
              <a:buNone/>
            </a:pPr>
            <a:r>
              <a:rPr kumimoji="1" lang="ja-JP" altLang="en-US" sz="2000" dirty="0">
                <a:latin typeface="+mn-ea"/>
              </a:rPr>
              <a:t>⑤予測結果を提出用テンプレートに合わせ整形。予測結果をまとめるときは中央値を採用。</a:t>
            </a:r>
            <a:endParaRPr kumimoji="1" lang="ja-JP" altLang="en-US" dirty="0"/>
          </a:p>
        </p:txBody>
      </p:sp>
      <p:sp>
        <p:nvSpPr>
          <p:cNvPr id="4" name="タイトル 1">
            <a:extLst>
              <a:ext uri="{FF2B5EF4-FFF2-40B4-BE49-F238E27FC236}">
                <a16:creationId xmlns:a16="http://schemas.microsoft.com/office/drawing/2014/main" id="{5012F1D4-2BC6-5E39-C621-B1DF3FE5988D}"/>
              </a:ext>
            </a:extLst>
          </p:cNvPr>
          <p:cNvSpPr>
            <a:spLocks noGrp="1"/>
          </p:cNvSpPr>
          <p:nvPr>
            <p:ph type="title"/>
          </p:nvPr>
        </p:nvSpPr>
        <p:spPr>
          <a:xfrm>
            <a:off x="1141413" y="618518"/>
            <a:ext cx="9905998" cy="871235"/>
          </a:xfrm>
        </p:spPr>
        <p:txBody>
          <a:bodyPr/>
          <a:lstStyle/>
          <a:p>
            <a:r>
              <a:rPr kumimoji="1" lang="en-US" altLang="ja-JP" b="1" dirty="0"/>
              <a:t>7.</a:t>
            </a:r>
            <a:r>
              <a:rPr kumimoji="1" lang="ja-JP" altLang="en-US" b="1" dirty="0"/>
              <a:t>作業</a:t>
            </a:r>
            <a:r>
              <a:rPr lang="ja-JP" altLang="en-US" b="1" dirty="0"/>
              <a:t>内容</a:t>
            </a:r>
            <a:endParaRPr kumimoji="1" lang="ja-JP" altLang="en-US" b="1" dirty="0"/>
          </a:p>
        </p:txBody>
      </p:sp>
    </p:spTree>
    <p:extLst>
      <p:ext uri="{BB962C8B-B14F-4D97-AF65-F5344CB8AC3E}">
        <p14:creationId xmlns:p14="http://schemas.microsoft.com/office/powerpoint/2010/main" val="3460215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02C9A0-4F51-0D15-3B6B-DE9BC9119E33}"/>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C09789F-2944-43EB-9A1B-46F277C2FA0A}"/>
              </a:ext>
            </a:extLst>
          </p:cNvPr>
          <p:cNvSpPr>
            <a:spLocks noGrp="1"/>
          </p:cNvSpPr>
          <p:nvPr>
            <p:ph idx="1"/>
          </p:nvPr>
        </p:nvSpPr>
        <p:spPr>
          <a:xfrm>
            <a:off x="1141412" y="1489752"/>
            <a:ext cx="9905999" cy="5044611"/>
          </a:xfrm>
        </p:spPr>
        <p:txBody>
          <a:bodyPr>
            <a:normAutofit fontScale="85000" lnSpcReduction="20000"/>
          </a:bodyPr>
          <a:lstStyle/>
          <a:p>
            <a:pPr marL="0" indent="0">
              <a:buNone/>
            </a:pPr>
            <a:r>
              <a:rPr kumimoji="1" lang="en-US" altLang="ja-JP" sz="2800" dirty="0"/>
              <a:t>①unit</a:t>
            </a:r>
            <a:r>
              <a:rPr kumimoji="1" lang="ja-JP" altLang="en-US" sz="2800" dirty="0"/>
              <a:t>の使用回数を示す</a:t>
            </a:r>
            <a:r>
              <a:rPr kumimoji="1" lang="en-US" altLang="ja-JP" sz="2800" dirty="0"/>
              <a:t>cycle</a:t>
            </a:r>
            <a:r>
              <a:rPr kumimoji="1" lang="ja-JP" altLang="en-US" sz="2800" dirty="0"/>
              <a:t>の範囲の調整</a:t>
            </a:r>
            <a:endParaRPr kumimoji="1" lang="en-US" altLang="ja-JP" sz="2800" dirty="0"/>
          </a:p>
          <a:p>
            <a:pPr marL="0" indent="0">
              <a:buNone/>
            </a:pPr>
            <a:r>
              <a:rPr kumimoji="1" lang="ja-JP" altLang="en-US" dirty="0"/>
              <a:t>・学習データにおいて</a:t>
            </a:r>
            <a:r>
              <a:rPr kumimoji="1" lang="en-US" altLang="ja-JP" dirty="0"/>
              <a:t>cycle</a:t>
            </a:r>
            <a:r>
              <a:rPr kumimoji="1" lang="ja-JP" altLang="en-US" dirty="0"/>
              <a:t>は</a:t>
            </a:r>
            <a:r>
              <a:rPr kumimoji="1" lang="en-US" altLang="ja-JP" dirty="0"/>
              <a:t>0</a:t>
            </a:r>
            <a:r>
              <a:rPr kumimoji="1" lang="ja-JP" altLang="en-US" dirty="0"/>
              <a:t>～</a:t>
            </a:r>
            <a:r>
              <a:rPr kumimoji="1" lang="en-US" altLang="ja-JP" dirty="0"/>
              <a:t>100</a:t>
            </a:r>
            <a:r>
              <a:rPr kumimoji="1" lang="ja-JP" altLang="en-US" dirty="0"/>
              <a:t>の範囲、評価データでは</a:t>
            </a:r>
            <a:r>
              <a:rPr kumimoji="1" lang="en-US" altLang="ja-JP" dirty="0"/>
              <a:t>0</a:t>
            </a:r>
            <a:r>
              <a:rPr kumimoji="1" lang="ja-JP" altLang="en-US" dirty="0"/>
              <a:t>～</a:t>
            </a:r>
            <a:r>
              <a:rPr kumimoji="1" lang="en-US" altLang="ja-JP" dirty="0"/>
              <a:t>40</a:t>
            </a:r>
            <a:r>
              <a:rPr kumimoji="1" lang="ja-JP" altLang="en-US" dirty="0"/>
              <a:t>の範囲だった。</a:t>
            </a:r>
            <a:endParaRPr kumimoji="1" lang="en-US" altLang="ja-JP" dirty="0"/>
          </a:p>
          <a:p>
            <a:pPr marL="0" indent="0">
              <a:buNone/>
            </a:pPr>
            <a:r>
              <a:rPr lang="ja-JP" altLang="en-US" dirty="0"/>
              <a:t>・</a:t>
            </a:r>
            <a:r>
              <a:rPr kumimoji="1" lang="en-US" altLang="ja-JP" dirty="0"/>
              <a:t>cycle</a:t>
            </a:r>
            <a:r>
              <a:rPr kumimoji="1" lang="ja-JP" altLang="en-US" dirty="0"/>
              <a:t>後半の学習結果が予測に大きな影響を与えないよう、範囲の調整を実施。</a:t>
            </a:r>
          </a:p>
          <a:p>
            <a:pPr marL="0" indent="0">
              <a:buNone/>
            </a:pPr>
            <a:endParaRPr kumimoji="1" lang="en-US" altLang="ja-JP" sz="2800" dirty="0"/>
          </a:p>
          <a:p>
            <a:pPr marL="0" indent="0">
              <a:buNone/>
            </a:pPr>
            <a:r>
              <a:rPr kumimoji="1" lang="ja-JP" altLang="en-US" sz="2800" dirty="0"/>
              <a:t>②</a:t>
            </a:r>
            <a:r>
              <a:rPr kumimoji="1" lang="en-US" altLang="ja-JP" sz="2800" dirty="0"/>
              <a:t>cycle</a:t>
            </a:r>
            <a:r>
              <a:rPr kumimoji="1" lang="ja-JP" altLang="en-US" sz="2800" dirty="0"/>
              <a:t>と目的変数</a:t>
            </a:r>
            <a:r>
              <a:rPr kumimoji="1" lang="en-US" altLang="ja-JP" sz="2800" dirty="0"/>
              <a:t>Y</a:t>
            </a:r>
            <a:r>
              <a:rPr lang="ja-JP" altLang="en-US" sz="2800" dirty="0"/>
              <a:t>の</a:t>
            </a:r>
            <a:r>
              <a:rPr kumimoji="1" lang="ja-JP" altLang="en-US" sz="2800" dirty="0"/>
              <a:t>強い負の相関。</a:t>
            </a:r>
            <a:endParaRPr kumimoji="1" lang="en-US" altLang="ja-JP" sz="2800" dirty="0"/>
          </a:p>
          <a:p>
            <a:pPr marL="0" indent="0">
              <a:buNone/>
            </a:pPr>
            <a:r>
              <a:rPr kumimoji="1" lang="ja-JP" altLang="en-US" dirty="0"/>
              <a:t>・使用回数を示す</a:t>
            </a:r>
            <a:r>
              <a:rPr kumimoji="1" lang="en-US" altLang="ja-JP" dirty="0"/>
              <a:t>cycle</a:t>
            </a:r>
            <a:r>
              <a:rPr kumimoji="1" lang="ja-JP" altLang="en-US" dirty="0"/>
              <a:t>と残りの使用可能回数を示す目的変数</a:t>
            </a:r>
            <a:r>
              <a:rPr kumimoji="1" lang="en-US" altLang="ja-JP" dirty="0"/>
              <a:t>Y</a:t>
            </a:r>
            <a:r>
              <a:rPr kumimoji="1" lang="ja-JP" altLang="en-US" dirty="0"/>
              <a:t>に強い負の相関があった。</a:t>
            </a:r>
            <a:endParaRPr kumimoji="1" lang="en-US" altLang="ja-JP" dirty="0"/>
          </a:p>
          <a:p>
            <a:pPr marL="0" indent="0">
              <a:buNone/>
            </a:pPr>
            <a:r>
              <a:rPr lang="ja-JP" altLang="en-US" dirty="0"/>
              <a:t>・</a:t>
            </a:r>
            <a:r>
              <a:rPr kumimoji="1" lang="en-US" altLang="ja-JP" dirty="0"/>
              <a:t>cycle</a:t>
            </a:r>
            <a:r>
              <a:rPr kumimoji="1" lang="ja-JP" altLang="en-US" dirty="0"/>
              <a:t>を基準に時間経過を示すいくつかの特徴量を追加し、学習結果に影響があるかを調査した。</a:t>
            </a:r>
          </a:p>
          <a:p>
            <a:pPr marL="0" indent="0">
              <a:buNone/>
            </a:pPr>
            <a:endParaRPr kumimoji="1" lang="ja-JP" altLang="en-US" dirty="0"/>
          </a:p>
          <a:p>
            <a:pPr marL="0" indent="0">
              <a:buNone/>
            </a:pPr>
            <a:r>
              <a:rPr kumimoji="1" lang="ja-JP" altLang="en-US" sz="2800" dirty="0"/>
              <a:t>③過学習の対策</a:t>
            </a:r>
            <a:endParaRPr kumimoji="1" lang="en-US" altLang="ja-JP" sz="2800" dirty="0"/>
          </a:p>
          <a:p>
            <a:pPr marL="0" indent="0">
              <a:buNone/>
            </a:pPr>
            <a:r>
              <a:rPr kumimoji="1" lang="en-US" altLang="ja-JP" dirty="0" err="1"/>
              <a:t>Lightgbm</a:t>
            </a:r>
            <a:r>
              <a:rPr kumimoji="1" lang="ja-JP" altLang="en-US" dirty="0"/>
              <a:t>などのモデル単体では過学習の傾向がみられたため、アンサンブル学習を採用。</a:t>
            </a:r>
          </a:p>
        </p:txBody>
      </p:sp>
      <p:sp>
        <p:nvSpPr>
          <p:cNvPr id="4" name="タイトル 1">
            <a:extLst>
              <a:ext uri="{FF2B5EF4-FFF2-40B4-BE49-F238E27FC236}">
                <a16:creationId xmlns:a16="http://schemas.microsoft.com/office/drawing/2014/main" id="{880349A9-FCD4-0377-789C-5887C93E33FF}"/>
              </a:ext>
            </a:extLst>
          </p:cNvPr>
          <p:cNvSpPr>
            <a:spLocks noGrp="1"/>
          </p:cNvSpPr>
          <p:nvPr>
            <p:ph type="title"/>
          </p:nvPr>
        </p:nvSpPr>
        <p:spPr>
          <a:xfrm>
            <a:off x="1141413" y="618518"/>
            <a:ext cx="9905998" cy="871235"/>
          </a:xfrm>
        </p:spPr>
        <p:txBody>
          <a:bodyPr/>
          <a:lstStyle/>
          <a:p>
            <a:r>
              <a:rPr lang="en-US" altLang="ja-JP" b="1" dirty="0"/>
              <a:t>8.</a:t>
            </a:r>
            <a:r>
              <a:rPr lang="ja-JP" altLang="en-US" b="1" dirty="0"/>
              <a:t>工夫点</a:t>
            </a:r>
            <a:endParaRPr kumimoji="1" lang="ja-JP" altLang="en-US" b="1" dirty="0"/>
          </a:p>
        </p:txBody>
      </p:sp>
    </p:spTree>
    <p:extLst>
      <p:ext uri="{BB962C8B-B14F-4D97-AF65-F5344CB8AC3E}">
        <p14:creationId xmlns:p14="http://schemas.microsoft.com/office/powerpoint/2010/main" val="1674256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185DD5-1747-EABD-796E-916BCF4F1F48}"/>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CB4016D-613F-9763-BDBC-62A383D226F3}"/>
              </a:ext>
            </a:extLst>
          </p:cNvPr>
          <p:cNvSpPr>
            <a:spLocks noGrp="1"/>
          </p:cNvSpPr>
          <p:nvPr>
            <p:ph idx="1"/>
          </p:nvPr>
        </p:nvSpPr>
        <p:spPr>
          <a:xfrm>
            <a:off x="1141412" y="1489752"/>
            <a:ext cx="9905999" cy="4749729"/>
          </a:xfrm>
        </p:spPr>
        <p:txBody>
          <a:bodyPr>
            <a:normAutofit fontScale="85000" lnSpcReduction="20000"/>
          </a:bodyPr>
          <a:lstStyle/>
          <a:p>
            <a:pPr marL="0" indent="0">
              <a:buNone/>
            </a:pPr>
            <a:r>
              <a:rPr kumimoji="1" lang="ja-JP" altLang="en-US" sz="2800" dirty="0"/>
              <a:t>①ドメイン知識の不足</a:t>
            </a:r>
          </a:p>
          <a:p>
            <a:pPr marL="0" indent="0">
              <a:buNone/>
            </a:pPr>
            <a:r>
              <a:rPr kumimoji="1" lang="ja-JP" altLang="en-US" dirty="0"/>
              <a:t>ターボエンジンの構造に関する知識がなく、分析に必要な知識を得るのに時間がかかってしまった。</a:t>
            </a:r>
          </a:p>
          <a:p>
            <a:pPr marL="0" indent="0">
              <a:buNone/>
            </a:pPr>
            <a:r>
              <a:rPr lang="ja-JP" altLang="en-US" dirty="0"/>
              <a:t>・低圧・高圧タービンに関する調整値が重要度が高い。</a:t>
            </a:r>
            <a:endParaRPr lang="en-US" altLang="ja-JP" dirty="0"/>
          </a:p>
          <a:p>
            <a:pPr marL="0" indent="0">
              <a:buNone/>
            </a:pPr>
            <a:r>
              <a:rPr kumimoji="1" lang="ja-JP" altLang="en-US" dirty="0"/>
              <a:t>・高度、速度、飛行時間といった使用状況が残存耐用時間に大きく影響していた。</a:t>
            </a:r>
          </a:p>
          <a:p>
            <a:pPr marL="0" indent="0">
              <a:buNone/>
            </a:pPr>
            <a:endParaRPr kumimoji="1" lang="en-US" altLang="ja-JP" sz="2800" dirty="0"/>
          </a:p>
          <a:p>
            <a:pPr marL="0" indent="0">
              <a:buNone/>
            </a:pPr>
            <a:r>
              <a:rPr kumimoji="1" lang="ja-JP" altLang="en-US" sz="2800" dirty="0"/>
              <a:t>②データ理解の不足</a:t>
            </a:r>
          </a:p>
          <a:p>
            <a:pPr marL="0" indent="0">
              <a:buNone/>
            </a:pPr>
            <a:r>
              <a:rPr kumimoji="1" lang="ja-JP" altLang="en-US" dirty="0"/>
              <a:t>各特徴量に対する調査が甘く、何度も手戻りが発生。</a:t>
            </a:r>
          </a:p>
          <a:p>
            <a:pPr marL="0" indent="0">
              <a:buNone/>
            </a:pPr>
            <a:r>
              <a:rPr kumimoji="1" lang="ja-JP" altLang="en-US" dirty="0"/>
              <a:t>・一部の調整値を統計した特徴量において最小値中央値最大値平均値初期値最終値がすべて同じ値になっていた。</a:t>
            </a:r>
          </a:p>
          <a:p>
            <a:pPr marL="0" indent="0">
              <a:buNone/>
            </a:pPr>
            <a:r>
              <a:rPr kumimoji="1" lang="ja-JP" altLang="en-US" dirty="0"/>
              <a:t>・すべての値が</a:t>
            </a:r>
            <a:r>
              <a:rPr kumimoji="1" lang="en-US" altLang="ja-JP" dirty="0"/>
              <a:t>0</a:t>
            </a:r>
            <a:r>
              <a:rPr kumimoji="1" lang="ja-JP" altLang="en-US" dirty="0"/>
              <a:t>しかない特徴量の存在。</a:t>
            </a:r>
          </a:p>
        </p:txBody>
      </p:sp>
      <p:sp>
        <p:nvSpPr>
          <p:cNvPr id="4" name="タイトル 1">
            <a:extLst>
              <a:ext uri="{FF2B5EF4-FFF2-40B4-BE49-F238E27FC236}">
                <a16:creationId xmlns:a16="http://schemas.microsoft.com/office/drawing/2014/main" id="{4163D9BF-074A-A553-E669-3525687A1700}"/>
              </a:ext>
            </a:extLst>
          </p:cNvPr>
          <p:cNvSpPr>
            <a:spLocks noGrp="1"/>
          </p:cNvSpPr>
          <p:nvPr>
            <p:ph type="title"/>
          </p:nvPr>
        </p:nvSpPr>
        <p:spPr>
          <a:xfrm>
            <a:off x="1141413" y="618518"/>
            <a:ext cx="9905998" cy="871235"/>
          </a:xfrm>
        </p:spPr>
        <p:txBody>
          <a:bodyPr/>
          <a:lstStyle/>
          <a:p>
            <a:r>
              <a:rPr lang="en-US" altLang="ja-JP" b="1" dirty="0"/>
              <a:t>9.</a:t>
            </a:r>
            <a:r>
              <a:rPr lang="ja-JP" altLang="en-US" b="1" dirty="0"/>
              <a:t>苦労点</a:t>
            </a:r>
            <a:endParaRPr kumimoji="1" lang="ja-JP" altLang="en-US" b="1" dirty="0"/>
          </a:p>
        </p:txBody>
      </p:sp>
    </p:spTree>
    <p:extLst>
      <p:ext uri="{BB962C8B-B14F-4D97-AF65-F5344CB8AC3E}">
        <p14:creationId xmlns:p14="http://schemas.microsoft.com/office/powerpoint/2010/main" val="2781688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CF27F8-92F3-C3D5-3F84-4AC4C4E0E4D8}"/>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537F43D-BDC8-B954-3276-33B3C826799F}"/>
              </a:ext>
            </a:extLst>
          </p:cNvPr>
          <p:cNvSpPr>
            <a:spLocks noGrp="1"/>
          </p:cNvSpPr>
          <p:nvPr>
            <p:ph idx="1"/>
          </p:nvPr>
        </p:nvSpPr>
        <p:spPr>
          <a:xfrm>
            <a:off x="1141412" y="1489752"/>
            <a:ext cx="9905999" cy="4749729"/>
          </a:xfrm>
        </p:spPr>
        <p:txBody>
          <a:bodyPr>
            <a:normAutofit/>
          </a:bodyPr>
          <a:lstStyle/>
          <a:p>
            <a:pPr marL="0" indent="0">
              <a:buNone/>
            </a:pPr>
            <a:r>
              <a:rPr lang="ja-JP" altLang="en-US" sz="2000" dirty="0"/>
              <a:t>①機器の損耗状況のモニタリングとメンテナンス部門との共有</a:t>
            </a:r>
            <a:endParaRPr lang="en-US" altLang="ja-JP" sz="2000" dirty="0"/>
          </a:p>
          <a:p>
            <a:pPr marL="0" indent="0">
              <a:buNone/>
            </a:pPr>
            <a:r>
              <a:rPr lang="ja-JP" altLang="en-US" sz="2000" dirty="0"/>
              <a:t>・エンジンの使用状況使用環境に関するデータから残存耐用時間を予測することは可能。</a:t>
            </a:r>
            <a:endParaRPr lang="en-US" altLang="ja-JP" sz="2000" dirty="0"/>
          </a:p>
          <a:p>
            <a:pPr marL="0" indent="0">
              <a:buNone/>
            </a:pPr>
            <a:r>
              <a:rPr lang="ja-JP" altLang="en-US" sz="2000" dirty="0"/>
              <a:t>・それらのデータを随時記録・共有し、メンテナンス部門と共有。</a:t>
            </a:r>
            <a:endParaRPr lang="en-US" altLang="ja-JP" sz="2000" dirty="0"/>
          </a:p>
          <a:p>
            <a:pPr marL="0" indent="0">
              <a:buNone/>
            </a:pPr>
            <a:r>
              <a:rPr lang="ja-JP" altLang="en-US" sz="2000" dirty="0"/>
              <a:t>・より効率的な修理交換等が可能になる。</a:t>
            </a:r>
            <a:endParaRPr lang="en-US" altLang="ja-JP" sz="2000" dirty="0"/>
          </a:p>
          <a:p>
            <a:pPr marL="0" indent="0">
              <a:buNone/>
            </a:pPr>
            <a:r>
              <a:rPr kumimoji="1" lang="ja-JP" altLang="en-US" sz="2000" dirty="0"/>
              <a:t>②エンジン以外の機器への応用</a:t>
            </a:r>
            <a:endParaRPr kumimoji="1" lang="en-US" altLang="ja-JP" sz="2000" dirty="0"/>
          </a:p>
          <a:p>
            <a:pPr marL="0" indent="0">
              <a:buNone/>
            </a:pPr>
            <a:r>
              <a:rPr lang="ja-JP" altLang="en-US" sz="2000" dirty="0"/>
              <a:t>・ターボエンジン同様に他の機器でも必要なデータをモニタリングし、先手を打って必要なメンテナンスが実施できるようになる。</a:t>
            </a:r>
            <a:endParaRPr lang="en-US" altLang="ja-JP" sz="2000" dirty="0"/>
          </a:p>
          <a:p>
            <a:pPr marL="0" indent="0">
              <a:buNone/>
            </a:pPr>
            <a:r>
              <a:rPr kumimoji="1" lang="ja-JP" altLang="en-US" sz="2000" dirty="0"/>
              <a:t>③よりマクロな機器への展開</a:t>
            </a:r>
            <a:endParaRPr kumimoji="1" lang="en-US" altLang="ja-JP" sz="2000" dirty="0"/>
          </a:p>
          <a:p>
            <a:pPr marL="0" indent="0">
              <a:buNone/>
            </a:pPr>
            <a:r>
              <a:rPr lang="ja-JP" altLang="en-US" sz="2000" dirty="0"/>
              <a:t>・家庭内で使用するような機器であっても、使用状況をメーカーがモニタリングし、顧客の動きを待たずにメンテナンスの案内をすることが可能になる。</a:t>
            </a:r>
            <a:endParaRPr kumimoji="1" lang="en-US" altLang="ja-JP" sz="2000" dirty="0"/>
          </a:p>
          <a:p>
            <a:pPr marL="0" indent="0">
              <a:buNone/>
            </a:pPr>
            <a:endParaRPr kumimoji="1" lang="ja-JP" altLang="en-US" sz="2000" dirty="0"/>
          </a:p>
        </p:txBody>
      </p:sp>
      <p:sp>
        <p:nvSpPr>
          <p:cNvPr id="4" name="タイトル 1">
            <a:extLst>
              <a:ext uri="{FF2B5EF4-FFF2-40B4-BE49-F238E27FC236}">
                <a16:creationId xmlns:a16="http://schemas.microsoft.com/office/drawing/2014/main" id="{0033BAB0-5DED-C597-4749-C80CA2CB9952}"/>
              </a:ext>
            </a:extLst>
          </p:cNvPr>
          <p:cNvSpPr>
            <a:spLocks noGrp="1"/>
          </p:cNvSpPr>
          <p:nvPr>
            <p:ph type="title"/>
          </p:nvPr>
        </p:nvSpPr>
        <p:spPr>
          <a:xfrm>
            <a:off x="1141413" y="618518"/>
            <a:ext cx="9905998" cy="871235"/>
          </a:xfrm>
        </p:spPr>
        <p:txBody>
          <a:bodyPr/>
          <a:lstStyle/>
          <a:p>
            <a:r>
              <a:rPr lang="en-US" altLang="ja-JP" b="1" dirty="0"/>
              <a:t>10</a:t>
            </a:r>
            <a:r>
              <a:rPr kumimoji="1" lang="en-US" altLang="ja-JP" b="1" dirty="0"/>
              <a:t>.</a:t>
            </a:r>
            <a:r>
              <a:rPr kumimoji="1" lang="ja-JP" altLang="en-US" b="1" dirty="0"/>
              <a:t>今後の展望</a:t>
            </a:r>
          </a:p>
        </p:txBody>
      </p:sp>
    </p:spTree>
    <p:extLst>
      <p:ext uri="{BB962C8B-B14F-4D97-AF65-F5344CB8AC3E}">
        <p14:creationId xmlns:p14="http://schemas.microsoft.com/office/powerpoint/2010/main" val="122311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CBBBFC-B39E-4336-E696-A9060C7D0DCD}"/>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5AF50A3-0D43-73BF-F9FE-8A8C23929D19}"/>
              </a:ext>
            </a:extLst>
          </p:cNvPr>
          <p:cNvSpPr>
            <a:spLocks noGrp="1"/>
          </p:cNvSpPr>
          <p:nvPr>
            <p:ph idx="1"/>
          </p:nvPr>
        </p:nvSpPr>
        <p:spPr>
          <a:xfrm>
            <a:off x="1141412" y="1489752"/>
            <a:ext cx="9905999" cy="4749729"/>
          </a:xfrm>
        </p:spPr>
        <p:txBody>
          <a:bodyPr>
            <a:normAutofit/>
          </a:bodyPr>
          <a:lstStyle/>
          <a:p>
            <a:pPr marL="0" indent="0">
              <a:buNone/>
            </a:pPr>
            <a:r>
              <a:rPr kumimoji="1" lang="ja-JP" altLang="en-US" dirty="0"/>
              <a:t>①作業手順の見直しと学習</a:t>
            </a:r>
            <a:endParaRPr kumimoji="1" lang="en-US" altLang="ja-JP" dirty="0"/>
          </a:p>
          <a:p>
            <a:pPr marL="0" indent="0">
              <a:buNone/>
            </a:pPr>
            <a:r>
              <a:rPr lang="ja-JP" altLang="en-US" sz="2000" dirty="0"/>
              <a:t>・ドメイン知識や各種特徴量の意味などを分析の土台と捉え、きちんと学習する。</a:t>
            </a:r>
            <a:endParaRPr lang="en-US" altLang="ja-JP" sz="2000" dirty="0"/>
          </a:p>
          <a:p>
            <a:pPr marL="0" indent="0">
              <a:buNone/>
            </a:pPr>
            <a:endParaRPr kumimoji="1" lang="en-US" altLang="ja-JP" dirty="0"/>
          </a:p>
          <a:p>
            <a:pPr marL="0" indent="0">
              <a:buNone/>
            </a:pPr>
            <a:r>
              <a:rPr kumimoji="1" lang="ja-JP" altLang="en-US" dirty="0"/>
              <a:t>②作業内容の保存</a:t>
            </a:r>
            <a:endParaRPr kumimoji="1" lang="en-US" altLang="ja-JP" dirty="0"/>
          </a:p>
          <a:p>
            <a:pPr marL="0" indent="0">
              <a:buNone/>
            </a:pPr>
            <a:r>
              <a:rPr lang="ja-JP" altLang="en-US" sz="2000" dirty="0"/>
              <a:t>・日々の分析・モデル構築の作業ログを適切に保存し、効率的に理解と分析を進められるようにする。</a:t>
            </a:r>
            <a:endParaRPr lang="en-US" altLang="ja-JP" sz="2000" dirty="0"/>
          </a:p>
          <a:p>
            <a:pPr marL="0" indent="0">
              <a:buNone/>
            </a:pPr>
            <a:endParaRPr kumimoji="1" lang="en-US" altLang="ja-JP" sz="2000" dirty="0"/>
          </a:p>
          <a:p>
            <a:pPr marL="0" indent="0">
              <a:buNone/>
            </a:pPr>
            <a:r>
              <a:rPr lang="ja-JP" altLang="en-US" sz="2000" dirty="0"/>
              <a:t>③具体的なゴールの設定</a:t>
            </a:r>
            <a:endParaRPr kumimoji="1" lang="ja-JP" altLang="en-US" sz="2000" dirty="0"/>
          </a:p>
        </p:txBody>
      </p:sp>
      <p:sp>
        <p:nvSpPr>
          <p:cNvPr id="4" name="タイトル 1">
            <a:extLst>
              <a:ext uri="{FF2B5EF4-FFF2-40B4-BE49-F238E27FC236}">
                <a16:creationId xmlns:a16="http://schemas.microsoft.com/office/drawing/2014/main" id="{ED19930C-A2BF-17CE-E46D-F9279AC1F273}"/>
              </a:ext>
            </a:extLst>
          </p:cNvPr>
          <p:cNvSpPr>
            <a:spLocks noGrp="1"/>
          </p:cNvSpPr>
          <p:nvPr>
            <p:ph type="title"/>
          </p:nvPr>
        </p:nvSpPr>
        <p:spPr>
          <a:xfrm>
            <a:off x="1141413" y="618518"/>
            <a:ext cx="9905998" cy="871235"/>
          </a:xfrm>
        </p:spPr>
        <p:txBody>
          <a:bodyPr/>
          <a:lstStyle/>
          <a:p>
            <a:r>
              <a:rPr lang="en-US" altLang="ja-JP" b="1" dirty="0"/>
              <a:t>11</a:t>
            </a:r>
            <a:r>
              <a:rPr kumimoji="1" lang="en-US" altLang="ja-JP" b="1" dirty="0"/>
              <a:t>.</a:t>
            </a:r>
            <a:r>
              <a:rPr kumimoji="1" lang="ja-JP" altLang="en-US" b="1" dirty="0"/>
              <a:t>データ分析における自分自身の今後の課題</a:t>
            </a:r>
          </a:p>
        </p:txBody>
      </p:sp>
    </p:spTree>
    <p:extLst>
      <p:ext uri="{BB962C8B-B14F-4D97-AF65-F5344CB8AC3E}">
        <p14:creationId xmlns:p14="http://schemas.microsoft.com/office/powerpoint/2010/main" val="24092509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回路">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TM04033919[[fn=回路]]</Template>
  <TotalTime>1326</TotalTime>
  <Words>5995</Words>
  <Application>Microsoft Office PowerPoint</Application>
  <PresentationFormat>ワイド画面</PresentationFormat>
  <Paragraphs>571</Paragraphs>
  <Slides>26</Slides>
  <Notes>26</Notes>
  <HiddenSlides>11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__Noto_Sans_JP_cbf3a4</vt:lpstr>
      <vt:lpstr>游ゴシック</vt:lpstr>
      <vt:lpstr>Arial</vt:lpstr>
      <vt:lpstr>Tw Cen MT</vt:lpstr>
      <vt:lpstr>回路</vt:lpstr>
      <vt:lpstr>ターボエンジン 残存耐用時間予測</vt:lpstr>
      <vt:lpstr>2. 目次</vt:lpstr>
      <vt:lpstr>3. 発表者紹介</vt:lpstr>
      <vt:lpstr>4. 分析の概要</vt:lpstr>
      <vt:lpstr>5. データセット</vt:lpstr>
      <vt:lpstr>6. 実行環境・言語</vt:lpstr>
      <vt:lpstr>7. 作業フロー</vt:lpstr>
      <vt:lpstr>8. 結果</vt:lpstr>
      <vt:lpstr>9. 考察</vt:lpstr>
      <vt:lpstr>10. 工夫点</vt:lpstr>
      <vt:lpstr>11. 苦労点①　ドメイン知識の獲得</vt:lpstr>
      <vt:lpstr>12. 苦労点②　データの前処理</vt:lpstr>
      <vt:lpstr>13. 応用案</vt:lpstr>
      <vt:lpstr>14. 本分析を通じての学び</vt:lpstr>
      <vt:lpstr>ご清聴ありがとうございました！</vt:lpstr>
      <vt:lpstr>3.発表者紹介</vt:lpstr>
      <vt:lpstr>4.テーマ概要</vt:lpstr>
      <vt:lpstr>5.背景</vt:lpstr>
      <vt:lpstr>6.結果</vt:lpstr>
      <vt:lpstr>7.作業内容</vt:lpstr>
      <vt:lpstr>7.作業内容</vt:lpstr>
      <vt:lpstr>7.作業内容</vt:lpstr>
      <vt:lpstr>8.工夫点</vt:lpstr>
      <vt:lpstr>9.苦労点</vt:lpstr>
      <vt:lpstr>10.今後の展望</vt:lpstr>
      <vt:lpstr>11.データ分析における自分自身の今後の課題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ターボエンジン 残存耐用時間予測</dc:title>
  <dc:creator>NDY 21</dc:creator>
  <cp:lastModifiedBy>NDY 21</cp:lastModifiedBy>
  <cp:revision>18</cp:revision>
  <dcterms:created xsi:type="dcterms:W3CDTF">2025-01-27T00:40:33Z</dcterms:created>
  <dcterms:modified xsi:type="dcterms:W3CDTF">2025-05-20T06:08:39Z</dcterms:modified>
</cp:coreProperties>
</file>